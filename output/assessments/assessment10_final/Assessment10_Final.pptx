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2329ec7c0ba4c84" /><Relationship Type="http://schemas.openxmlformats.org/officeDocument/2006/relationships/extended-properties" Target="/docProps/app.xml" Id="Rfeeee42210434fec" /><Relationship Type="http://schemas.openxmlformats.org/officeDocument/2006/relationships/officeDocument" Target="/ppt/presentation.xml" Id="R6254b17ed84e42c8" /></Relationships>
</file>

<file path=ppt/presentation.xml><?xml version="1.0" encoding="utf-8"?>
<p:presentation xmlns:p="http://schemas.openxmlformats.org/presentationml/2006/main">
  <p:sldMasterIdLst>
    <p:sldMasterId xmlns:r="http://schemas.openxmlformats.org/officeDocument/2006/relationships" id="2147483648" r:id="R71576cadb820443d"/>
  </p:sldMasterIdLst>
  <p:notesMasterIdLst>
    <p:notesMasterId xmlns:r="http://schemas.openxmlformats.org/officeDocument/2006/relationships" r:id="Ra53c58f448104033"/>
  </p:notesMasterIdLst>
  <p:sldIdLst>
    <p:sldId xmlns:r="http://schemas.openxmlformats.org/officeDocument/2006/relationships" id="256" r:id="R85b7947fdbd44a42"/>
    <p:sldId xmlns:r="http://schemas.openxmlformats.org/officeDocument/2006/relationships" id="257" r:id="Rbf09196067484715"/>
    <p:sldId xmlns:r="http://schemas.openxmlformats.org/officeDocument/2006/relationships" id="258" r:id="R9ff78124acab4e61"/>
    <p:sldId xmlns:r="http://schemas.openxmlformats.org/officeDocument/2006/relationships" id="259" r:id="R1fa7b1fe311d4aa3"/>
    <p:sldId xmlns:r="http://schemas.openxmlformats.org/officeDocument/2006/relationships" id="260" r:id="R75c2d096ccf14edc"/>
    <p:sldId xmlns:r="http://schemas.openxmlformats.org/officeDocument/2006/relationships" id="261" r:id="R249314bd80ee48e7"/>
    <p:sldId xmlns:r="http://schemas.openxmlformats.org/officeDocument/2006/relationships" id="262" r:id="Ra72e52b3f6c942a7"/>
    <p:sldId xmlns:r="http://schemas.openxmlformats.org/officeDocument/2006/relationships" id="263" r:id="R5ec59a2a3db44315"/>
    <p:sldId xmlns:r="http://schemas.openxmlformats.org/officeDocument/2006/relationships" id="264" r:id="R2be989b63af843a5"/>
    <p:sldId xmlns:r="http://schemas.openxmlformats.org/officeDocument/2006/relationships" id="265" r:id="Rab62a85f5190428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8d584e33cf4828" /><Relationship Type="http://schemas.openxmlformats.org/officeDocument/2006/relationships/slideMaster" Target="/ppt/slideMasters/slideMaster1.xml" Id="R71576cadb820443d" /><Relationship Type="http://schemas.openxmlformats.org/officeDocument/2006/relationships/notesMaster" Target="/ppt/notesMasters/notesMaster1.xml" Id="Ra53c58f448104033" /><Relationship Type="http://schemas.openxmlformats.org/officeDocument/2006/relationships/presProps" Target="/ppt/presProps.xml" Id="Rca9c3682d23a48b2" /><Relationship Type="http://schemas.openxmlformats.org/officeDocument/2006/relationships/tableStyles" Target="/ppt/tableStyles.xml" Id="R406bf04569fc48f1" /><Relationship Type="http://schemas.openxmlformats.org/officeDocument/2006/relationships/slide" Target="/ppt/slides/slide1.xml" Id="R85b7947fdbd44a42" /><Relationship Type="http://schemas.openxmlformats.org/officeDocument/2006/relationships/slide" Target="/ppt/slides/slide2.xml" Id="Rbf09196067484715" /><Relationship Type="http://schemas.openxmlformats.org/officeDocument/2006/relationships/slide" Target="/ppt/slides/slide3.xml" Id="R9ff78124acab4e61" /><Relationship Type="http://schemas.openxmlformats.org/officeDocument/2006/relationships/slide" Target="/ppt/slides/slide4.xml" Id="R1fa7b1fe311d4aa3" /><Relationship Type="http://schemas.openxmlformats.org/officeDocument/2006/relationships/slide" Target="/ppt/slides/slide5.xml" Id="R75c2d096ccf14edc" /><Relationship Type="http://schemas.openxmlformats.org/officeDocument/2006/relationships/slide" Target="/ppt/slides/slide6.xml" Id="R249314bd80ee48e7" /><Relationship Type="http://schemas.openxmlformats.org/officeDocument/2006/relationships/slide" Target="/ppt/slides/slide7.xml" Id="Ra72e52b3f6c942a7" /><Relationship Type="http://schemas.openxmlformats.org/officeDocument/2006/relationships/slide" Target="/ppt/slides/slide8.xml" Id="R5ec59a2a3db44315" /><Relationship Type="http://schemas.openxmlformats.org/officeDocument/2006/relationships/slide" Target="/ppt/slides/slide9.xml" Id="R2be989b63af843a5" /><Relationship Type="http://schemas.openxmlformats.org/officeDocument/2006/relationships/slide" Target="/ppt/slides/slide10.xml" Id="Rab62a85f519042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88f06001d146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c2437ada50494f" /><Relationship Type="http://schemas.openxmlformats.org/officeDocument/2006/relationships/notesMaster" Target="/ppt/notesMasters/notesMaster1.xml" Id="R8b95959cc8694b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c36b2952d04c51" /><Relationship Type="http://schemas.openxmlformats.org/officeDocument/2006/relationships/notesMaster" Target="/ppt/notesMasters/notesMaster1.xml" Id="R953ccfb4bdcf48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b0be2060604a67" /><Relationship Type="http://schemas.openxmlformats.org/officeDocument/2006/relationships/notesMaster" Target="/ppt/notesMasters/notesMaster1.xml" Id="R6e75cea038424d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e2d5192b054722" /><Relationship Type="http://schemas.openxmlformats.org/officeDocument/2006/relationships/notesMaster" Target="/ppt/notesMasters/notesMaster1.xml" Id="R33f67c2b3f4748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a3da8c69874dc3" /><Relationship Type="http://schemas.openxmlformats.org/officeDocument/2006/relationships/notesMaster" Target="/ppt/notesMasters/notesMaster1.xml" Id="R30aa47e2b51c497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372a3dd1634f1f" /><Relationship Type="http://schemas.openxmlformats.org/officeDocument/2006/relationships/notesMaster" Target="/ppt/notesMasters/notesMaster1.xml" Id="R8fe8f487d74b40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f10aed66424ffb" /><Relationship Type="http://schemas.openxmlformats.org/officeDocument/2006/relationships/notesMaster" Target="/ppt/notesMasters/notesMaster1.xml" Id="Rdc71b13279bd49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5c3eee07754c09" /><Relationship Type="http://schemas.openxmlformats.org/officeDocument/2006/relationships/notesMaster" Target="/ppt/notesMasters/notesMaster1.xml" Id="R6c14072afd5247e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ed8e2abc9c4011" /><Relationship Type="http://schemas.openxmlformats.org/officeDocument/2006/relationships/notesMaster" Target="/ppt/notesMasters/notesMaster1.xml" Id="R90ae7935e74746c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ca3c41ca0a94423" /><Relationship Type="http://schemas.openxmlformats.org/officeDocument/2006/relationships/notesMaster" Target="/ppt/notesMasters/notesMaster1.xml" Id="Rfab5e464cd224a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25 seconds.</a:t>
            </a:r>
          </a:p>
          <a:p xmlns:a="http://schemas.openxmlformats.org/drawingml/2006/main">
            <a:r>
              <a:t/>
            </a:r>
          </a:p>
          <a:p xmlns:a="http://schemas.openxmlformats.org/drawingml/2006/main">
            <a:r>
              <a:t>Our project measures how long a small learning program takes to answer new questions correctly. We then compare one long attempt with two or four independent starts under the same total training budget. This presentation explains the idea, the implementation, the probability methods and the measured results.</a:t>
            </a:r>
          </a:p>
          <a:p xmlns:a="http://schemas.openxmlformats.org/drawingml/2006/main">
            <a:r>
              <a:t/>
            </a:r>
          </a:p>
          <a:p xmlns:a="http://schemas.openxmlformats.org/drawingml/2006/main">
            <a:r>
              <a:t>Sources: Study source: output/paper_v2/policy_statistics.csv; risk_differences.csv; calibration_statistics.csv. Methods and complete references: Assessment 9 IEEE report.</a:t>
            </a:r>
          </a:p>
          <a:p xmlns:a="http://schemas.openxmlformats.org/drawingml/2006/main">
            <a:r>
              <a:t>Grokking: Power et al., arXiv:2201.02177. Restart theory: Streeter, Golovin and Smith, 2007. Related timing research: Truong et al., arXiv:2605.18845. Multi-seed numerical controls: Ootani, arXiv:2607.05104.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a:t>
            </a:r>
          </a:p>
          <a:p xmlns:a="http://schemas.openxmlformats.org/drawingml/2006/main">
            <a:r>
              <a:t/>
            </a:r>
          </a:p>
          <a:p xmlns:a="http://schemas.openxmlformats.org/drawingml/2006/main">
            <a:r>
              <a:t>Imagine doing well on familiar practice questions but struggling with new questions. Memorization is strong practice performance. Generalization is good performance on new examples. Grokking means that improvement on new examples appears later, after practice performance is already good. Modulo means the remainder after division. Thirty plus four is thirty four, whose remainder after division by thirty one is three. Every answer is known exactly, which makes this a controlled computer experiment. The analogy does not establish human-like understanding.</a:t>
            </a:r>
          </a:p>
          <a:p xmlns:a="http://schemas.openxmlformats.org/drawingml/2006/main">
            <a:r>
              <a:t/>
            </a:r>
          </a:p>
          <a:p xmlns:a="http://schemas.openxmlformats.org/drawingml/2006/main">
            <a:r>
              <a:t>Sources: Study source: output/paper_v2/policy_statistics.csv; risk_differences.csv; calibration_statistics.csv. Methods and complete references: Assessment 9 IEEE report.</a:t>
            </a:r>
          </a:p>
          <a:p xmlns:a="http://schemas.openxmlformats.org/drawingml/2006/main">
            <a:r>
              <a:t>Grokking: Power et al., arXiv:2201.02177. Restart theory: Streeter, Golovin and Smith, 2007. Related timing research: Truong et al., arXiv:2605.18845. Multi-seed numerical controls: Ootani, arXiv:2607.05104.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a:t>
            </a:r>
          </a:p>
          <a:p xmlns:a="http://schemas.openxmlformats.org/drawingml/2006/main">
            <a:r>
              <a:t/>
            </a:r>
          </a:p>
          <a:p xmlns:a="http://schemas.openxmlformats.org/drawingml/2006/main">
            <a:r>
              <a:t>One update is one learning step using all practice examples. A seed fixes the random starting weights, allowing repeatable experiments. Weight decay gently shrinks those weights; the follow-up keeps it at one. The baseline model sees five hundred and seventy six practice pairs, and the remaining three hundred and eighty five measure performance on unseen pairs. Three fixed splits change which questions belong to each group. Calibration measures the waiting-time curve. Validation uses separate seeds to test the policies. Ninety calibration observations include twenty reused original runs. Five hundred and forty fresh budget attempts contain twelve hundred and sixty constituent runs.</a:t>
            </a:r>
          </a:p>
          <a:p xmlns:a="http://schemas.openxmlformats.org/drawingml/2006/main">
            <a:r>
              <a:t/>
            </a:r>
          </a:p>
          <a:p xmlns:a="http://schemas.openxmlformats.org/drawingml/2006/main">
            <a:r>
              <a:t>Sources: Study source: output/paper_v2/policy_statistics.csv; risk_differences.csv; calibration_statistics.csv. Methods and complete references: Assessment 9 IEEE report.</a:t>
            </a:r>
          </a:p>
          <a:p xmlns:a="http://schemas.openxmlformats.org/drawingml/2006/main">
            <a:r>
              <a:t>Grokking: Power et al., arXiv:2201.02177. Restart theory: Streeter, Golovin and Smith, 2007. Related timing research: Truong et al., arXiv:2605.18845. Multi-seed numerical controls: Ootani, arXiv:2607.05104.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a:t>
            </a:r>
          </a:p>
          <a:p xmlns:a="http://schemas.openxmlformats.org/drawingml/2006/main">
            <a:r>
              <a:t/>
            </a:r>
          </a:p>
          <a:p xmlns:a="http://schemas.openxmlformats.org/drawingml/2006/main">
            <a:r>
              <a:t>Python generates all number pairs and their correct labels. It selects disjoint datasets and trains the same small transformer each time. The model contains thirty six thousand nine hundred and ninety two adjustable parameters. Python checks accuracy every twenty five updates and records the trace in CSV files. Checkpoints save the weights, optimizer and random state for resumption. R reads the completed records, computes statistics and draws the graphs. Automated checks verify correct labels, dataset separation, independent seed lists, endpoint reconstruction and exact budgets. A technical failure is separate from a completed run that does not learn in time.</a:t>
            </a:r>
          </a:p>
          <a:p xmlns:a="http://schemas.openxmlformats.org/drawingml/2006/main">
            <a:r>
              <a:t/>
            </a:r>
          </a:p>
          <a:p xmlns:a="http://schemas.openxmlformats.org/drawingml/2006/main">
            <a:r>
              <a:t>Sources: Study source: output/paper_v2/policy_statistics.csv; risk_differences.csv; calibration_statistics.csv. Methods and complete references: Assessment 9 IEEE report.</a:t>
            </a:r>
          </a:p>
          <a:p xmlns:a="http://schemas.openxmlformats.org/drawingml/2006/main">
            <a:r>
              <a:t>Grokking: Power et al., arXiv:2201.02177. Restart theory: Streeter, Golovin and Smith, 2007. Related timing research: Truong et al., arXiv:2605.18845. Multi-seed numerical controls: Ootani, arXiv:2607.05104.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80 seconds.</a:t>
            </a:r>
          </a:p>
          <a:p xmlns:a="http://schemas.openxmlformats.org/drawingml/2006/main">
            <a:r>
              <a:t/>
            </a:r>
          </a:p>
          <a:p xmlns:a="http://schemas.openxmlformats.org/drawingml/2006/main">
            <a:r>
              <a:t>T is the final confirming step after three checks with at least ninety nine percent practice accuracy and ninety five percent new-question accuracy. U is the smaller of T and the cap C, so it is fully observed even when eventual learning time remains unknown. F of t is the proportion of calibration runs confirmed by t. For k independent starts, all fail with probability one minus F of B divided by k, raised to k. Subtract that from one to obtain the chance at least one works. Bernoulli means one yes-or-no outcome; binomial means a count of successes. Exact confidence intervals show sampling uncertainty. We use twelve Fisher comparisons with Holm correction. Supporting correlation, regression and ANOVA analyses remain exploratory because their assumptions are imperfect.</a:t>
            </a:r>
          </a:p>
          <a:p xmlns:a="http://schemas.openxmlformats.org/drawingml/2006/main">
            <a:r>
              <a:t/>
            </a:r>
          </a:p>
          <a:p xmlns:a="http://schemas.openxmlformats.org/drawingml/2006/main">
            <a:r>
              <a:t>Sources: Study source: output/paper_v2/policy_statistics.csv; risk_differences.csv; calibration_statistics.csv. Methods and complete references: Assessment 9 IEEE report.</a:t>
            </a:r>
          </a:p>
          <a:p xmlns:a="http://schemas.openxmlformats.org/drawingml/2006/main">
            <a:r>
              <a:t>Grokking: Power et al., arXiv:2201.02177. Restart theory: Streeter, Golovin and Smith, 2007. Related timing research: Truong et al., arXiv:2605.18845. Multi-seed numerical controls: Ootani, arXiv:2607.05104.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This recorded calibration run illustrates the delay. Practice accuracy improves first, while new-question accuracy improves later. It is the run closest to the original-split median, not an average or the best run. First confirmation occurs at four thousand three hundred and seventy five updates. Across the thirty original-split calibration observations, the capped mean is about five thousand three hundred and forty seven, the median four thousand three hundred and seventy five and the sample standard deviation about four thousand six hundred and ten updates. One trajectory cannot describe the variation across all starts.</a:t>
            </a:r>
          </a:p>
          <a:p xmlns:a="http://schemas.openxmlformats.org/drawingml/2006/main">
            <a:r>
              <a:t/>
            </a:r>
          </a:p>
          <a:p xmlns:a="http://schemas.openxmlformats.org/drawingml/2006/main">
            <a:r>
              <a:t>Sources: Study source: output/paper_v2/policy_statistics.csv; risk_differences.csv; calibration_statistics.csv. Methods and complete references: Assessment 9 IEEE report.</a:t>
            </a:r>
          </a:p>
          <a:p xmlns:a="http://schemas.openxmlformats.org/drawingml/2006/main">
            <a:r>
              <a:t>Grokking: Power et al., arXiv:2201.02177. Restart theory: Streeter, Golovin and Smith, 2007. Related timing research: Truong et al., arXiv:2605.18845. Multi-seed numerical controls: Ootani, arXiv:2607.05104.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a:t>
            </a:r>
          </a:p>
          <a:p xmlns:a="http://schemas.openxmlformats.org/drawingml/2006/main">
            <a:r>
              <a:t/>
            </a:r>
          </a:p>
          <a:p xmlns:a="http://schemas.openxmlformats.org/drawingml/2006/main">
            <a:r>
              <a:t>Every bar uses thirty fresh budget attempts. At eight thousand total updates, one long run succeeds twenty eight times on each split. Four shorter runs succeed twelve, nine and eleven times. All three four-versus-one differences survive Holm correction across the twelve planned tests. Two-run counts are twenty three, twenty four and twenty five, but those comparisons do not reach the corrected threshold. This does not prove equality. Each four-run attempt gives each constituent only two thousand updates, which can be too little time for delayed learning.</a:t>
            </a:r>
          </a:p>
          <a:p xmlns:a="http://schemas.openxmlformats.org/drawingml/2006/main">
            <a:r>
              <a:t/>
            </a:r>
          </a:p>
          <a:p xmlns:a="http://schemas.openxmlformats.org/drawingml/2006/main">
            <a:r>
              <a:t>Sources: Study source: output/paper_v2/policy_statistics.csv; risk_differences.csv; calibration_statistics.csv. Methods and complete references: Assessment 9 IEEE report.</a:t>
            </a:r>
          </a:p>
          <a:p xmlns:a="http://schemas.openxmlformats.org/drawingml/2006/main">
            <a:r>
              <a:t>Grokking: Power et al., arXiv:2201.02177. Restart theory: Streeter, Golovin and Smith, 2007. Related timing research: Truong et al., arXiv:2605.18845. Multi-seed numerical controls: Ootani, arXiv:2607.05104.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The table includes every split and both budgets. Each entry is successes out of thirty attempts. At twelve thousand updates, one long run succeeds thirty times on every split. Four-run counts are twenty four, twenty and twenty three. Only the second-split four-run comparison survives correction. Four of the twelve planned first-confirmation comparisons are significant in total. The original thirty-thousand-update comparison gave ten successes out of ten for every policy. That earlier ceiling result and these smaller-budget differences can both be true. Budgets were chosen from the older curves and fixed before fresh validation.</a:t>
            </a:r>
          </a:p>
          <a:p xmlns:a="http://schemas.openxmlformats.org/drawingml/2006/main">
            <a:r>
              <a:t/>
            </a:r>
          </a:p>
          <a:p xmlns:a="http://schemas.openxmlformats.org/drawingml/2006/main">
            <a:r>
              <a:t>Sources: Study source: output/paper_v2/policy_statistics.csv; risk_differences.csv; calibration_statistics.csv. Methods and complete references: Assessment 9 IEEE report.</a:t>
            </a:r>
          </a:p>
          <a:p xmlns:a="http://schemas.openxmlformats.org/drawingml/2006/main">
            <a:r>
              <a:t>Grokking: Power et al., arXiv:2201.02177. Restart theory: Streeter, Golovin and Smith, 2007. Related timing research: Truong et al., arXiv:2605.18845. Multi-seed numerical controls: Ootani, arXiv:2607.05104.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50 seconds.</a:t>
            </a:r>
          </a:p>
          <a:p xmlns:a="http://schemas.openxmlformats.org/drawingml/2006/main">
            <a:r>
              <a:t/>
            </a:r>
          </a:p>
          <a:p xmlns:a="http://schemas.openxmlformats.org/drawingml/2006/main">
            <a:r>
              <a:t>Three good checks do not ensure that accuracy stays high. We separately require twenty one successful checks spanning five hundred updates, with the final check inside the same allocation. On split one at eight thousand total updates, four starts produce twelve first confirmations but only four longer-window confirmations. These endpoints come from the same attempts and are correlated. The stability comparisons are secondary descriptive analyses. Our conclusion applies to one arithmetic task, one small model and three fixed splits. Future work can use other tasks, more splits and longer observation windows.</a:t>
            </a:r>
          </a:p>
          <a:p xmlns:a="http://schemas.openxmlformats.org/drawingml/2006/main">
            <a:r>
              <a:t/>
            </a:r>
          </a:p>
          <a:p xmlns:a="http://schemas.openxmlformats.org/drawingml/2006/main">
            <a:r>
              <a:t>Sources: Study source: output/paper_v2/policy_statistics.csv; risk_differences.csv; calibration_statistics.csv. Methods and complete references: Assessment 9 IEEE report.</a:t>
            </a:r>
          </a:p>
          <a:p xmlns:a="http://schemas.openxmlformats.org/drawingml/2006/main">
            <a:r>
              <a:t>Grokking: Power et al., arXiv:2201.02177. Restart theory: Streeter, Golovin and Smith, 2007. Related timing research: Truong et al., arXiv:2605.18845. Multi-seed numerical controls: Ootani, arXiv:2607.05104.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30 seconds.</a:t>
            </a:r>
          </a:p>
          <a:p xmlns:a="http://schemas.openxmlformats.org/drawingml/2006/main">
            <a:r>
              <a:t/>
            </a:r>
          </a:p>
          <a:p xmlns:a="http://schemas.openxmlformats.org/drawingml/2006/main">
            <a:r>
              <a:t>The measured answer is that one long run is more reliable than four short starts at eight thousand total updates in these three fixed splits. Smaller differences, including the two-run comparisons, remain unresolved. The complete paper contains all results, uncertainty intervals and limitations. We credit the researchers who introduced grokking and established restart theory. Our contribution is the reproducible empirical comparison. We make no worldwide-first claim and the college similarity review remains separate.</a:t>
            </a:r>
          </a:p>
          <a:p xmlns:a="http://schemas.openxmlformats.org/drawingml/2006/main">
            <a:r>
              <a:t/>
            </a:r>
          </a:p>
          <a:p xmlns:a="http://schemas.openxmlformats.org/drawingml/2006/main">
            <a:r>
              <a:t>Sources: Study source: output/paper_v2/policy_statistics.csv; risk_differences.csv; calibration_statistics.csv. Methods and complete references: Assessment 9 IEEE report.</a:t>
            </a:r>
          </a:p>
          <a:p xmlns:a="http://schemas.openxmlformats.org/drawingml/2006/main">
            <a:r>
              <a:t>Grokking: Power et al., arXiv:2201.02177. Restart theory: Streeter, Golovin and Smith, 2007. Related timing research: Truong et al., arXiv:2605.18845. Multi-seed numerical controls: Ootani, arXiv:2607.05104.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0585619f2e49d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f76dad1f2fc454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b455519e1144fd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f65542cf8e5489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4c60cc42eda403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ca6b28ff78e47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8B19DE-A395-4929-A333-9B19BC5DC8E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D27783E-AC20-404C-A77A-1E9BE353AAD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7F4EC5C-9142-44DF-B4E4-79BEAA0D631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36BA30-B0DF-4F12-AE84-36669CBCB4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7228C3A-3D93-4D36-B21E-65BEC070156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E095F5C-5177-4654-9DE1-24D3DB706A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9C25B8-3ED2-408F-8F97-2ABAE58A77F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FD1B7AE-DFD5-403E-A5FF-D88DA9F187B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5B7D52-9631-457C-84BD-75A1521A51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1278B9-6B11-4C58-98C8-C73C3A8088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a3d85080e343a2" /><Relationship Type="http://schemas.openxmlformats.org/officeDocument/2006/relationships/slideLayout" Target="/ppt/slideLayouts/slideLayout1.xml" Id="Rf6c823488d554441" /><Relationship Type="http://schemas.openxmlformats.org/officeDocument/2006/relationships/slideLayout" Target="/ppt/slideLayouts/slideLayout2.xml" Id="R3c89a169b1f84ef9" /><Relationship Type="http://schemas.openxmlformats.org/officeDocument/2006/relationships/slideLayout" Target="/ppt/slideLayouts/slideLayout3.xml" Id="Rf0f6fb50dcaf4cca" /><Relationship Type="http://schemas.openxmlformats.org/officeDocument/2006/relationships/slideLayout" Target="/ppt/slideLayouts/slideLayout4.xml" Id="R131735a7e4f54d38" /><Relationship Type="http://schemas.openxmlformats.org/officeDocument/2006/relationships/slideLayout" Target="/ppt/slideLayouts/slideLayout5.xml" Id="R071e6f34d35a4bac" /><Relationship Type="http://schemas.openxmlformats.org/officeDocument/2006/relationships/slideLayout" Target="/ppt/slideLayouts/slideLayout6.xml" Id="R76f234c33db543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c823488d554441"/>
    <p:sldLayoutId xmlns:r="http://schemas.openxmlformats.org/officeDocument/2006/relationships" id="2147483650" r:id="R3c89a169b1f84ef9"/>
    <p:sldLayoutId xmlns:r="http://schemas.openxmlformats.org/officeDocument/2006/relationships" id="2147483651" r:id="Rf0f6fb50dcaf4cca"/>
    <p:sldLayoutId xmlns:r="http://schemas.openxmlformats.org/officeDocument/2006/relationships" id="2147483652" r:id="R131735a7e4f54d38"/>
    <p:sldLayoutId xmlns:r="http://schemas.openxmlformats.org/officeDocument/2006/relationships" id="2147483653" r:id="R071e6f34d35a4bac"/>
    <p:sldLayoutId xmlns:r="http://schemas.openxmlformats.org/officeDocument/2006/relationships" id="2147483654" r:id="R76f234c33db543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56ea248a84c4f2d" /><Relationship Type="http://schemas.openxmlformats.org/officeDocument/2006/relationships/notesSlide" Target="/ppt/notesSlides/notesSlide1.xml" Id="R65d3f4851e4e4c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bb12396f5024a19" /><Relationship Type="http://schemas.openxmlformats.org/officeDocument/2006/relationships/notesSlide" Target="/ppt/notesSlides/notesSlide2.xml" Id="R570f0c0a33704e9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83c4067ba2a4611" /><Relationship Type="http://schemas.openxmlformats.org/officeDocument/2006/relationships/notesSlide" Target="/ppt/notesSlides/notesSlide3.xml" Id="Rb182ae29ab554a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cfc51ffeca94c62" /><Relationship Type="http://schemas.openxmlformats.org/officeDocument/2006/relationships/notesSlide" Target="/ppt/notesSlides/notesSlide4.xml" Id="Re50eab21f18b43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cf3831e48f34339" /><Relationship Type="http://schemas.openxmlformats.org/officeDocument/2006/relationships/notesSlide" Target="/ppt/notesSlides/notesSlide5.xml" Id="Rf8f9a6ef6c1a49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b28125fd6ae4a0f" /><Relationship Type="http://schemas.openxmlformats.org/officeDocument/2006/relationships/chart" Target="/ppt/slides/charts/chart1.xml" Id="Rcddfd0791f58485d" /><Relationship Type="http://schemas.openxmlformats.org/officeDocument/2006/relationships/notesSlide" Target="/ppt/notesSlides/notesSlide6.xml" Id="R9d730fd96a94409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7e59f0a7d4b4a3a" /><Relationship Type="http://schemas.openxmlformats.org/officeDocument/2006/relationships/chart" Target="/ppt/slides/charts/chart2.xml" Id="R90e314f74ada469f" /><Relationship Type="http://schemas.openxmlformats.org/officeDocument/2006/relationships/notesSlide" Target="/ppt/notesSlides/notesSlide7.xml" Id="Re700cb974ff24c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3de8a447c7943c9" /><Relationship Type="http://schemas.openxmlformats.org/officeDocument/2006/relationships/notesSlide" Target="/ppt/notesSlides/notesSlide8.xml" Id="R61a7a65959f0443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3942efb62724d6a" /><Relationship Type="http://schemas.openxmlformats.org/officeDocument/2006/relationships/notesSlide" Target="/ppt/notesSlides/notesSlide9.xml" Id="R8efc715fbdd4483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dedd6d84e6645f4" /><Relationship Type="http://schemas.openxmlformats.org/officeDocument/2006/relationships/notesSlide" Target="/ppt/notesSlides/notesSlide10.xml" Id="Rd9e6565f55ec4d2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One recorded run, selected closest to median completion time</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plotArea>
      <c:scatterChart>
        <c:scatterStyle val="line"/>
        <c:varyColors val="0"/>
        <c:ser>
          <c:idx val="0"/>
          <c:order val="0"/>
          <c:tx>
            <c:v>Practice questions</c:v>
          </c:tx>
          <c:spPr>
            <a:solidFill xmlns:a="http://schemas.openxmlformats.org/drawingml/2006/main">
              <a:srgbClr val="175F96"/>
            </a:solidFill>
            <a:ln xmlns:a="http://schemas.openxmlformats.org/drawingml/2006/main" w="19050">
              <a:solidFill>
                <a:srgbClr val="175F96"/>
              </a:solidFill>
            </a:ln>
          </c:spPr>
          <c:marker>
            <c:symbol val="none"/>
          </c:marker>
          <c:xVal>
            <c:numRef>
              <c:f>'Chart Data'!$A$2:$A$282</c:f>
              <c:numCache>
                <c:formatCode>General</c:formatCode>
                <c:ptCount val="281"/>
                <c:pt idx="0">
                  <c:v>0</c:v>
                </c:pt>
                <c:pt idx="1">
                  <c:v>25</c:v>
                </c:pt>
                <c:pt idx="2">
                  <c:v>50</c:v>
                </c:pt>
                <c:pt idx="3">
                  <c:v>75</c:v>
                </c:pt>
                <c:pt idx="4">
                  <c:v>100</c:v>
                </c:pt>
                <c:pt idx="5">
                  <c:v>125</c:v>
                </c:pt>
                <c:pt idx="6">
                  <c:v>150</c:v>
                </c:pt>
                <c:pt idx="7">
                  <c:v>175</c:v>
                </c:pt>
                <c:pt idx="8">
                  <c:v>200</c:v>
                </c:pt>
                <c:pt idx="9">
                  <c:v>225</c:v>
                </c:pt>
                <c:pt idx="10">
                  <c:v>250</c:v>
                </c:pt>
                <c:pt idx="11">
                  <c:v>275</c:v>
                </c:pt>
                <c:pt idx="12">
                  <c:v>300</c:v>
                </c:pt>
                <c:pt idx="13">
                  <c:v>325</c:v>
                </c:pt>
                <c:pt idx="14">
                  <c:v>350</c:v>
                </c:pt>
                <c:pt idx="15">
                  <c:v>375</c:v>
                </c:pt>
                <c:pt idx="16">
                  <c:v>400</c:v>
                </c:pt>
                <c:pt idx="17">
                  <c:v>425</c:v>
                </c:pt>
                <c:pt idx="18">
                  <c:v>450</c:v>
                </c:pt>
                <c:pt idx="19">
                  <c:v>475</c:v>
                </c:pt>
                <c:pt idx="20">
                  <c:v>500</c:v>
                </c:pt>
                <c:pt idx="21">
                  <c:v>525</c:v>
                </c:pt>
                <c:pt idx="22">
                  <c:v>550</c:v>
                </c:pt>
                <c:pt idx="23">
                  <c:v>575</c:v>
                </c:pt>
                <c:pt idx="24">
                  <c:v>600</c:v>
                </c:pt>
                <c:pt idx="25">
                  <c:v>625</c:v>
                </c:pt>
                <c:pt idx="26">
                  <c:v>650</c:v>
                </c:pt>
                <c:pt idx="27">
                  <c:v>675</c:v>
                </c:pt>
                <c:pt idx="28">
                  <c:v>700</c:v>
                </c:pt>
                <c:pt idx="29">
                  <c:v>725</c:v>
                </c:pt>
                <c:pt idx="30">
                  <c:v>750</c:v>
                </c:pt>
                <c:pt idx="31">
                  <c:v>775</c:v>
                </c:pt>
                <c:pt idx="32">
                  <c:v>800</c:v>
                </c:pt>
                <c:pt idx="33">
                  <c:v>825</c:v>
                </c:pt>
                <c:pt idx="34">
                  <c:v>850</c:v>
                </c:pt>
                <c:pt idx="35">
                  <c:v>875</c:v>
                </c:pt>
                <c:pt idx="36">
                  <c:v>900</c:v>
                </c:pt>
                <c:pt idx="37">
                  <c:v>925</c:v>
                </c:pt>
                <c:pt idx="38">
                  <c:v>950</c:v>
                </c:pt>
                <c:pt idx="39">
                  <c:v>975</c:v>
                </c:pt>
                <c:pt idx="40">
                  <c:v>1000</c:v>
                </c:pt>
                <c:pt idx="41">
                  <c:v>1025</c:v>
                </c:pt>
                <c:pt idx="42">
                  <c:v>1050</c:v>
                </c:pt>
                <c:pt idx="43">
                  <c:v>1075</c:v>
                </c:pt>
                <c:pt idx="44">
                  <c:v>1100</c:v>
                </c:pt>
                <c:pt idx="45">
                  <c:v>1125</c:v>
                </c:pt>
                <c:pt idx="46">
                  <c:v>1150</c:v>
                </c:pt>
                <c:pt idx="47">
                  <c:v>1175</c:v>
                </c:pt>
                <c:pt idx="48">
                  <c:v>1200</c:v>
                </c:pt>
                <c:pt idx="49">
                  <c:v>1225</c:v>
                </c:pt>
                <c:pt idx="50">
                  <c:v>1250</c:v>
                </c:pt>
                <c:pt idx="51">
                  <c:v>1275</c:v>
                </c:pt>
                <c:pt idx="52">
                  <c:v>1300</c:v>
                </c:pt>
                <c:pt idx="53">
                  <c:v>1325</c:v>
                </c:pt>
                <c:pt idx="54">
                  <c:v>1350</c:v>
                </c:pt>
                <c:pt idx="55">
                  <c:v>1375</c:v>
                </c:pt>
                <c:pt idx="56">
                  <c:v>1400</c:v>
                </c:pt>
                <c:pt idx="57">
                  <c:v>1425</c:v>
                </c:pt>
                <c:pt idx="58">
                  <c:v>1450</c:v>
                </c:pt>
                <c:pt idx="59">
                  <c:v>1475</c:v>
                </c:pt>
                <c:pt idx="60">
                  <c:v>1500</c:v>
                </c:pt>
                <c:pt idx="61">
                  <c:v>1525</c:v>
                </c:pt>
                <c:pt idx="62">
                  <c:v>1550</c:v>
                </c:pt>
                <c:pt idx="63">
                  <c:v>1575</c:v>
                </c:pt>
                <c:pt idx="64">
                  <c:v>1600</c:v>
                </c:pt>
                <c:pt idx="65">
                  <c:v>1625</c:v>
                </c:pt>
                <c:pt idx="66">
                  <c:v>1650</c:v>
                </c:pt>
                <c:pt idx="67">
                  <c:v>1675</c:v>
                </c:pt>
                <c:pt idx="68">
                  <c:v>1700</c:v>
                </c:pt>
                <c:pt idx="69">
                  <c:v>1725</c:v>
                </c:pt>
                <c:pt idx="70">
                  <c:v>1750</c:v>
                </c:pt>
                <c:pt idx="71">
                  <c:v>1775</c:v>
                </c:pt>
                <c:pt idx="72">
                  <c:v>1800</c:v>
                </c:pt>
                <c:pt idx="73">
                  <c:v>1825</c:v>
                </c:pt>
                <c:pt idx="74">
                  <c:v>1850</c:v>
                </c:pt>
                <c:pt idx="75">
                  <c:v>1875</c:v>
                </c:pt>
                <c:pt idx="76">
                  <c:v>1900</c:v>
                </c:pt>
                <c:pt idx="77">
                  <c:v>1925</c:v>
                </c:pt>
                <c:pt idx="78">
                  <c:v>1950</c:v>
                </c:pt>
                <c:pt idx="79">
                  <c:v>1975</c:v>
                </c:pt>
                <c:pt idx="80">
                  <c:v>2000</c:v>
                </c:pt>
                <c:pt idx="81">
                  <c:v>2025</c:v>
                </c:pt>
                <c:pt idx="82">
                  <c:v>2050</c:v>
                </c:pt>
                <c:pt idx="83">
                  <c:v>2075</c:v>
                </c:pt>
                <c:pt idx="84">
                  <c:v>2100</c:v>
                </c:pt>
                <c:pt idx="85">
                  <c:v>2125</c:v>
                </c:pt>
                <c:pt idx="86">
                  <c:v>2150</c:v>
                </c:pt>
                <c:pt idx="87">
                  <c:v>2175</c:v>
                </c:pt>
                <c:pt idx="88">
                  <c:v>2200</c:v>
                </c:pt>
                <c:pt idx="89">
                  <c:v>2225</c:v>
                </c:pt>
                <c:pt idx="90">
                  <c:v>2250</c:v>
                </c:pt>
                <c:pt idx="91">
                  <c:v>2275</c:v>
                </c:pt>
                <c:pt idx="92">
                  <c:v>2300</c:v>
                </c:pt>
                <c:pt idx="93">
                  <c:v>2325</c:v>
                </c:pt>
                <c:pt idx="94">
                  <c:v>2350</c:v>
                </c:pt>
                <c:pt idx="95">
                  <c:v>2375</c:v>
                </c:pt>
                <c:pt idx="96">
                  <c:v>2400</c:v>
                </c:pt>
                <c:pt idx="97">
                  <c:v>2425</c:v>
                </c:pt>
                <c:pt idx="98">
                  <c:v>2450</c:v>
                </c:pt>
                <c:pt idx="99">
                  <c:v>2475</c:v>
                </c:pt>
                <c:pt idx="100">
                  <c:v>2500</c:v>
                </c:pt>
                <c:pt idx="101">
                  <c:v>2525</c:v>
                </c:pt>
                <c:pt idx="102">
                  <c:v>2550</c:v>
                </c:pt>
                <c:pt idx="103">
                  <c:v>2575</c:v>
                </c:pt>
                <c:pt idx="104">
                  <c:v>2600</c:v>
                </c:pt>
                <c:pt idx="105">
                  <c:v>2625</c:v>
                </c:pt>
                <c:pt idx="106">
                  <c:v>2650</c:v>
                </c:pt>
                <c:pt idx="107">
                  <c:v>2675</c:v>
                </c:pt>
                <c:pt idx="108">
                  <c:v>2700</c:v>
                </c:pt>
                <c:pt idx="109">
                  <c:v>2725</c:v>
                </c:pt>
                <c:pt idx="110">
                  <c:v>2750</c:v>
                </c:pt>
                <c:pt idx="111">
                  <c:v>2775</c:v>
                </c:pt>
                <c:pt idx="112">
                  <c:v>2800</c:v>
                </c:pt>
                <c:pt idx="113">
                  <c:v>2825</c:v>
                </c:pt>
                <c:pt idx="114">
                  <c:v>2850</c:v>
                </c:pt>
                <c:pt idx="115">
                  <c:v>2875</c:v>
                </c:pt>
                <c:pt idx="116">
                  <c:v>2900</c:v>
                </c:pt>
                <c:pt idx="117">
                  <c:v>2925</c:v>
                </c:pt>
                <c:pt idx="118">
                  <c:v>2950</c:v>
                </c:pt>
                <c:pt idx="119">
                  <c:v>2975</c:v>
                </c:pt>
                <c:pt idx="120">
                  <c:v>3000</c:v>
                </c:pt>
                <c:pt idx="121">
                  <c:v>3025</c:v>
                </c:pt>
                <c:pt idx="122">
                  <c:v>3050</c:v>
                </c:pt>
                <c:pt idx="123">
                  <c:v>3075</c:v>
                </c:pt>
                <c:pt idx="124">
                  <c:v>3100</c:v>
                </c:pt>
                <c:pt idx="125">
                  <c:v>3125</c:v>
                </c:pt>
                <c:pt idx="126">
                  <c:v>3150</c:v>
                </c:pt>
                <c:pt idx="127">
                  <c:v>3175</c:v>
                </c:pt>
                <c:pt idx="128">
                  <c:v>3200</c:v>
                </c:pt>
                <c:pt idx="129">
                  <c:v>3225</c:v>
                </c:pt>
                <c:pt idx="130">
                  <c:v>3250</c:v>
                </c:pt>
                <c:pt idx="131">
                  <c:v>3275</c:v>
                </c:pt>
                <c:pt idx="132">
                  <c:v>3300</c:v>
                </c:pt>
                <c:pt idx="133">
                  <c:v>3325</c:v>
                </c:pt>
                <c:pt idx="134">
                  <c:v>3350</c:v>
                </c:pt>
                <c:pt idx="135">
                  <c:v>3375</c:v>
                </c:pt>
                <c:pt idx="136">
                  <c:v>3400</c:v>
                </c:pt>
                <c:pt idx="137">
                  <c:v>3425</c:v>
                </c:pt>
                <c:pt idx="138">
                  <c:v>3450</c:v>
                </c:pt>
                <c:pt idx="139">
                  <c:v>3475</c:v>
                </c:pt>
                <c:pt idx="140">
                  <c:v>3500</c:v>
                </c:pt>
                <c:pt idx="141">
                  <c:v>3525</c:v>
                </c:pt>
                <c:pt idx="142">
                  <c:v>3550</c:v>
                </c:pt>
                <c:pt idx="143">
                  <c:v>3575</c:v>
                </c:pt>
                <c:pt idx="144">
                  <c:v>3600</c:v>
                </c:pt>
                <c:pt idx="145">
                  <c:v>3625</c:v>
                </c:pt>
                <c:pt idx="146">
                  <c:v>3650</c:v>
                </c:pt>
                <c:pt idx="147">
                  <c:v>3675</c:v>
                </c:pt>
                <c:pt idx="148">
                  <c:v>3700</c:v>
                </c:pt>
                <c:pt idx="149">
                  <c:v>3725</c:v>
                </c:pt>
                <c:pt idx="150">
                  <c:v>3750</c:v>
                </c:pt>
                <c:pt idx="151">
                  <c:v>3775</c:v>
                </c:pt>
                <c:pt idx="152">
                  <c:v>3800</c:v>
                </c:pt>
                <c:pt idx="153">
                  <c:v>3825</c:v>
                </c:pt>
                <c:pt idx="154">
                  <c:v>3850</c:v>
                </c:pt>
                <c:pt idx="155">
                  <c:v>3875</c:v>
                </c:pt>
                <c:pt idx="156">
                  <c:v>3900</c:v>
                </c:pt>
                <c:pt idx="157">
                  <c:v>3925</c:v>
                </c:pt>
                <c:pt idx="158">
                  <c:v>3950</c:v>
                </c:pt>
                <c:pt idx="159">
                  <c:v>3975</c:v>
                </c:pt>
                <c:pt idx="160">
                  <c:v>4000</c:v>
                </c:pt>
                <c:pt idx="161">
                  <c:v>4025</c:v>
                </c:pt>
                <c:pt idx="162">
                  <c:v>4050</c:v>
                </c:pt>
                <c:pt idx="163">
                  <c:v>4075</c:v>
                </c:pt>
                <c:pt idx="164">
                  <c:v>4100</c:v>
                </c:pt>
                <c:pt idx="165">
                  <c:v>4125</c:v>
                </c:pt>
                <c:pt idx="166">
                  <c:v>4150</c:v>
                </c:pt>
                <c:pt idx="167">
                  <c:v>4175</c:v>
                </c:pt>
                <c:pt idx="168">
                  <c:v>4200</c:v>
                </c:pt>
                <c:pt idx="169">
                  <c:v>4225</c:v>
                </c:pt>
                <c:pt idx="170">
                  <c:v>4250</c:v>
                </c:pt>
                <c:pt idx="171">
                  <c:v>4275</c:v>
                </c:pt>
                <c:pt idx="172">
                  <c:v>4300</c:v>
                </c:pt>
                <c:pt idx="173">
                  <c:v>4325</c:v>
                </c:pt>
                <c:pt idx="174">
                  <c:v>4350</c:v>
                </c:pt>
                <c:pt idx="175">
                  <c:v>4375</c:v>
                </c:pt>
                <c:pt idx="176">
                  <c:v>4400</c:v>
                </c:pt>
                <c:pt idx="177">
                  <c:v>4425</c:v>
                </c:pt>
                <c:pt idx="178">
                  <c:v>4450</c:v>
                </c:pt>
                <c:pt idx="179">
                  <c:v>4475</c:v>
                </c:pt>
                <c:pt idx="180">
                  <c:v>4500</c:v>
                </c:pt>
                <c:pt idx="181">
                  <c:v>4525</c:v>
                </c:pt>
                <c:pt idx="182">
                  <c:v>4550</c:v>
                </c:pt>
                <c:pt idx="183">
                  <c:v>4575</c:v>
                </c:pt>
                <c:pt idx="184">
                  <c:v>4600</c:v>
                </c:pt>
                <c:pt idx="185">
                  <c:v>4625</c:v>
                </c:pt>
                <c:pt idx="186">
                  <c:v>4650</c:v>
                </c:pt>
                <c:pt idx="187">
                  <c:v>4675</c:v>
                </c:pt>
                <c:pt idx="188">
                  <c:v>4700</c:v>
                </c:pt>
                <c:pt idx="189">
                  <c:v>4725</c:v>
                </c:pt>
                <c:pt idx="190">
                  <c:v>4750</c:v>
                </c:pt>
                <c:pt idx="191">
                  <c:v>4775</c:v>
                </c:pt>
                <c:pt idx="192">
                  <c:v>4800</c:v>
                </c:pt>
                <c:pt idx="193">
                  <c:v>4825</c:v>
                </c:pt>
                <c:pt idx="194">
                  <c:v>4850</c:v>
                </c:pt>
                <c:pt idx="195">
                  <c:v>4875</c:v>
                </c:pt>
                <c:pt idx="196">
                  <c:v>4900</c:v>
                </c:pt>
                <c:pt idx="197">
                  <c:v>4925</c:v>
                </c:pt>
                <c:pt idx="198">
                  <c:v>4950</c:v>
                </c:pt>
                <c:pt idx="199">
                  <c:v>4975</c:v>
                </c:pt>
                <c:pt idx="200">
                  <c:v>5000</c:v>
                </c:pt>
                <c:pt idx="201">
                  <c:v>5025</c:v>
                </c:pt>
                <c:pt idx="202">
                  <c:v>5050</c:v>
                </c:pt>
                <c:pt idx="203">
                  <c:v>5075</c:v>
                </c:pt>
                <c:pt idx="204">
                  <c:v>5100</c:v>
                </c:pt>
                <c:pt idx="205">
                  <c:v>5125</c:v>
                </c:pt>
                <c:pt idx="206">
                  <c:v>5150</c:v>
                </c:pt>
                <c:pt idx="207">
                  <c:v>5175</c:v>
                </c:pt>
                <c:pt idx="208">
                  <c:v>5200</c:v>
                </c:pt>
                <c:pt idx="209">
                  <c:v>5225</c:v>
                </c:pt>
                <c:pt idx="210">
                  <c:v>5250</c:v>
                </c:pt>
                <c:pt idx="211">
                  <c:v>5275</c:v>
                </c:pt>
                <c:pt idx="212">
                  <c:v>5300</c:v>
                </c:pt>
                <c:pt idx="213">
                  <c:v>5325</c:v>
                </c:pt>
                <c:pt idx="214">
                  <c:v>5350</c:v>
                </c:pt>
                <c:pt idx="215">
                  <c:v>5375</c:v>
                </c:pt>
                <c:pt idx="216">
                  <c:v>5400</c:v>
                </c:pt>
                <c:pt idx="217">
                  <c:v>5425</c:v>
                </c:pt>
                <c:pt idx="218">
                  <c:v>5450</c:v>
                </c:pt>
                <c:pt idx="219">
                  <c:v>5475</c:v>
                </c:pt>
                <c:pt idx="220">
                  <c:v>5500</c:v>
                </c:pt>
                <c:pt idx="221">
                  <c:v>5525</c:v>
                </c:pt>
                <c:pt idx="222">
                  <c:v>5550</c:v>
                </c:pt>
                <c:pt idx="223">
                  <c:v>5575</c:v>
                </c:pt>
                <c:pt idx="224">
                  <c:v>5600</c:v>
                </c:pt>
                <c:pt idx="225">
                  <c:v>5625</c:v>
                </c:pt>
                <c:pt idx="226">
                  <c:v>5650</c:v>
                </c:pt>
                <c:pt idx="227">
                  <c:v>5675</c:v>
                </c:pt>
                <c:pt idx="228">
                  <c:v>5700</c:v>
                </c:pt>
                <c:pt idx="229">
                  <c:v>5725</c:v>
                </c:pt>
                <c:pt idx="230">
                  <c:v>5750</c:v>
                </c:pt>
                <c:pt idx="231">
                  <c:v>5775</c:v>
                </c:pt>
                <c:pt idx="232">
                  <c:v>5800</c:v>
                </c:pt>
                <c:pt idx="233">
                  <c:v>5825</c:v>
                </c:pt>
                <c:pt idx="234">
                  <c:v>5850</c:v>
                </c:pt>
                <c:pt idx="235">
                  <c:v>5875</c:v>
                </c:pt>
                <c:pt idx="236">
                  <c:v>5900</c:v>
                </c:pt>
                <c:pt idx="237">
                  <c:v>5925</c:v>
                </c:pt>
                <c:pt idx="238">
                  <c:v>5950</c:v>
                </c:pt>
                <c:pt idx="239">
                  <c:v>5975</c:v>
                </c:pt>
                <c:pt idx="240">
                  <c:v>6000</c:v>
                </c:pt>
                <c:pt idx="241">
                  <c:v>6025</c:v>
                </c:pt>
                <c:pt idx="242">
                  <c:v>6050</c:v>
                </c:pt>
                <c:pt idx="243">
                  <c:v>6075</c:v>
                </c:pt>
                <c:pt idx="244">
                  <c:v>6100</c:v>
                </c:pt>
                <c:pt idx="245">
                  <c:v>6125</c:v>
                </c:pt>
                <c:pt idx="246">
                  <c:v>6150</c:v>
                </c:pt>
                <c:pt idx="247">
                  <c:v>6175</c:v>
                </c:pt>
                <c:pt idx="248">
                  <c:v>6200</c:v>
                </c:pt>
                <c:pt idx="249">
                  <c:v>6225</c:v>
                </c:pt>
                <c:pt idx="250">
                  <c:v>6250</c:v>
                </c:pt>
                <c:pt idx="251">
                  <c:v>6275</c:v>
                </c:pt>
                <c:pt idx="252">
                  <c:v>6300</c:v>
                </c:pt>
                <c:pt idx="253">
                  <c:v>6325</c:v>
                </c:pt>
                <c:pt idx="254">
                  <c:v>6350</c:v>
                </c:pt>
                <c:pt idx="255">
                  <c:v>6375</c:v>
                </c:pt>
                <c:pt idx="256">
                  <c:v>6400</c:v>
                </c:pt>
                <c:pt idx="257">
                  <c:v>6425</c:v>
                </c:pt>
                <c:pt idx="258">
                  <c:v>6450</c:v>
                </c:pt>
                <c:pt idx="259">
                  <c:v>6475</c:v>
                </c:pt>
                <c:pt idx="260">
                  <c:v>6500</c:v>
                </c:pt>
                <c:pt idx="261">
                  <c:v>6525</c:v>
                </c:pt>
                <c:pt idx="262">
                  <c:v>6550</c:v>
                </c:pt>
                <c:pt idx="263">
                  <c:v>6575</c:v>
                </c:pt>
                <c:pt idx="264">
                  <c:v>6600</c:v>
                </c:pt>
                <c:pt idx="265">
                  <c:v>6625</c:v>
                </c:pt>
                <c:pt idx="266">
                  <c:v>6650</c:v>
                </c:pt>
                <c:pt idx="267">
                  <c:v>6675</c:v>
                </c:pt>
                <c:pt idx="268">
                  <c:v>6700</c:v>
                </c:pt>
                <c:pt idx="269">
                  <c:v>6725</c:v>
                </c:pt>
                <c:pt idx="270">
                  <c:v>6750</c:v>
                </c:pt>
                <c:pt idx="271">
                  <c:v>6775</c:v>
                </c:pt>
                <c:pt idx="272">
                  <c:v>6800</c:v>
                </c:pt>
                <c:pt idx="273">
                  <c:v>6825</c:v>
                </c:pt>
                <c:pt idx="274">
                  <c:v>6850</c:v>
                </c:pt>
                <c:pt idx="275">
                  <c:v>6875</c:v>
                </c:pt>
                <c:pt idx="276">
                  <c:v>6900</c:v>
                </c:pt>
                <c:pt idx="277">
                  <c:v>6925</c:v>
                </c:pt>
                <c:pt idx="278">
                  <c:v>6950</c:v>
                </c:pt>
                <c:pt idx="279">
                  <c:v>6975</c:v>
                </c:pt>
                <c:pt idx="280">
                  <c:v>7000</c:v>
                </c:pt>
              </c:numCache>
            </c:numRef>
          </c:xVal>
          <c:yVal>
            <c:numRef>
              <c:f>'Chart Data'!$B$2:$B$282</c:f>
              <c:numCache>
                <c:formatCode>0%</c:formatCode>
                <c:ptCount val="281"/>
                <c:pt idx="0">
                  <c:v>0.03125</c:v>
                </c:pt>
                <c:pt idx="1">
                  <c:v>0.22916667</c:v>
                </c:pt>
                <c:pt idx="2">
                  <c:v>0.68402779</c:v>
                </c:pt>
                <c:pt idx="3">
                  <c:v>0.95833331</c:v>
                </c:pt>
                <c:pt idx="4">
                  <c:v>0.9704861</c:v>
                </c:pt>
                <c:pt idx="5">
                  <c:v>0.9826389</c:v>
                </c:pt>
                <c:pt idx="6">
                  <c:v>0.9861111</c:v>
                </c:pt>
                <c:pt idx="7">
                  <c:v>0.99131942</c:v>
                </c:pt>
                <c:pt idx="8">
                  <c:v>0.99305558</c:v>
                </c:pt>
                <c:pt idx="9">
                  <c:v>0.9982639</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0.99652779</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pt idx="161">
                  <c:v>1</c:v>
                </c:pt>
                <c:pt idx="162">
                  <c:v>1</c:v>
                </c:pt>
                <c:pt idx="163">
                  <c:v>1</c:v>
                </c:pt>
                <c:pt idx="164">
                  <c:v>1</c:v>
                </c:pt>
                <c:pt idx="165">
                  <c:v>1</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1</c:v>
                </c:pt>
                <c:pt idx="181">
                  <c:v>1</c:v>
                </c:pt>
                <c:pt idx="182">
                  <c:v>1</c:v>
                </c:pt>
                <c:pt idx="183">
                  <c:v>1</c:v>
                </c:pt>
                <c:pt idx="184">
                  <c:v>1</c:v>
                </c:pt>
                <c:pt idx="185">
                  <c:v>1</c:v>
                </c:pt>
                <c:pt idx="186">
                  <c:v>1</c:v>
                </c:pt>
                <c:pt idx="187">
                  <c:v>1</c:v>
                </c:pt>
                <c:pt idx="188">
                  <c:v>1</c:v>
                </c:pt>
                <c:pt idx="189">
                  <c:v>0.82291669</c:v>
                </c:pt>
                <c:pt idx="190">
                  <c:v>1</c:v>
                </c:pt>
                <c:pt idx="191">
                  <c:v>1</c:v>
                </c:pt>
                <c:pt idx="192">
                  <c:v>1</c:v>
                </c:pt>
                <c:pt idx="193">
                  <c:v>1</c:v>
                </c:pt>
                <c:pt idx="194">
                  <c:v>1</c:v>
                </c:pt>
                <c:pt idx="195">
                  <c:v>1</c:v>
                </c:pt>
                <c:pt idx="196">
                  <c:v>1</c:v>
                </c:pt>
                <c:pt idx="197">
                  <c:v>1</c:v>
                </c:pt>
                <c:pt idx="198">
                  <c:v>1</c:v>
                </c:pt>
                <c:pt idx="199">
                  <c:v>1</c:v>
                </c:pt>
                <c:pt idx="200">
                  <c:v>1</c:v>
                </c:pt>
                <c:pt idx="201">
                  <c:v>1</c:v>
                </c:pt>
                <c:pt idx="202">
                  <c:v>1</c:v>
                </c:pt>
                <c:pt idx="203">
                  <c:v>1</c:v>
                </c:pt>
                <c:pt idx="204">
                  <c:v>1</c:v>
                </c:pt>
                <c:pt idx="205">
                  <c:v>1</c:v>
                </c:pt>
                <c:pt idx="206">
                  <c:v>1</c:v>
                </c:pt>
                <c:pt idx="207">
                  <c:v>1</c:v>
                </c:pt>
                <c:pt idx="208">
                  <c:v>1</c:v>
                </c:pt>
                <c:pt idx="209">
                  <c:v>1</c:v>
                </c:pt>
                <c:pt idx="210">
                  <c:v>1</c:v>
                </c:pt>
                <c:pt idx="211">
                  <c:v>1</c:v>
                </c:pt>
                <c:pt idx="212">
                  <c:v>1</c:v>
                </c:pt>
                <c:pt idx="213">
                  <c:v>1</c:v>
                </c:pt>
                <c:pt idx="214">
                  <c:v>1</c:v>
                </c:pt>
                <c:pt idx="215">
                  <c:v>1</c:v>
                </c:pt>
                <c:pt idx="216">
                  <c:v>1</c:v>
                </c:pt>
                <c:pt idx="217">
                  <c:v>1</c:v>
                </c:pt>
                <c:pt idx="218">
                  <c:v>1</c:v>
                </c:pt>
                <c:pt idx="219">
                  <c:v>1</c:v>
                </c:pt>
                <c:pt idx="220">
                  <c:v>1</c:v>
                </c:pt>
                <c:pt idx="221">
                  <c:v>1</c:v>
                </c:pt>
                <c:pt idx="222">
                  <c:v>1</c:v>
                </c:pt>
                <c:pt idx="223">
                  <c:v>1</c:v>
                </c:pt>
                <c:pt idx="224">
                  <c:v>1</c:v>
                </c:pt>
                <c:pt idx="225">
                  <c:v>1</c:v>
                </c:pt>
                <c:pt idx="226">
                  <c:v>1</c:v>
                </c:pt>
                <c:pt idx="227">
                  <c:v>1</c:v>
                </c:pt>
                <c:pt idx="228">
                  <c:v>1</c:v>
                </c:pt>
                <c:pt idx="229">
                  <c:v>1</c:v>
                </c:pt>
                <c:pt idx="230">
                  <c:v>1</c:v>
                </c:pt>
                <c:pt idx="231">
                  <c:v>1</c:v>
                </c:pt>
                <c:pt idx="232">
                  <c:v>1</c:v>
                </c:pt>
                <c:pt idx="233">
                  <c:v>1</c:v>
                </c:pt>
                <c:pt idx="234">
                  <c:v>1</c:v>
                </c:pt>
                <c:pt idx="235">
                  <c:v>1</c:v>
                </c:pt>
                <c:pt idx="236">
                  <c:v>1</c:v>
                </c:pt>
                <c:pt idx="237">
                  <c:v>1</c:v>
                </c:pt>
                <c:pt idx="238">
                  <c:v>1</c:v>
                </c:pt>
                <c:pt idx="239">
                  <c:v>1</c:v>
                </c:pt>
                <c:pt idx="240">
                  <c:v>1</c:v>
                </c:pt>
                <c:pt idx="241">
                  <c:v>1</c:v>
                </c:pt>
                <c:pt idx="242">
                  <c:v>1</c:v>
                </c:pt>
                <c:pt idx="243">
                  <c:v>1</c:v>
                </c:pt>
                <c:pt idx="244">
                  <c:v>1</c:v>
                </c:pt>
                <c:pt idx="245">
                  <c:v>1</c:v>
                </c:pt>
                <c:pt idx="246">
                  <c:v>1</c:v>
                </c:pt>
                <c:pt idx="247">
                  <c:v>1</c:v>
                </c:pt>
                <c:pt idx="248">
                  <c:v>1</c:v>
                </c:pt>
                <c:pt idx="249">
                  <c:v>1</c:v>
                </c:pt>
                <c:pt idx="250">
                  <c:v>1</c:v>
                </c:pt>
                <c:pt idx="251">
                  <c:v>1</c:v>
                </c:pt>
                <c:pt idx="252">
                  <c:v>1</c:v>
                </c:pt>
                <c:pt idx="253">
                  <c:v>1</c:v>
                </c:pt>
                <c:pt idx="254">
                  <c:v>1</c:v>
                </c:pt>
                <c:pt idx="255">
                  <c:v>1</c:v>
                </c:pt>
                <c:pt idx="256">
                  <c:v>1</c:v>
                </c:pt>
                <c:pt idx="257">
                  <c:v>1</c:v>
                </c:pt>
                <c:pt idx="258">
                  <c:v>1</c:v>
                </c:pt>
                <c:pt idx="259">
                  <c:v>1</c:v>
                </c:pt>
                <c:pt idx="260">
                  <c:v>1</c:v>
                </c:pt>
                <c:pt idx="261">
                  <c:v>1</c:v>
                </c:pt>
                <c:pt idx="262">
                  <c:v>1</c:v>
                </c:pt>
                <c:pt idx="263">
                  <c:v>1</c:v>
                </c:pt>
                <c:pt idx="264">
                  <c:v>1</c:v>
                </c:pt>
                <c:pt idx="265">
                  <c:v>1</c:v>
                </c:pt>
                <c:pt idx="266">
                  <c:v>1</c:v>
                </c:pt>
                <c:pt idx="267">
                  <c:v>1</c:v>
                </c:pt>
                <c:pt idx="268">
                  <c:v>1</c:v>
                </c:pt>
                <c:pt idx="269">
                  <c:v>1</c:v>
                </c:pt>
                <c:pt idx="270">
                  <c:v>1</c:v>
                </c:pt>
                <c:pt idx="271">
                  <c:v>1</c:v>
                </c:pt>
                <c:pt idx="272">
                  <c:v>1</c:v>
                </c:pt>
                <c:pt idx="273">
                  <c:v>1</c:v>
                </c:pt>
                <c:pt idx="274">
                  <c:v>1</c:v>
                </c:pt>
                <c:pt idx="275">
                  <c:v>1</c:v>
                </c:pt>
                <c:pt idx="276">
                  <c:v>1</c:v>
                </c:pt>
                <c:pt idx="277">
                  <c:v>1</c:v>
                </c:pt>
                <c:pt idx="278">
                  <c:v>1</c:v>
                </c:pt>
                <c:pt idx="279">
                  <c:v>1</c:v>
                </c:pt>
                <c:pt idx="280">
                  <c:v>1</c:v>
                </c:pt>
              </c:numCache>
            </c:numRef>
          </c:yVal>
        </c:ser>
        <c:ser>
          <c:idx val="1"/>
          <c:order val="1"/>
          <c:tx>
            <c:v>New questions</c:v>
          </c:tx>
          <c:spPr>
            <a:solidFill xmlns:a="http://schemas.openxmlformats.org/drawingml/2006/main">
              <a:srgbClr val="637E8E"/>
            </a:solidFill>
            <a:ln xmlns:a="http://schemas.openxmlformats.org/drawingml/2006/main" w="19050">
              <a:solidFill>
                <a:srgbClr val="637E8E"/>
              </a:solidFill>
            </a:ln>
          </c:spPr>
          <c:marker>
            <c:symbol val="none"/>
          </c:marker>
          <c:xVal>
            <c:numRef>
              <c:f>'Chart Data'!$C$2:$C$282</c:f>
              <c:numCache>
                <c:formatCode>General</c:formatCode>
                <c:ptCount val="281"/>
                <c:pt idx="0">
                  <c:v>0</c:v>
                </c:pt>
                <c:pt idx="1">
                  <c:v>25</c:v>
                </c:pt>
                <c:pt idx="2">
                  <c:v>50</c:v>
                </c:pt>
                <c:pt idx="3">
                  <c:v>75</c:v>
                </c:pt>
                <c:pt idx="4">
                  <c:v>100</c:v>
                </c:pt>
                <c:pt idx="5">
                  <c:v>125</c:v>
                </c:pt>
                <c:pt idx="6">
                  <c:v>150</c:v>
                </c:pt>
                <c:pt idx="7">
                  <c:v>175</c:v>
                </c:pt>
                <c:pt idx="8">
                  <c:v>200</c:v>
                </c:pt>
                <c:pt idx="9">
                  <c:v>225</c:v>
                </c:pt>
                <c:pt idx="10">
                  <c:v>250</c:v>
                </c:pt>
                <c:pt idx="11">
                  <c:v>275</c:v>
                </c:pt>
                <c:pt idx="12">
                  <c:v>300</c:v>
                </c:pt>
                <c:pt idx="13">
                  <c:v>325</c:v>
                </c:pt>
                <c:pt idx="14">
                  <c:v>350</c:v>
                </c:pt>
                <c:pt idx="15">
                  <c:v>375</c:v>
                </c:pt>
                <c:pt idx="16">
                  <c:v>400</c:v>
                </c:pt>
                <c:pt idx="17">
                  <c:v>425</c:v>
                </c:pt>
                <c:pt idx="18">
                  <c:v>450</c:v>
                </c:pt>
                <c:pt idx="19">
                  <c:v>475</c:v>
                </c:pt>
                <c:pt idx="20">
                  <c:v>500</c:v>
                </c:pt>
                <c:pt idx="21">
                  <c:v>525</c:v>
                </c:pt>
                <c:pt idx="22">
                  <c:v>550</c:v>
                </c:pt>
                <c:pt idx="23">
                  <c:v>575</c:v>
                </c:pt>
                <c:pt idx="24">
                  <c:v>600</c:v>
                </c:pt>
                <c:pt idx="25">
                  <c:v>625</c:v>
                </c:pt>
                <c:pt idx="26">
                  <c:v>650</c:v>
                </c:pt>
                <c:pt idx="27">
                  <c:v>675</c:v>
                </c:pt>
                <c:pt idx="28">
                  <c:v>700</c:v>
                </c:pt>
                <c:pt idx="29">
                  <c:v>725</c:v>
                </c:pt>
                <c:pt idx="30">
                  <c:v>750</c:v>
                </c:pt>
                <c:pt idx="31">
                  <c:v>775</c:v>
                </c:pt>
                <c:pt idx="32">
                  <c:v>800</c:v>
                </c:pt>
                <c:pt idx="33">
                  <c:v>825</c:v>
                </c:pt>
                <c:pt idx="34">
                  <c:v>850</c:v>
                </c:pt>
                <c:pt idx="35">
                  <c:v>875</c:v>
                </c:pt>
                <c:pt idx="36">
                  <c:v>900</c:v>
                </c:pt>
                <c:pt idx="37">
                  <c:v>925</c:v>
                </c:pt>
                <c:pt idx="38">
                  <c:v>950</c:v>
                </c:pt>
                <c:pt idx="39">
                  <c:v>975</c:v>
                </c:pt>
                <c:pt idx="40">
                  <c:v>1000</c:v>
                </c:pt>
                <c:pt idx="41">
                  <c:v>1025</c:v>
                </c:pt>
                <c:pt idx="42">
                  <c:v>1050</c:v>
                </c:pt>
                <c:pt idx="43">
                  <c:v>1075</c:v>
                </c:pt>
                <c:pt idx="44">
                  <c:v>1100</c:v>
                </c:pt>
                <c:pt idx="45">
                  <c:v>1125</c:v>
                </c:pt>
                <c:pt idx="46">
                  <c:v>1150</c:v>
                </c:pt>
                <c:pt idx="47">
                  <c:v>1175</c:v>
                </c:pt>
                <c:pt idx="48">
                  <c:v>1200</c:v>
                </c:pt>
                <c:pt idx="49">
                  <c:v>1225</c:v>
                </c:pt>
                <c:pt idx="50">
                  <c:v>1250</c:v>
                </c:pt>
                <c:pt idx="51">
                  <c:v>1275</c:v>
                </c:pt>
                <c:pt idx="52">
                  <c:v>1300</c:v>
                </c:pt>
                <c:pt idx="53">
                  <c:v>1325</c:v>
                </c:pt>
                <c:pt idx="54">
                  <c:v>1350</c:v>
                </c:pt>
                <c:pt idx="55">
                  <c:v>1375</c:v>
                </c:pt>
                <c:pt idx="56">
                  <c:v>1400</c:v>
                </c:pt>
                <c:pt idx="57">
                  <c:v>1425</c:v>
                </c:pt>
                <c:pt idx="58">
                  <c:v>1450</c:v>
                </c:pt>
                <c:pt idx="59">
                  <c:v>1475</c:v>
                </c:pt>
                <c:pt idx="60">
                  <c:v>1500</c:v>
                </c:pt>
                <c:pt idx="61">
                  <c:v>1525</c:v>
                </c:pt>
                <c:pt idx="62">
                  <c:v>1550</c:v>
                </c:pt>
                <c:pt idx="63">
                  <c:v>1575</c:v>
                </c:pt>
                <c:pt idx="64">
                  <c:v>1600</c:v>
                </c:pt>
                <c:pt idx="65">
                  <c:v>1625</c:v>
                </c:pt>
                <c:pt idx="66">
                  <c:v>1650</c:v>
                </c:pt>
                <c:pt idx="67">
                  <c:v>1675</c:v>
                </c:pt>
                <c:pt idx="68">
                  <c:v>1700</c:v>
                </c:pt>
                <c:pt idx="69">
                  <c:v>1725</c:v>
                </c:pt>
                <c:pt idx="70">
                  <c:v>1750</c:v>
                </c:pt>
                <c:pt idx="71">
                  <c:v>1775</c:v>
                </c:pt>
                <c:pt idx="72">
                  <c:v>1800</c:v>
                </c:pt>
                <c:pt idx="73">
                  <c:v>1825</c:v>
                </c:pt>
                <c:pt idx="74">
                  <c:v>1850</c:v>
                </c:pt>
                <c:pt idx="75">
                  <c:v>1875</c:v>
                </c:pt>
                <c:pt idx="76">
                  <c:v>1900</c:v>
                </c:pt>
                <c:pt idx="77">
                  <c:v>1925</c:v>
                </c:pt>
                <c:pt idx="78">
                  <c:v>1950</c:v>
                </c:pt>
                <c:pt idx="79">
                  <c:v>1975</c:v>
                </c:pt>
                <c:pt idx="80">
                  <c:v>2000</c:v>
                </c:pt>
                <c:pt idx="81">
                  <c:v>2025</c:v>
                </c:pt>
                <c:pt idx="82">
                  <c:v>2050</c:v>
                </c:pt>
                <c:pt idx="83">
                  <c:v>2075</c:v>
                </c:pt>
                <c:pt idx="84">
                  <c:v>2100</c:v>
                </c:pt>
                <c:pt idx="85">
                  <c:v>2125</c:v>
                </c:pt>
                <c:pt idx="86">
                  <c:v>2150</c:v>
                </c:pt>
                <c:pt idx="87">
                  <c:v>2175</c:v>
                </c:pt>
                <c:pt idx="88">
                  <c:v>2200</c:v>
                </c:pt>
                <c:pt idx="89">
                  <c:v>2225</c:v>
                </c:pt>
                <c:pt idx="90">
                  <c:v>2250</c:v>
                </c:pt>
                <c:pt idx="91">
                  <c:v>2275</c:v>
                </c:pt>
                <c:pt idx="92">
                  <c:v>2300</c:v>
                </c:pt>
                <c:pt idx="93">
                  <c:v>2325</c:v>
                </c:pt>
                <c:pt idx="94">
                  <c:v>2350</c:v>
                </c:pt>
                <c:pt idx="95">
                  <c:v>2375</c:v>
                </c:pt>
                <c:pt idx="96">
                  <c:v>2400</c:v>
                </c:pt>
                <c:pt idx="97">
                  <c:v>2425</c:v>
                </c:pt>
                <c:pt idx="98">
                  <c:v>2450</c:v>
                </c:pt>
                <c:pt idx="99">
                  <c:v>2475</c:v>
                </c:pt>
                <c:pt idx="100">
                  <c:v>2500</c:v>
                </c:pt>
                <c:pt idx="101">
                  <c:v>2525</c:v>
                </c:pt>
                <c:pt idx="102">
                  <c:v>2550</c:v>
                </c:pt>
                <c:pt idx="103">
                  <c:v>2575</c:v>
                </c:pt>
                <c:pt idx="104">
                  <c:v>2600</c:v>
                </c:pt>
                <c:pt idx="105">
                  <c:v>2625</c:v>
                </c:pt>
                <c:pt idx="106">
                  <c:v>2650</c:v>
                </c:pt>
                <c:pt idx="107">
                  <c:v>2675</c:v>
                </c:pt>
                <c:pt idx="108">
                  <c:v>2700</c:v>
                </c:pt>
                <c:pt idx="109">
                  <c:v>2725</c:v>
                </c:pt>
                <c:pt idx="110">
                  <c:v>2750</c:v>
                </c:pt>
                <c:pt idx="111">
                  <c:v>2775</c:v>
                </c:pt>
                <c:pt idx="112">
                  <c:v>2800</c:v>
                </c:pt>
                <c:pt idx="113">
                  <c:v>2825</c:v>
                </c:pt>
                <c:pt idx="114">
                  <c:v>2850</c:v>
                </c:pt>
                <c:pt idx="115">
                  <c:v>2875</c:v>
                </c:pt>
                <c:pt idx="116">
                  <c:v>2900</c:v>
                </c:pt>
                <c:pt idx="117">
                  <c:v>2925</c:v>
                </c:pt>
                <c:pt idx="118">
                  <c:v>2950</c:v>
                </c:pt>
                <c:pt idx="119">
                  <c:v>2975</c:v>
                </c:pt>
                <c:pt idx="120">
                  <c:v>3000</c:v>
                </c:pt>
                <c:pt idx="121">
                  <c:v>3025</c:v>
                </c:pt>
                <c:pt idx="122">
                  <c:v>3050</c:v>
                </c:pt>
                <c:pt idx="123">
                  <c:v>3075</c:v>
                </c:pt>
                <c:pt idx="124">
                  <c:v>3100</c:v>
                </c:pt>
                <c:pt idx="125">
                  <c:v>3125</c:v>
                </c:pt>
                <c:pt idx="126">
                  <c:v>3150</c:v>
                </c:pt>
                <c:pt idx="127">
                  <c:v>3175</c:v>
                </c:pt>
                <c:pt idx="128">
                  <c:v>3200</c:v>
                </c:pt>
                <c:pt idx="129">
                  <c:v>3225</c:v>
                </c:pt>
                <c:pt idx="130">
                  <c:v>3250</c:v>
                </c:pt>
                <c:pt idx="131">
                  <c:v>3275</c:v>
                </c:pt>
                <c:pt idx="132">
                  <c:v>3300</c:v>
                </c:pt>
                <c:pt idx="133">
                  <c:v>3325</c:v>
                </c:pt>
                <c:pt idx="134">
                  <c:v>3350</c:v>
                </c:pt>
                <c:pt idx="135">
                  <c:v>3375</c:v>
                </c:pt>
                <c:pt idx="136">
                  <c:v>3400</c:v>
                </c:pt>
                <c:pt idx="137">
                  <c:v>3425</c:v>
                </c:pt>
                <c:pt idx="138">
                  <c:v>3450</c:v>
                </c:pt>
                <c:pt idx="139">
                  <c:v>3475</c:v>
                </c:pt>
                <c:pt idx="140">
                  <c:v>3500</c:v>
                </c:pt>
                <c:pt idx="141">
                  <c:v>3525</c:v>
                </c:pt>
                <c:pt idx="142">
                  <c:v>3550</c:v>
                </c:pt>
                <c:pt idx="143">
                  <c:v>3575</c:v>
                </c:pt>
                <c:pt idx="144">
                  <c:v>3600</c:v>
                </c:pt>
                <c:pt idx="145">
                  <c:v>3625</c:v>
                </c:pt>
                <c:pt idx="146">
                  <c:v>3650</c:v>
                </c:pt>
                <c:pt idx="147">
                  <c:v>3675</c:v>
                </c:pt>
                <c:pt idx="148">
                  <c:v>3700</c:v>
                </c:pt>
                <c:pt idx="149">
                  <c:v>3725</c:v>
                </c:pt>
                <c:pt idx="150">
                  <c:v>3750</c:v>
                </c:pt>
                <c:pt idx="151">
                  <c:v>3775</c:v>
                </c:pt>
                <c:pt idx="152">
                  <c:v>3800</c:v>
                </c:pt>
                <c:pt idx="153">
                  <c:v>3825</c:v>
                </c:pt>
                <c:pt idx="154">
                  <c:v>3850</c:v>
                </c:pt>
                <c:pt idx="155">
                  <c:v>3875</c:v>
                </c:pt>
                <c:pt idx="156">
                  <c:v>3900</c:v>
                </c:pt>
                <c:pt idx="157">
                  <c:v>3925</c:v>
                </c:pt>
                <c:pt idx="158">
                  <c:v>3950</c:v>
                </c:pt>
                <c:pt idx="159">
                  <c:v>3975</c:v>
                </c:pt>
                <c:pt idx="160">
                  <c:v>4000</c:v>
                </c:pt>
                <c:pt idx="161">
                  <c:v>4025</c:v>
                </c:pt>
                <c:pt idx="162">
                  <c:v>4050</c:v>
                </c:pt>
                <c:pt idx="163">
                  <c:v>4075</c:v>
                </c:pt>
                <c:pt idx="164">
                  <c:v>4100</c:v>
                </c:pt>
                <c:pt idx="165">
                  <c:v>4125</c:v>
                </c:pt>
                <c:pt idx="166">
                  <c:v>4150</c:v>
                </c:pt>
                <c:pt idx="167">
                  <c:v>4175</c:v>
                </c:pt>
                <c:pt idx="168">
                  <c:v>4200</c:v>
                </c:pt>
                <c:pt idx="169">
                  <c:v>4225</c:v>
                </c:pt>
                <c:pt idx="170">
                  <c:v>4250</c:v>
                </c:pt>
                <c:pt idx="171">
                  <c:v>4275</c:v>
                </c:pt>
                <c:pt idx="172">
                  <c:v>4300</c:v>
                </c:pt>
                <c:pt idx="173">
                  <c:v>4325</c:v>
                </c:pt>
                <c:pt idx="174">
                  <c:v>4350</c:v>
                </c:pt>
                <c:pt idx="175">
                  <c:v>4375</c:v>
                </c:pt>
                <c:pt idx="176">
                  <c:v>4400</c:v>
                </c:pt>
                <c:pt idx="177">
                  <c:v>4425</c:v>
                </c:pt>
                <c:pt idx="178">
                  <c:v>4450</c:v>
                </c:pt>
                <c:pt idx="179">
                  <c:v>4475</c:v>
                </c:pt>
                <c:pt idx="180">
                  <c:v>4500</c:v>
                </c:pt>
                <c:pt idx="181">
                  <c:v>4525</c:v>
                </c:pt>
                <c:pt idx="182">
                  <c:v>4550</c:v>
                </c:pt>
                <c:pt idx="183">
                  <c:v>4575</c:v>
                </c:pt>
                <c:pt idx="184">
                  <c:v>4600</c:v>
                </c:pt>
                <c:pt idx="185">
                  <c:v>4625</c:v>
                </c:pt>
                <c:pt idx="186">
                  <c:v>4650</c:v>
                </c:pt>
                <c:pt idx="187">
                  <c:v>4675</c:v>
                </c:pt>
                <c:pt idx="188">
                  <c:v>4700</c:v>
                </c:pt>
                <c:pt idx="189">
                  <c:v>4725</c:v>
                </c:pt>
                <c:pt idx="190">
                  <c:v>4750</c:v>
                </c:pt>
                <c:pt idx="191">
                  <c:v>4775</c:v>
                </c:pt>
                <c:pt idx="192">
                  <c:v>4800</c:v>
                </c:pt>
                <c:pt idx="193">
                  <c:v>4825</c:v>
                </c:pt>
                <c:pt idx="194">
                  <c:v>4850</c:v>
                </c:pt>
                <c:pt idx="195">
                  <c:v>4875</c:v>
                </c:pt>
                <c:pt idx="196">
                  <c:v>4900</c:v>
                </c:pt>
                <c:pt idx="197">
                  <c:v>4925</c:v>
                </c:pt>
                <c:pt idx="198">
                  <c:v>4950</c:v>
                </c:pt>
                <c:pt idx="199">
                  <c:v>4975</c:v>
                </c:pt>
                <c:pt idx="200">
                  <c:v>5000</c:v>
                </c:pt>
                <c:pt idx="201">
                  <c:v>5025</c:v>
                </c:pt>
                <c:pt idx="202">
                  <c:v>5050</c:v>
                </c:pt>
                <c:pt idx="203">
                  <c:v>5075</c:v>
                </c:pt>
                <c:pt idx="204">
                  <c:v>5100</c:v>
                </c:pt>
                <c:pt idx="205">
                  <c:v>5125</c:v>
                </c:pt>
                <c:pt idx="206">
                  <c:v>5150</c:v>
                </c:pt>
                <c:pt idx="207">
                  <c:v>5175</c:v>
                </c:pt>
                <c:pt idx="208">
                  <c:v>5200</c:v>
                </c:pt>
                <c:pt idx="209">
                  <c:v>5225</c:v>
                </c:pt>
                <c:pt idx="210">
                  <c:v>5250</c:v>
                </c:pt>
                <c:pt idx="211">
                  <c:v>5275</c:v>
                </c:pt>
                <c:pt idx="212">
                  <c:v>5300</c:v>
                </c:pt>
                <c:pt idx="213">
                  <c:v>5325</c:v>
                </c:pt>
                <c:pt idx="214">
                  <c:v>5350</c:v>
                </c:pt>
                <c:pt idx="215">
                  <c:v>5375</c:v>
                </c:pt>
                <c:pt idx="216">
                  <c:v>5400</c:v>
                </c:pt>
                <c:pt idx="217">
                  <c:v>5425</c:v>
                </c:pt>
                <c:pt idx="218">
                  <c:v>5450</c:v>
                </c:pt>
                <c:pt idx="219">
                  <c:v>5475</c:v>
                </c:pt>
                <c:pt idx="220">
                  <c:v>5500</c:v>
                </c:pt>
                <c:pt idx="221">
                  <c:v>5525</c:v>
                </c:pt>
                <c:pt idx="222">
                  <c:v>5550</c:v>
                </c:pt>
                <c:pt idx="223">
                  <c:v>5575</c:v>
                </c:pt>
                <c:pt idx="224">
                  <c:v>5600</c:v>
                </c:pt>
                <c:pt idx="225">
                  <c:v>5625</c:v>
                </c:pt>
                <c:pt idx="226">
                  <c:v>5650</c:v>
                </c:pt>
                <c:pt idx="227">
                  <c:v>5675</c:v>
                </c:pt>
                <c:pt idx="228">
                  <c:v>5700</c:v>
                </c:pt>
                <c:pt idx="229">
                  <c:v>5725</c:v>
                </c:pt>
                <c:pt idx="230">
                  <c:v>5750</c:v>
                </c:pt>
                <c:pt idx="231">
                  <c:v>5775</c:v>
                </c:pt>
                <c:pt idx="232">
                  <c:v>5800</c:v>
                </c:pt>
                <c:pt idx="233">
                  <c:v>5825</c:v>
                </c:pt>
                <c:pt idx="234">
                  <c:v>5850</c:v>
                </c:pt>
                <c:pt idx="235">
                  <c:v>5875</c:v>
                </c:pt>
                <c:pt idx="236">
                  <c:v>5900</c:v>
                </c:pt>
                <c:pt idx="237">
                  <c:v>5925</c:v>
                </c:pt>
                <c:pt idx="238">
                  <c:v>5950</c:v>
                </c:pt>
                <c:pt idx="239">
                  <c:v>5975</c:v>
                </c:pt>
                <c:pt idx="240">
                  <c:v>6000</c:v>
                </c:pt>
                <c:pt idx="241">
                  <c:v>6025</c:v>
                </c:pt>
                <c:pt idx="242">
                  <c:v>6050</c:v>
                </c:pt>
                <c:pt idx="243">
                  <c:v>6075</c:v>
                </c:pt>
                <c:pt idx="244">
                  <c:v>6100</c:v>
                </c:pt>
                <c:pt idx="245">
                  <c:v>6125</c:v>
                </c:pt>
                <c:pt idx="246">
                  <c:v>6150</c:v>
                </c:pt>
                <c:pt idx="247">
                  <c:v>6175</c:v>
                </c:pt>
                <c:pt idx="248">
                  <c:v>6200</c:v>
                </c:pt>
                <c:pt idx="249">
                  <c:v>6225</c:v>
                </c:pt>
                <c:pt idx="250">
                  <c:v>6250</c:v>
                </c:pt>
                <c:pt idx="251">
                  <c:v>6275</c:v>
                </c:pt>
                <c:pt idx="252">
                  <c:v>6300</c:v>
                </c:pt>
                <c:pt idx="253">
                  <c:v>6325</c:v>
                </c:pt>
                <c:pt idx="254">
                  <c:v>6350</c:v>
                </c:pt>
                <c:pt idx="255">
                  <c:v>6375</c:v>
                </c:pt>
                <c:pt idx="256">
                  <c:v>6400</c:v>
                </c:pt>
                <c:pt idx="257">
                  <c:v>6425</c:v>
                </c:pt>
                <c:pt idx="258">
                  <c:v>6450</c:v>
                </c:pt>
                <c:pt idx="259">
                  <c:v>6475</c:v>
                </c:pt>
                <c:pt idx="260">
                  <c:v>6500</c:v>
                </c:pt>
                <c:pt idx="261">
                  <c:v>6525</c:v>
                </c:pt>
                <c:pt idx="262">
                  <c:v>6550</c:v>
                </c:pt>
                <c:pt idx="263">
                  <c:v>6575</c:v>
                </c:pt>
                <c:pt idx="264">
                  <c:v>6600</c:v>
                </c:pt>
                <c:pt idx="265">
                  <c:v>6625</c:v>
                </c:pt>
                <c:pt idx="266">
                  <c:v>6650</c:v>
                </c:pt>
                <c:pt idx="267">
                  <c:v>6675</c:v>
                </c:pt>
                <c:pt idx="268">
                  <c:v>6700</c:v>
                </c:pt>
                <c:pt idx="269">
                  <c:v>6725</c:v>
                </c:pt>
                <c:pt idx="270">
                  <c:v>6750</c:v>
                </c:pt>
                <c:pt idx="271">
                  <c:v>6775</c:v>
                </c:pt>
                <c:pt idx="272">
                  <c:v>6800</c:v>
                </c:pt>
                <c:pt idx="273">
                  <c:v>6825</c:v>
                </c:pt>
                <c:pt idx="274">
                  <c:v>6850</c:v>
                </c:pt>
                <c:pt idx="275">
                  <c:v>6875</c:v>
                </c:pt>
                <c:pt idx="276">
                  <c:v>6900</c:v>
                </c:pt>
                <c:pt idx="277">
                  <c:v>6925</c:v>
                </c:pt>
                <c:pt idx="278">
                  <c:v>6950</c:v>
                </c:pt>
                <c:pt idx="279">
                  <c:v>6975</c:v>
                </c:pt>
                <c:pt idx="280">
                  <c:v>7000</c:v>
                </c:pt>
              </c:numCache>
            </c:numRef>
          </c:xVal>
          <c:yVal>
            <c:numRef>
              <c:f>'Chart Data'!$D$2:$D$282</c:f>
              <c:numCache>
                <c:formatCode>0%</c:formatCode>
                <c:ptCount val="281"/>
                <c:pt idx="0">
                  <c:v>0.03376623</c:v>
                </c:pt>
                <c:pt idx="1">
                  <c:v>0.00519481</c:v>
                </c:pt>
                <c:pt idx="2">
                  <c:v>0.13506493</c:v>
                </c:pt>
                <c:pt idx="3">
                  <c:v>0.51168829</c:v>
                </c:pt>
                <c:pt idx="4">
                  <c:v>0.5272727</c:v>
                </c:pt>
                <c:pt idx="5">
                  <c:v>0.51948053</c:v>
                </c:pt>
                <c:pt idx="6">
                  <c:v>0.51428574</c:v>
                </c:pt>
                <c:pt idx="7">
                  <c:v>0.5272727</c:v>
                </c:pt>
                <c:pt idx="8">
                  <c:v>0.52987015</c:v>
                </c:pt>
                <c:pt idx="9">
                  <c:v>0.51428574</c:v>
                </c:pt>
                <c:pt idx="10">
                  <c:v>0.51428574</c:v>
                </c:pt>
                <c:pt idx="11">
                  <c:v>0.51428574</c:v>
                </c:pt>
                <c:pt idx="12">
                  <c:v>0.51168829</c:v>
                </c:pt>
                <c:pt idx="13">
                  <c:v>0.51168829</c:v>
                </c:pt>
                <c:pt idx="14">
                  <c:v>0.51428574</c:v>
                </c:pt>
                <c:pt idx="15">
                  <c:v>0.51168829</c:v>
                </c:pt>
                <c:pt idx="16">
                  <c:v>0.51428574</c:v>
                </c:pt>
                <c:pt idx="17">
                  <c:v>0.51428574</c:v>
                </c:pt>
                <c:pt idx="18">
                  <c:v>0.51688313</c:v>
                </c:pt>
                <c:pt idx="19">
                  <c:v>0.51428574</c:v>
                </c:pt>
                <c:pt idx="20">
                  <c:v>0.51428574</c:v>
                </c:pt>
                <c:pt idx="21">
                  <c:v>0.5090909</c:v>
                </c:pt>
                <c:pt idx="22">
                  <c:v>0.51428574</c:v>
                </c:pt>
                <c:pt idx="23">
                  <c:v>0.5090909</c:v>
                </c:pt>
                <c:pt idx="24">
                  <c:v>0.5090909</c:v>
                </c:pt>
                <c:pt idx="25">
                  <c:v>0.5090909</c:v>
                </c:pt>
                <c:pt idx="26">
                  <c:v>0.5090909</c:v>
                </c:pt>
                <c:pt idx="27">
                  <c:v>0.50649351</c:v>
                </c:pt>
                <c:pt idx="28">
                  <c:v>0.5090909</c:v>
                </c:pt>
                <c:pt idx="29">
                  <c:v>0.50649351</c:v>
                </c:pt>
                <c:pt idx="30">
                  <c:v>0.51168829</c:v>
                </c:pt>
                <c:pt idx="31">
                  <c:v>0.51168829</c:v>
                </c:pt>
                <c:pt idx="32">
                  <c:v>0.51168829</c:v>
                </c:pt>
                <c:pt idx="33">
                  <c:v>0.51168829</c:v>
                </c:pt>
                <c:pt idx="34">
                  <c:v>0.5090909</c:v>
                </c:pt>
                <c:pt idx="35">
                  <c:v>0.51168829</c:v>
                </c:pt>
                <c:pt idx="36">
                  <c:v>0.51168829</c:v>
                </c:pt>
                <c:pt idx="37">
                  <c:v>0.5090909</c:v>
                </c:pt>
                <c:pt idx="38">
                  <c:v>0.51168829</c:v>
                </c:pt>
                <c:pt idx="39">
                  <c:v>0.5090909</c:v>
                </c:pt>
                <c:pt idx="40">
                  <c:v>0.50649351</c:v>
                </c:pt>
                <c:pt idx="41">
                  <c:v>0.50649351</c:v>
                </c:pt>
                <c:pt idx="42">
                  <c:v>0.50649351</c:v>
                </c:pt>
                <c:pt idx="43">
                  <c:v>0.5090909</c:v>
                </c:pt>
                <c:pt idx="44">
                  <c:v>0.51168829</c:v>
                </c:pt>
                <c:pt idx="45">
                  <c:v>0.51168829</c:v>
                </c:pt>
                <c:pt idx="46">
                  <c:v>0.51428574</c:v>
                </c:pt>
                <c:pt idx="47">
                  <c:v>0.51168829</c:v>
                </c:pt>
                <c:pt idx="48">
                  <c:v>0.51428574</c:v>
                </c:pt>
                <c:pt idx="49">
                  <c:v>0.51688313</c:v>
                </c:pt>
                <c:pt idx="50">
                  <c:v>0.51948053</c:v>
                </c:pt>
                <c:pt idx="51">
                  <c:v>0.51688313</c:v>
                </c:pt>
                <c:pt idx="52">
                  <c:v>0.51168829</c:v>
                </c:pt>
                <c:pt idx="53">
                  <c:v>0.51688313</c:v>
                </c:pt>
                <c:pt idx="54">
                  <c:v>0.51688313</c:v>
                </c:pt>
                <c:pt idx="55">
                  <c:v>0.51688313</c:v>
                </c:pt>
                <c:pt idx="56">
                  <c:v>0.51688313</c:v>
                </c:pt>
                <c:pt idx="57">
                  <c:v>0.51948053</c:v>
                </c:pt>
                <c:pt idx="58">
                  <c:v>0.51688313</c:v>
                </c:pt>
                <c:pt idx="59">
                  <c:v>0.52467531</c:v>
                </c:pt>
                <c:pt idx="60">
                  <c:v>0.5272727</c:v>
                </c:pt>
                <c:pt idx="61">
                  <c:v>0.5272727</c:v>
                </c:pt>
                <c:pt idx="62">
                  <c:v>0.52987015</c:v>
                </c:pt>
                <c:pt idx="63">
                  <c:v>0.52987015</c:v>
                </c:pt>
                <c:pt idx="64">
                  <c:v>0.52207792</c:v>
                </c:pt>
                <c:pt idx="65">
                  <c:v>0.51948053</c:v>
                </c:pt>
                <c:pt idx="66">
                  <c:v>0.48051947</c:v>
                </c:pt>
                <c:pt idx="67">
                  <c:v>0.51428574</c:v>
                </c:pt>
                <c:pt idx="68">
                  <c:v>0.5272727</c:v>
                </c:pt>
                <c:pt idx="69">
                  <c:v>0.52987015</c:v>
                </c:pt>
                <c:pt idx="70">
                  <c:v>0.51948053</c:v>
                </c:pt>
                <c:pt idx="71">
                  <c:v>0.5272727</c:v>
                </c:pt>
                <c:pt idx="72">
                  <c:v>0.53246754</c:v>
                </c:pt>
                <c:pt idx="73">
                  <c:v>0.53506494</c:v>
                </c:pt>
                <c:pt idx="74">
                  <c:v>0.53246754</c:v>
                </c:pt>
                <c:pt idx="75">
                  <c:v>0.53766233</c:v>
                </c:pt>
                <c:pt idx="76">
                  <c:v>0.54285717</c:v>
                </c:pt>
                <c:pt idx="77">
                  <c:v>0.54285717</c:v>
                </c:pt>
                <c:pt idx="78">
                  <c:v>0.54285717</c:v>
                </c:pt>
                <c:pt idx="79">
                  <c:v>0.53766233</c:v>
                </c:pt>
                <c:pt idx="80">
                  <c:v>0.54285717</c:v>
                </c:pt>
                <c:pt idx="81">
                  <c:v>0.54285717</c:v>
                </c:pt>
                <c:pt idx="82">
                  <c:v>0.54285717</c:v>
                </c:pt>
                <c:pt idx="83">
                  <c:v>0.54545456</c:v>
                </c:pt>
                <c:pt idx="84">
                  <c:v>0.54545456</c:v>
                </c:pt>
                <c:pt idx="85">
                  <c:v>0.54805195</c:v>
                </c:pt>
                <c:pt idx="86">
                  <c:v>0.54805195</c:v>
                </c:pt>
                <c:pt idx="87">
                  <c:v>0.55064934</c:v>
                </c:pt>
                <c:pt idx="88">
                  <c:v>0.55584413</c:v>
                </c:pt>
                <c:pt idx="89">
                  <c:v>0.56103897</c:v>
                </c:pt>
                <c:pt idx="90">
                  <c:v>0.55844158</c:v>
                </c:pt>
                <c:pt idx="91">
                  <c:v>0.56103897</c:v>
                </c:pt>
                <c:pt idx="92">
                  <c:v>0.56103897</c:v>
                </c:pt>
                <c:pt idx="93">
                  <c:v>0.56363636</c:v>
                </c:pt>
                <c:pt idx="94">
                  <c:v>0.56103897</c:v>
                </c:pt>
                <c:pt idx="95">
                  <c:v>0.56363636</c:v>
                </c:pt>
                <c:pt idx="96">
                  <c:v>0.56103897</c:v>
                </c:pt>
                <c:pt idx="97">
                  <c:v>0.56103897</c:v>
                </c:pt>
                <c:pt idx="98">
                  <c:v>0.56103897</c:v>
                </c:pt>
                <c:pt idx="99">
                  <c:v>0.56103897</c:v>
                </c:pt>
                <c:pt idx="100">
                  <c:v>0.56103897</c:v>
                </c:pt>
                <c:pt idx="101">
                  <c:v>0.56103897</c:v>
                </c:pt>
                <c:pt idx="102">
                  <c:v>0.56103897</c:v>
                </c:pt>
                <c:pt idx="103">
                  <c:v>0.56103897</c:v>
                </c:pt>
                <c:pt idx="104">
                  <c:v>0.56103897</c:v>
                </c:pt>
                <c:pt idx="105">
                  <c:v>0.56363636</c:v>
                </c:pt>
                <c:pt idx="106">
                  <c:v>0.56363636</c:v>
                </c:pt>
                <c:pt idx="107">
                  <c:v>0.56623375</c:v>
                </c:pt>
                <c:pt idx="108">
                  <c:v>0.56623375</c:v>
                </c:pt>
                <c:pt idx="109">
                  <c:v>0.5714286</c:v>
                </c:pt>
                <c:pt idx="110">
                  <c:v>0.57402599</c:v>
                </c:pt>
                <c:pt idx="111">
                  <c:v>0.57402599</c:v>
                </c:pt>
                <c:pt idx="112">
                  <c:v>0.57402599</c:v>
                </c:pt>
                <c:pt idx="113">
                  <c:v>0.57402599</c:v>
                </c:pt>
                <c:pt idx="114">
                  <c:v>0.57662338</c:v>
                </c:pt>
                <c:pt idx="115">
                  <c:v>0.57662338</c:v>
                </c:pt>
                <c:pt idx="116">
                  <c:v>0.57662338</c:v>
                </c:pt>
                <c:pt idx="117">
                  <c:v>0.57662338</c:v>
                </c:pt>
                <c:pt idx="118">
                  <c:v>0.57662338</c:v>
                </c:pt>
                <c:pt idx="119">
                  <c:v>0.57922077</c:v>
                </c:pt>
                <c:pt idx="120">
                  <c:v>0.57922077</c:v>
                </c:pt>
                <c:pt idx="121">
                  <c:v>0.57922077</c:v>
                </c:pt>
                <c:pt idx="122">
                  <c:v>0.58181816</c:v>
                </c:pt>
                <c:pt idx="123">
                  <c:v>0.58181816</c:v>
                </c:pt>
                <c:pt idx="124">
                  <c:v>0.58181816</c:v>
                </c:pt>
                <c:pt idx="125">
                  <c:v>0.58181816</c:v>
                </c:pt>
                <c:pt idx="126">
                  <c:v>0.57922077</c:v>
                </c:pt>
                <c:pt idx="127">
                  <c:v>0.57922077</c:v>
                </c:pt>
                <c:pt idx="128">
                  <c:v>0.58441556</c:v>
                </c:pt>
                <c:pt idx="129">
                  <c:v>0.58701301</c:v>
                </c:pt>
                <c:pt idx="130">
                  <c:v>0.57922077</c:v>
                </c:pt>
                <c:pt idx="131">
                  <c:v>0.56623375</c:v>
                </c:pt>
                <c:pt idx="132">
                  <c:v>0.58181816</c:v>
                </c:pt>
                <c:pt idx="133">
                  <c:v>0.59220779</c:v>
                </c:pt>
                <c:pt idx="134">
                  <c:v>0.5896104</c:v>
                </c:pt>
                <c:pt idx="135">
                  <c:v>0.60000002</c:v>
                </c:pt>
                <c:pt idx="136">
                  <c:v>0.60259742</c:v>
                </c:pt>
                <c:pt idx="137">
                  <c:v>0.60259742</c:v>
                </c:pt>
                <c:pt idx="138">
                  <c:v>0.6077922</c:v>
                </c:pt>
                <c:pt idx="139">
                  <c:v>0.61298704</c:v>
                </c:pt>
                <c:pt idx="140">
                  <c:v>0.61818182</c:v>
                </c:pt>
                <c:pt idx="141">
                  <c:v>0.62337661</c:v>
                </c:pt>
                <c:pt idx="142">
                  <c:v>0.625974</c:v>
                </c:pt>
                <c:pt idx="143">
                  <c:v>0.63636363</c:v>
                </c:pt>
                <c:pt idx="144">
                  <c:v>0.63376623</c:v>
                </c:pt>
                <c:pt idx="145">
                  <c:v>0.65714288</c:v>
                </c:pt>
                <c:pt idx="146">
                  <c:v>0.6701299</c:v>
                </c:pt>
                <c:pt idx="147">
                  <c:v>0.70129871</c:v>
                </c:pt>
                <c:pt idx="148">
                  <c:v>0.7064935</c:v>
                </c:pt>
                <c:pt idx="149">
                  <c:v>0.70909089</c:v>
                </c:pt>
                <c:pt idx="150">
                  <c:v>0.73246753</c:v>
                </c:pt>
                <c:pt idx="151">
                  <c:v>0.75064933</c:v>
                </c:pt>
                <c:pt idx="152">
                  <c:v>0.76623374</c:v>
                </c:pt>
                <c:pt idx="153">
                  <c:v>0.77662337</c:v>
                </c:pt>
                <c:pt idx="154">
                  <c:v>0.78961039</c:v>
                </c:pt>
                <c:pt idx="155">
                  <c:v>0.8025974</c:v>
                </c:pt>
                <c:pt idx="156">
                  <c:v>0.81298703</c:v>
                </c:pt>
                <c:pt idx="157">
                  <c:v>0.82857144</c:v>
                </c:pt>
                <c:pt idx="158">
                  <c:v>0.83896106</c:v>
                </c:pt>
                <c:pt idx="159">
                  <c:v>0.85454547</c:v>
                </c:pt>
                <c:pt idx="160">
                  <c:v>0.87532467</c:v>
                </c:pt>
                <c:pt idx="161">
                  <c:v>0.87532467</c:v>
                </c:pt>
                <c:pt idx="162">
                  <c:v>0.8831169</c:v>
                </c:pt>
                <c:pt idx="163">
                  <c:v>0.89350647</c:v>
                </c:pt>
                <c:pt idx="164">
                  <c:v>0.90909094</c:v>
                </c:pt>
                <c:pt idx="165">
                  <c:v>0.91688311</c:v>
                </c:pt>
                <c:pt idx="166">
                  <c:v>0.92727274</c:v>
                </c:pt>
                <c:pt idx="167">
                  <c:v>0.93246752</c:v>
                </c:pt>
                <c:pt idx="168">
                  <c:v>0.92987013</c:v>
                </c:pt>
                <c:pt idx="169">
                  <c:v>0.93506491</c:v>
                </c:pt>
                <c:pt idx="170">
                  <c:v>0.93766236</c:v>
                </c:pt>
                <c:pt idx="171">
                  <c:v>0.94025975</c:v>
                </c:pt>
                <c:pt idx="172">
                  <c:v>0.94285715</c:v>
                </c:pt>
                <c:pt idx="173">
                  <c:v>0.95584416</c:v>
                </c:pt>
                <c:pt idx="174">
                  <c:v>0.96103895</c:v>
                </c:pt>
                <c:pt idx="175">
                  <c:v>0.96363634</c:v>
                </c:pt>
                <c:pt idx="176">
                  <c:v>0.97142857</c:v>
                </c:pt>
                <c:pt idx="177">
                  <c:v>0.97402596</c:v>
                </c:pt>
                <c:pt idx="178">
                  <c:v>0.97922081</c:v>
                </c:pt>
                <c:pt idx="179">
                  <c:v>0.9818182</c:v>
                </c:pt>
                <c:pt idx="180">
                  <c:v>0.98441559</c:v>
                </c:pt>
                <c:pt idx="181">
                  <c:v>0.98441559</c:v>
                </c:pt>
                <c:pt idx="182">
                  <c:v>0.98441559</c:v>
                </c:pt>
                <c:pt idx="183">
                  <c:v>0.99220777</c:v>
                </c:pt>
                <c:pt idx="184">
                  <c:v>0.99220777</c:v>
                </c:pt>
                <c:pt idx="185">
                  <c:v>0.99220777</c:v>
                </c:pt>
                <c:pt idx="186">
                  <c:v>0.98961037</c:v>
                </c:pt>
                <c:pt idx="187">
                  <c:v>0.99220777</c:v>
                </c:pt>
                <c:pt idx="188">
                  <c:v>0.99220777</c:v>
                </c:pt>
                <c:pt idx="189">
                  <c:v>0.79220778</c:v>
                </c:pt>
                <c:pt idx="190">
                  <c:v>0.95064932</c:v>
                </c:pt>
                <c:pt idx="191">
                  <c:v>0.97662336</c:v>
                </c:pt>
                <c:pt idx="192">
                  <c:v>0.98701298</c:v>
                </c:pt>
                <c:pt idx="193">
                  <c:v>0.99220777</c:v>
                </c:pt>
                <c:pt idx="194">
                  <c:v>0.99740261</c:v>
                </c:pt>
                <c:pt idx="195">
                  <c:v>0.99220777</c:v>
                </c:pt>
                <c:pt idx="196">
                  <c:v>0.99220777</c:v>
                </c:pt>
                <c:pt idx="197">
                  <c:v>0.99220777</c:v>
                </c:pt>
                <c:pt idx="198">
                  <c:v>0.99480522</c:v>
                </c:pt>
                <c:pt idx="199">
                  <c:v>0.99480522</c:v>
                </c:pt>
                <c:pt idx="200">
                  <c:v>0.99480522</c:v>
                </c:pt>
                <c:pt idx="201">
                  <c:v>0.99480522</c:v>
                </c:pt>
                <c:pt idx="202">
                  <c:v>0.99480522</c:v>
                </c:pt>
                <c:pt idx="203">
                  <c:v>0.99480522</c:v>
                </c:pt>
                <c:pt idx="204">
                  <c:v>0.99740261</c:v>
                </c:pt>
                <c:pt idx="205">
                  <c:v>1</c:v>
                </c:pt>
                <c:pt idx="206">
                  <c:v>1</c:v>
                </c:pt>
                <c:pt idx="207">
                  <c:v>1</c:v>
                </c:pt>
                <c:pt idx="208">
                  <c:v>1</c:v>
                </c:pt>
                <c:pt idx="209">
                  <c:v>1</c:v>
                </c:pt>
                <c:pt idx="210">
                  <c:v>1</c:v>
                </c:pt>
                <c:pt idx="211">
                  <c:v>1</c:v>
                </c:pt>
                <c:pt idx="212">
                  <c:v>1</c:v>
                </c:pt>
                <c:pt idx="213">
                  <c:v>1</c:v>
                </c:pt>
                <c:pt idx="214">
                  <c:v>1</c:v>
                </c:pt>
                <c:pt idx="215">
                  <c:v>0.99480522</c:v>
                </c:pt>
                <c:pt idx="216">
                  <c:v>0.99480522</c:v>
                </c:pt>
                <c:pt idx="217">
                  <c:v>0.99480522</c:v>
                </c:pt>
                <c:pt idx="218">
                  <c:v>0.99480522</c:v>
                </c:pt>
                <c:pt idx="219">
                  <c:v>0.99480522</c:v>
                </c:pt>
                <c:pt idx="220">
                  <c:v>0.99480522</c:v>
                </c:pt>
                <c:pt idx="221">
                  <c:v>0.99480522</c:v>
                </c:pt>
                <c:pt idx="222">
                  <c:v>0.99480522</c:v>
                </c:pt>
                <c:pt idx="223">
                  <c:v>0.99480522</c:v>
                </c:pt>
                <c:pt idx="224">
                  <c:v>0.99480522</c:v>
                </c:pt>
                <c:pt idx="225">
                  <c:v>0.99480522</c:v>
                </c:pt>
                <c:pt idx="226">
                  <c:v>0.99480522</c:v>
                </c:pt>
                <c:pt idx="227">
                  <c:v>0.99480522</c:v>
                </c:pt>
                <c:pt idx="228">
                  <c:v>1</c:v>
                </c:pt>
                <c:pt idx="229">
                  <c:v>1</c:v>
                </c:pt>
                <c:pt idx="230">
                  <c:v>1</c:v>
                </c:pt>
                <c:pt idx="231">
                  <c:v>1</c:v>
                </c:pt>
                <c:pt idx="232">
                  <c:v>1</c:v>
                </c:pt>
                <c:pt idx="233">
                  <c:v>1</c:v>
                </c:pt>
                <c:pt idx="234">
                  <c:v>1</c:v>
                </c:pt>
                <c:pt idx="235">
                  <c:v>1</c:v>
                </c:pt>
                <c:pt idx="236">
                  <c:v>1</c:v>
                </c:pt>
                <c:pt idx="237">
                  <c:v>1</c:v>
                </c:pt>
                <c:pt idx="238">
                  <c:v>1</c:v>
                </c:pt>
                <c:pt idx="239">
                  <c:v>1</c:v>
                </c:pt>
                <c:pt idx="240">
                  <c:v>1</c:v>
                </c:pt>
                <c:pt idx="241">
                  <c:v>1</c:v>
                </c:pt>
                <c:pt idx="242">
                  <c:v>1</c:v>
                </c:pt>
                <c:pt idx="243">
                  <c:v>1</c:v>
                </c:pt>
                <c:pt idx="244">
                  <c:v>1</c:v>
                </c:pt>
                <c:pt idx="245">
                  <c:v>1</c:v>
                </c:pt>
                <c:pt idx="246">
                  <c:v>1</c:v>
                </c:pt>
                <c:pt idx="247">
                  <c:v>0.97922081</c:v>
                </c:pt>
                <c:pt idx="248">
                  <c:v>0.99220777</c:v>
                </c:pt>
                <c:pt idx="249">
                  <c:v>0.99480522</c:v>
                </c:pt>
                <c:pt idx="250">
                  <c:v>0.99480522</c:v>
                </c:pt>
                <c:pt idx="251">
                  <c:v>1</c:v>
                </c:pt>
                <c:pt idx="252">
                  <c:v>1</c:v>
                </c:pt>
                <c:pt idx="253">
                  <c:v>1</c:v>
                </c:pt>
                <c:pt idx="254">
                  <c:v>1</c:v>
                </c:pt>
                <c:pt idx="255">
                  <c:v>1</c:v>
                </c:pt>
                <c:pt idx="256">
                  <c:v>1</c:v>
                </c:pt>
                <c:pt idx="257">
                  <c:v>1</c:v>
                </c:pt>
                <c:pt idx="258">
                  <c:v>1</c:v>
                </c:pt>
                <c:pt idx="259">
                  <c:v>1</c:v>
                </c:pt>
                <c:pt idx="260">
                  <c:v>1</c:v>
                </c:pt>
                <c:pt idx="261">
                  <c:v>1</c:v>
                </c:pt>
                <c:pt idx="262">
                  <c:v>1</c:v>
                </c:pt>
                <c:pt idx="263">
                  <c:v>1</c:v>
                </c:pt>
                <c:pt idx="264">
                  <c:v>0.99480522</c:v>
                </c:pt>
                <c:pt idx="265">
                  <c:v>0.99480522</c:v>
                </c:pt>
                <c:pt idx="266">
                  <c:v>0.99480522</c:v>
                </c:pt>
                <c:pt idx="267">
                  <c:v>0.99480522</c:v>
                </c:pt>
                <c:pt idx="268">
                  <c:v>0.99480522</c:v>
                </c:pt>
                <c:pt idx="269">
                  <c:v>0.99480522</c:v>
                </c:pt>
                <c:pt idx="270">
                  <c:v>0.99480522</c:v>
                </c:pt>
                <c:pt idx="271">
                  <c:v>0.99480522</c:v>
                </c:pt>
                <c:pt idx="272">
                  <c:v>0.99480522</c:v>
                </c:pt>
                <c:pt idx="273">
                  <c:v>0.99740261</c:v>
                </c:pt>
                <c:pt idx="274">
                  <c:v>0.99740261</c:v>
                </c:pt>
                <c:pt idx="275">
                  <c:v>1</c:v>
                </c:pt>
                <c:pt idx="276">
                  <c:v>1</c:v>
                </c:pt>
                <c:pt idx="277">
                  <c:v>1</c:v>
                </c:pt>
                <c:pt idx="278">
                  <c:v>1</c:v>
                </c:pt>
                <c:pt idx="279">
                  <c:v>1</c:v>
                </c:pt>
                <c:pt idx="280">
                  <c:v>1</c:v>
                </c:pt>
              </c:numCache>
            </c:numRef>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DFE6EC"/>
              </a:solidFill>
            </a:ln>
          </c:spPr>
        </c:majorGridlines>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Correct answers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37E8E"/>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50112"/>
        <c:majorUnit val="0.25"/>
      </c:valAx>
      <c:valAx>
        <c:axId val="48650112"/>
        <c:scaling>
          <c:orientation val="minMax"/>
          <c:max val="7000"/>
          <c:min val="0"/>
        </c:scaling>
        <c:delete val="0"/>
        <c:axPos val="b"/>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Training updates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General"/>
        <c:majorTickMark val="none"/>
        <c:minorTickMark val="none"/>
        <c:spPr>
          <a:ln xmlns:a="http://schemas.openxmlformats.org/drawingml/2006/main" w="9525">
            <a:solidFill>
              <a:srgbClr val="637E8E"/>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72768"/>
        <c:majorUnit val="1000"/>
      </c:valAx>
    </c:plotArea>
    <c:legend>
      <c:legendPos val="t"/>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Fresh first-confirmation success, 30 attempts per policy and split</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plotArea>
      <c:barChart>
        <c:barDir val="col"/>
        <c:varyColors val="0"/>
        <c:ser>
          <c:idx val="0"/>
          <c:order val="0"/>
          <c:tx>
            <c:v>1 run</c:v>
          </c:tx>
          <c:spPr>
            <a:solidFill xmlns:a="http://schemas.openxmlformats.org/drawingml/2006/main">
              <a:srgbClr val="175F96"/>
            </a:solidFill>
          </c:spPr>
          <c:invertIfNegative val="0"/>
          <c:cat>
            <c:strRef>
              <c:f>'Chart Data'!$A$2:$A$4</c:f>
              <c:strCache>
                <c:ptCount val="3"/>
                <c:pt idx="0">
                  <c:v>Split 1</c:v>
                </c:pt>
                <c:pt idx="1">
                  <c:v>Split 2</c:v>
                </c:pt>
                <c:pt idx="2">
                  <c:v>Split 3</c:v>
                </c:pt>
              </c:strCache>
            </c:strRef>
          </c:cat>
          <c:val>
            <c:numRef>
              <c:f>'Chart Data'!$B$2:$B$4</c:f>
              <c:numCache>
                <c:formatCode>0%</c:formatCode>
                <c:ptCount val="3"/>
                <c:pt idx="0">
                  <c:v>0.93333333</c:v>
                </c:pt>
                <c:pt idx="1">
                  <c:v>0.93333333</c:v>
                </c:pt>
                <c:pt idx="2">
                  <c:v>0.93333333</c:v>
                </c:pt>
              </c:numCache>
            </c:numRef>
          </c:val>
        </c:ser>
        <c:ser>
          <c:idx val="1"/>
          <c:order val="1"/>
          <c:tx>
            <c:v>2 runs</c:v>
          </c:tx>
          <c:spPr>
            <a:solidFill xmlns:a="http://schemas.openxmlformats.org/drawingml/2006/main">
              <a:srgbClr val="637E8E"/>
            </a:solidFill>
          </c:spPr>
          <c:invertIfNegative val="0"/>
          <c:cat>
            <c:strRef>
              <c:f>'Chart Data'!$C$2:$C$4</c:f>
              <c:strCache>
                <c:ptCount val="3"/>
                <c:pt idx="0">
                  <c:v>Split 1</c:v>
                </c:pt>
                <c:pt idx="1">
                  <c:v>Split 2</c:v>
                </c:pt>
                <c:pt idx="2">
                  <c:v>Split 3</c:v>
                </c:pt>
              </c:strCache>
            </c:strRef>
          </c:cat>
          <c:val>
            <c:numRef>
              <c:f>'Chart Data'!$D$2:$D$4</c:f>
              <c:numCache>
                <c:formatCode>0%</c:formatCode>
                <c:ptCount val="3"/>
                <c:pt idx="0">
                  <c:v>0.76666667</c:v>
                </c:pt>
                <c:pt idx="1">
                  <c:v>0.8</c:v>
                </c:pt>
                <c:pt idx="2">
                  <c:v>0.83333333</c:v>
                </c:pt>
              </c:numCache>
            </c:numRef>
          </c:val>
        </c:ser>
        <c:ser>
          <c:idx val="2"/>
          <c:order val="2"/>
          <c:tx>
            <c:v>4 runs</c:v>
          </c:tx>
          <c:spPr>
            <a:solidFill xmlns:a="http://schemas.openxmlformats.org/drawingml/2006/main">
              <a:srgbClr val="253F50"/>
            </a:solidFill>
          </c:spPr>
          <c:invertIfNegative val="0"/>
          <c:cat>
            <c:strRef>
              <c:f>'Chart Data'!$E$2:$E$4</c:f>
              <c:strCache>
                <c:ptCount val="3"/>
                <c:pt idx="0">
                  <c:v>Split 1</c:v>
                </c:pt>
                <c:pt idx="1">
                  <c:v>Split 2</c:v>
                </c:pt>
                <c:pt idx="2">
                  <c:v>Split 3</c:v>
                </c:pt>
              </c:strCache>
            </c:strRef>
          </c:cat>
          <c:val>
            <c:numRef>
              <c:f>'Chart Data'!$F$2:$F$4</c:f>
              <c:numCache>
                <c:formatCode>0%</c:formatCode>
                <c:ptCount val="3"/>
                <c:pt idx="0">
                  <c:v>0.4</c:v>
                </c:pt>
                <c:pt idx="1">
                  <c:v>0.3</c:v>
                </c:pt>
                <c:pt idx="2">
                  <c:v>0.36666667</c:v>
                </c:pt>
              </c:numCache>
            </c:numRef>
          </c:val>
        </c:ser>
        <c:gapWidth val="7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Fixed dataset split</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General"/>
        <c:majorTickMark val="none"/>
        <c:minorTickMark val="none"/>
        <c:spPr>
          <a:ln xmlns:a="http://schemas.openxmlformats.org/drawingml/2006/main" w="9525">
            <a:solidFill>
              <a:srgbClr val="637E8E"/>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FE6EC"/>
              </a:solidFill>
            </a:ln>
          </c:spPr>
        </c:majorGridlines>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Observed success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37E8E"/>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50112"/>
        <c:crossBetween val="between"/>
        <c:majorUnit val="0.25"/>
      </c:valAx>
    </c:plotArea>
    <c:legend>
      <c:legendPos val="t"/>
      <c:overlay val="0"/>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7B0B076-5C47-4112-AB9D-CE9F75C077BD}"/>
              </a:ext>
            </a:extLst>
          </p:cNvPr>
          <p:cNvSpPr>
            <a:spLocks xmlns:a="http://schemas.openxmlformats.org/drawingml/2006/main" noGrp="1"/>
          </p:cNvSpPr>
          <p:nvPr/>
        </p:nvSpPr>
        <p:spPr>
          <a:xfrm xmlns:a="http://schemas.openxmlformats.org/drawingml/2006/main">
            <a:off x="666750" y="4095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975" b="1">
                <a:solidFill>
                  <a:srgbClr val="175F96"/>
                </a:solidFill>
                <a:latin typeface="Arial"/>
                <a:ea typeface="Arial"/>
                <a:cs typeface="Arial"/>
              </a:defRPr>
            </a:defPPr>
            <a:lvl1pPr>
              <a:defRPr sz="3975" b="1">
                <a:solidFill>
                  <a:srgbClr val="175F96"/>
                </a:solidFill>
                <a:latin typeface="Arial"/>
                <a:ea typeface="Arial"/>
                <a:cs typeface="Arial"/>
              </a:defRPr>
            </a:lvl1pPr>
            <a:lvl2pPr>
              <a:defRPr sz="3975" b="1">
                <a:solidFill>
                  <a:srgbClr val="175F96"/>
                </a:solidFill>
                <a:latin typeface="Arial"/>
                <a:ea typeface="Arial"/>
                <a:cs typeface="Arial"/>
              </a:defRPr>
            </a:lvl2pPr>
            <a:lvl3pPr>
              <a:defRPr sz="3975" b="1">
                <a:solidFill>
                  <a:srgbClr val="175F96"/>
                </a:solidFill>
                <a:latin typeface="Arial"/>
                <a:ea typeface="Arial"/>
                <a:cs typeface="Arial"/>
              </a:defRPr>
            </a:lvl3pPr>
            <a:lvl4pPr>
              <a:defRPr sz="3975" b="1">
                <a:solidFill>
                  <a:srgbClr val="175F96"/>
                </a:solidFill>
                <a:latin typeface="Arial"/>
                <a:ea typeface="Arial"/>
                <a:cs typeface="Arial"/>
              </a:defRPr>
            </a:lvl4pPr>
            <a:lvl5pPr>
              <a:defRPr sz="3975" b="1">
                <a:solidFill>
                  <a:srgbClr val="175F96"/>
                </a:solidFill>
                <a:latin typeface="Arial"/>
                <a:ea typeface="Arial"/>
                <a:cs typeface="Arial"/>
              </a:defRPr>
            </a:lvl5pPr>
            <a:lvl6pPr>
              <a:defRPr sz="3975" b="1">
                <a:solidFill>
                  <a:srgbClr val="175F96"/>
                </a:solidFill>
                <a:latin typeface="Arial"/>
                <a:ea typeface="Arial"/>
                <a:cs typeface="Arial"/>
              </a:defRPr>
            </a:lvl6pPr>
            <a:lvl7pPr>
              <a:defRPr sz="3975" b="1">
                <a:solidFill>
                  <a:srgbClr val="175F96"/>
                </a:solidFill>
                <a:latin typeface="Arial"/>
                <a:ea typeface="Arial"/>
                <a:cs typeface="Arial"/>
              </a:defRPr>
            </a:lvl7pPr>
            <a:lvl8pPr>
              <a:defRPr sz="3975" b="1">
                <a:solidFill>
                  <a:srgbClr val="175F96"/>
                </a:solidFill>
                <a:latin typeface="Arial"/>
                <a:ea typeface="Arial"/>
                <a:cs typeface="Arial"/>
              </a:defRPr>
            </a:lvl8pPr>
            <a:lvl9pPr>
              <a:defRPr sz="3975" b="1">
                <a:solidFill>
                  <a:srgbClr val="175F96"/>
                </a:solidFill>
                <a:latin typeface="Arial"/>
                <a:ea typeface="Arial"/>
                <a:cs typeface="Arial"/>
              </a:defRPr>
            </a:lvl9pPr>
          </a:lstStyle>
          <a:p xmlns:a="http://schemas.openxmlformats.org/drawingml/2006/main">
            <a:pPr>
              <a:defRPr sz="3975" b="1">
                <a:solidFill>
                  <a:srgbClr val="175F96"/>
                </a:solidFill>
                <a:latin typeface="Arial"/>
                <a:ea typeface="Arial"/>
                <a:cs typeface="Arial"/>
              </a:defRPr>
            </a:pPr>
            <a:r>
              <a:rPr sz="3975" b="1">
                <a:solidFill>
                  <a:srgbClr val="175F96"/>
                </a:solidFill>
                <a:latin typeface="Arial"/>
                <a:ea typeface="Arial"/>
                <a:cs typeface="Arial"/>
              </a:rPr>
              <a:t>Grokking Under a Fixed Budget</a:t>
            </a:r>
          </a:p>
        </p:txBody>
      </p:sp>
      <p:sp>
        <p:nvSpPr>
          <p:cNvPr id="3" name="">
            <a:extLst xmlns:a="http://schemas.openxmlformats.org/drawingml/2006/main">
              <a:ext uri="{FF2B5EF4-FFF2-40B4-BE49-F238E27FC236}">
                <a16:creationId xmlns:a16="http://schemas.microsoft.com/office/drawing/2014/main" id="{F06A670D-8F81-41B1-A1D4-A8A7DE3D9E06}"/>
              </a:ext>
            </a:extLst>
          </p:cNvPr>
          <p:cNvSpPr>
            <a:spLocks xmlns:a="http://schemas.openxmlformats.org/drawingml/2006/main" noGrp="1"/>
          </p:cNvSpPr>
          <p:nvPr/>
        </p:nvSpPr>
        <p:spPr>
          <a:xfrm xmlns:a="http://schemas.openxmlformats.org/drawingml/2006/main">
            <a:off x="666750" y="647700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a:solidFill>
                  <a:srgbClr val="637E8E"/>
                </a:solidFill>
                <a:latin typeface="Arial"/>
                <a:ea typeface="Arial"/>
                <a:cs typeface="Arial"/>
              </a:defRPr>
            </a:defPPr>
            <a:lvl1pPr>
              <a:defRPr sz="1350">
                <a:solidFill>
                  <a:srgbClr val="637E8E"/>
                </a:solidFill>
                <a:latin typeface="Arial"/>
                <a:ea typeface="Arial"/>
                <a:cs typeface="Arial"/>
              </a:defRPr>
            </a:lvl1pPr>
            <a:lvl2pPr>
              <a:defRPr sz="1350">
                <a:solidFill>
                  <a:srgbClr val="637E8E"/>
                </a:solidFill>
                <a:latin typeface="Arial"/>
                <a:ea typeface="Arial"/>
                <a:cs typeface="Arial"/>
              </a:defRPr>
            </a:lvl2pPr>
            <a:lvl3pPr>
              <a:defRPr sz="1350">
                <a:solidFill>
                  <a:srgbClr val="637E8E"/>
                </a:solidFill>
                <a:latin typeface="Arial"/>
                <a:ea typeface="Arial"/>
                <a:cs typeface="Arial"/>
              </a:defRPr>
            </a:lvl3pPr>
            <a:lvl4pPr>
              <a:defRPr sz="1350">
                <a:solidFill>
                  <a:srgbClr val="637E8E"/>
                </a:solidFill>
                <a:latin typeface="Arial"/>
                <a:ea typeface="Arial"/>
                <a:cs typeface="Arial"/>
              </a:defRPr>
            </a:lvl4pPr>
            <a:lvl5pPr>
              <a:defRPr sz="1350">
                <a:solidFill>
                  <a:srgbClr val="637E8E"/>
                </a:solidFill>
                <a:latin typeface="Arial"/>
                <a:ea typeface="Arial"/>
                <a:cs typeface="Arial"/>
              </a:defRPr>
            </a:lvl5pPr>
            <a:lvl6pPr>
              <a:defRPr sz="1350">
                <a:solidFill>
                  <a:srgbClr val="637E8E"/>
                </a:solidFill>
                <a:latin typeface="Arial"/>
                <a:ea typeface="Arial"/>
                <a:cs typeface="Arial"/>
              </a:defRPr>
            </a:lvl6pPr>
            <a:lvl7pPr>
              <a:defRPr sz="1350">
                <a:solidFill>
                  <a:srgbClr val="637E8E"/>
                </a:solidFill>
                <a:latin typeface="Arial"/>
                <a:ea typeface="Arial"/>
                <a:cs typeface="Arial"/>
              </a:defRPr>
            </a:lvl7pPr>
            <a:lvl8pPr>
              <a:defRPr sz="1350">
                <a:solidFill>
                  <a:srgbClr val="637E8E"/>
                </a:solidFill>
                <a:latin typeface="Arial"/>
                <a:ea typeface="Arial"/>
                <a:cs typeface="Arial"/>
              </a:defRPr>
            </a:lvl8pPr>
            <a:lvl9pPr>
              <a:defRPr sz="1350">
                <a:solidFill>
                  <a:srgbClr val="637E8E"/>
                </a:solidFill>
                <a:latin typeface="Arial"/>
                <a:ea typeface="Arial"/>
                <a:cs typeface="Arial"/>
              </a:defRPr>
            </a:lvl9pPr>
          </a:lstStyle>
          <a:p xmlns:a="http://schemas.openxmlformats.org/drawingml/2006/main">
            <a:pPr>
              <a:defRPr sz="1350">
                <a:solidFill>
                  <a:srgbClr val="637E8E"/>
                </a:solidFill>
                <a:latin typeface="Arial"/>
                <a:ea typeface="Arial"/>
                <a:cs typeface="Arial"/>
              </a:defRPr>
            </a:pPr>
            <a:r>
              <a:rPr sz="1350">
                <a:solidFill>
                  <a:srgbClr val="637E8E"/>
                </a:solidFill>
                <a:latin typeface="Arial"/>
                <a:ea typeface="Arial"/>
                <a:cs typeface="Arial"/>
              </a:rPr>
              <a:t>Assessment 10  /  1</a:t>
            </a:r>
          </a:p>
        </p:txBody>
      </p:sp>
      <p:sp>
        <p:nvSpPr>
          <p:cNvPr id="4" name="">
            <a:extLst xmlns:a="http://schemas.openxmlformats.org/drawingml/2006/main">
              <a:ext uri="{FF2B5EF4-FFF2-40B4-BE49-F238E27FC236}">
                <a16:creationId xmlns:a16="http://schemas.microsoft.com/office/drawing/2014/main" id="{A5951837-F1CB-4C68-AABF-EE66292C6EA8}"/>
              </a:ext>
            </a:extLst>
          </p:cNvPr>
          <p:cNvSpPr>
            <a:spLocks xmlns:a="http://schemas.openxmlformats.org/drawingml/2006/main" noGrp="1"/>
          </p:cNvSpPr>
          <p:nvPr/>
        </p:nvSpPr>
        <p:spPr>
          <a:xfrm xmlns:a="http://schemas.openxmlformats.org/drawingml/2006/main">
            <a:off x="666750" y="20764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000">
                <a:solidFill>
                  <a:srgbClr val="175F96"/>
                </a:solidFill>
                <a:latin typeface="Arial"/>
                <a:ea typeface="Arial"/>
                <a:cs typeface="Arial"/>
              </a:defRPr>
            </a:defPPr>
            <a:lvl1pPr>
              <a:defRPr sz="3000">
                <a:solidFill>
                  <a:srgbClr val="175F96"/>
                </a:solidFill>
                <a:latin typeface="Arial"/>
                <a:ea typeface="Arial"/>
                <a:cs typeface="Arial"/>
              </a:defRPr>
            </a:lvl1pPr>
            <a:lvl2pPr>
              <a:defRPr sz="3000">
                <a:solidFill>
                  <a:srgbClr val="175F96"/>
                </a:solidFill>
                <a:latin typeface="Arial"/>
                <a:ea typeface="Arial"/>
                <a:cs typeface="Arial"/>
              </a:defRPr>
            </a:lvl2pPr>
            <a:lvl3pPr>
              <a:defRPr sz="3000">
                <a:solidFill>
                  <a:srgbClr val="175F96"/>
                </a:solidFill>
                <a:latin typeface="Arial"/>
                <a:ea typeface="Arial"/>
                <a:cs typeface="Arial"/>
              </a:defRPr>
            </a:lvl3pPr>
            <a:lvl4pPr>
              <a:defRPr sz="3000">
                <a:solidFill>
                  <a:srgbClr val="175F96"/>
                </a:solidFill>
                <a:latin typeface="Arial"/>
                <a:ea typeface="Arial"/>
                <a:cs typeface="Arial"/>
              </a:defRPr>
            </a:lvl4pPr>
            <a:lvl5pPr>
              <a:defRPr sz="3000">
                <a:solidFill>
                  <a:srgbClr val="175F96"/>
                </a:solidFill>
                <a:latin typeface="Arial"/>
                <a:ea typeface="Arial"/>
                <a:cs typeface="Arial"/>
              </a:defRPr>
            </a:lvl5pPr>
            <a:lvl6pPr>
              <a:defRPr sz="3000">
                <a:solidFill>
                  <a:srgbClr val="175F96"/>
                </a:solidFill>
                <a:latin typeface="Arial"/>
                <a:ea typeface="Arial"/>
                <a:cs typeface="Arial"/>
              </a:defRPr>
            </a:lvl6pPr>
            <a:lvl7pPr>
              <a:defRPr sz="3000">
                <a:solidFill>
                  <a:srgbClr val="175F96"/>
                </a:solidFill>
                <a:latin typeface="Arial"/>
                <a:ea typeface="Arial"/>
                <a:cs typeface="Arial"/>
              </a:defRPr>
            </a:lvl7pPr>
            <a:lvl8pPr>
              <a:defRPr sz="3000">
                <a:solidFill>
                  <a:srgbClr val="175F96"/>
                </a:solidFill>
                <a:latin typeface="Arial"/>
                <a:ea typeface="Arial"/>
                <a:cs typeface="Arial"/>
              </a:defRPr>
            </a:lvl8pPr>
            <a:lvl9pPr>
              <a:defRPr sz="3000">
                <a:solidFill>
                  <a:srgbClr val="175F96"/>
                </a:solidFill>
                <a:latin typeface="Arial"/>
                <a:ea typeface="Arial"/>
                <a:cs typeface="Arial"/>
              </a:defRPr>
            </a:lvl9pPr>
          </a:lstStyle>
          <a:p xmlns:a="http://schemas.openxmlformats.org/drawingml/2006/main">
            <a:pPr>
              <a:defRPr sz="3000">
                <a:solidFill>
                  <a:srgbClr val="175F96"/>
                </a:solidFill>
                <a:latin typeface="Arial"/>
                <a:ea typeface="Arial"/>
                <a:cs typeface="Arial"/>
              </a:defRPr>
            </a:pPr>
            <a:r>
              <a:rPr sz="3000">
                <a:solidFill>
                  <a:srgbClr val="175F96"/>
                </a:solidFill>
                <a:latin typeface="Arial"/>
                <a:ea typeface="Arial"/>
                <a:cs typeface="Arial"/>
              </a:rPr>
              <a:t>One long run or several restarts?</a:t>
            </a:r>
          </a:p>
        </p:txBody>
      </p:sp>
      <p:sp>
        <p:nvSpPr>
          <p:cNvPr id="5" name="">
            <a:extLst xmlns:a="http://schemas.openxmlformats.org/drawingml/2006/main">
              <a:ext uri="{FF2B5EF4-FFF2-40B4-BE49-F238E27FC236}">
                <a16:creationId xmlns:a16="http://schemas.microsoft.com/office/drawing/2014/main" id="{D2F5B332-19F6-4DD9-AE20-92F075F42C03}"/>
              </a:ext>
            </a:extLst>
          </p:cNvPr>
          <p:cNvSpPr>
            <a:spLocks xmlns:a="http://schemas.openxmlformats.org/drawingml/2006/main" noGrp="1"/>
          </p:cNvSpPr>
          <p:nvPr/>
        </p:nvSpPr>
        <p:spPr>
          <a:xfrm xmlns:a="http://schemas.openxmlformats.org/drawingml/2006/main">
            <a:off x="666750" y="34480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a:solidFill>
                  <a:srgbClr val="637E8E"/>
                </a:solidFill>
                <a:latin typeface="Arial"/>
                <a:ea typeface="Arial"/>
                <a:cs typeface="Arial"/>
              </a:defRPr>
            </a:defPPr>
            <a:lvl1pPr>
              <a:defRPr sz="2325">
                <a:solidFill>
                  <a:srgbClr val="637E8E"/>
                </a:solidFill>
                <a:latin typeface="Arial"/>
                <a:ea typeface="Arial"/>
                <a:cs typeface="Arial"/>
              </a:defRPr>
            </a:lvl1pPr>
            <a:lvl2pPr>
              <a:defRPr sz="2325">
                <a:solidFill>
                  <a:srgbClr val="637E8E"/>
                </a:solidFill>
                <a:latin typeface="Arial"/>
                <a:ea typeface="Arial"/>
                <a:cs typeface="Arial"/>
              </a:defRPr>
            </a:lvl2pPr>
            <a:lvl3pPr>
              <a:defRPr sz="2325">
                <a:solidFill>
                  <a:srgbClr val="637E8E"/>
                </a:solidFill>
                <a:latin typeface="Arial"/>
                <a:ea typeface="Arial"/>
                <a:cs typeface="Arial"/>
              </a:defRPr>
            </a:lvl3pPr>
            <a:lvl4pPr>
              <a:defRPr sz="2325">
                <a:solidFill>
                  <a:srgbClr val="637E8E"/>
                </a:solidFill>
                <a:latin typeface="Arial"/>
                <a:ea typeface="Arial"/>
                <a:cs typeface="Arial"/>
              </a:defRPr>
            </a:lvl4pPr>
            <a:lvl5pPr>
              <a:defRPr sz="2325">
                <a:solidFill>
                  <a:srgbClr val="637E8E"/>
                </a:solidFill>
                <a:latin typeface="Arial"/>
                <a:ea typeface="Arial"/>
                <a:cs typeface="Arial"/>
              </a:defRPr>
            </a:lvl5pPr>
            <a:lvl6pPr>
              <a:defRPr sz="2325">
                <a:solidFill>
                  <a:srgbClr val="637E8E"/>
                </a:solidFill>
                <a:latin typeface="Arial"/>
                <a:ea typeface="Arial"/>
                <a:cs typeface="Arial"/>
              </a:defRPr>
            </a:lvl6pPr>
            <a:lvl7pPr>
              <a:defRPr sz="2325">
                <a:solidFill>
                  <a:srgbClr val="637E8E"/>
                </a:solidFill>
                <a:latin typeface="Arial"/>
                <a:ea typeface="Arial"/>
                <a:cs typeface="Arial"/>
              </a:defRPr>
            </a:lvl7pPr>
            <a:lvl8pPr>
              <a:defRPr sz="2325">
                <a:solidFill>
                  <a:srgbClr val="637E8E"/>
                </a:solidFill>
                <a:latin typeface="Arial"/>
                <a:ea typeface="Arial"/>
                <a:cs typeface="Arial"/>
              </a:defRPr>
            </a:lvl8pPr>
            <a:lvl9pPr>
              <a:defRPr sz="2325">
                <a:solidFill>
                  <a:srgbClr val="637E8E"/>
                </a:solidFill>
                <a:latin typeface="Arial"/>
                <a:ea typeface="Arial"/>
                <a:cs typeface="Arial"/>
              </a:defRPr>
            </a:lvl9pPr>
          </a:lstStyle>
          <a:p xmlns:a="http://schemas.openxmlformats.org/drawingml/2006/main">
            <a:pPr>
              <a:defRPr sz="2325">
                <a:solidFill>
                  <a:srgbClr val="637E8E"/>
                </a:solidFill>
                <a:latin typeface="Arial"/>
                <a:ea typeface="Arial"/>
                <a:cs typeface="Arial"/>
              </a:defRPr>
            </a:pPr>
            <a:r>
              <a:rPr sz="2325">
                <a:solidFill>
                  <a:srgbClr val="637E8E"/>
                </a:solidFill>
                <a:latin typeface="Arial"/>
                <a:ea typeface="Arial"/>
                <a:cs typeface="Arial"/>
              </a:rPr>
              <a:t>Probability and Statistics</a:t>
            </a:r>
          </a:p>
          <a:p xmlns:a="http://schemas.openxmlformats.org/drawingml/2006/main">
            <a:pPr>
              <a:defRPr sz="2325">
                <a:solidFill>
                  <a:srgbClr val="637E8E"/>
                </a:solidFill>
                <a:latin typeface="Arial"/>
                <a:ea typeface="Arial"/>
                <a:cs typeface="Arial"/>
              </a:defRPr>
            </a:pPr>
            <a:r>
              <a:rPr sz="2325">
                <a:solidFill>
                  <a:srgbClr val="637E8E"/>
                </a:solidFill>
                <a:latin typeface="Arial"/>
                <a:ea typeface="Arial"/>
                <a:cs typeface="Arial"/>
              </a:rPr>
              <a:t>Final explanation and measured results</a:t>
            </a:r>
          </a:p>
        </p:txBody>
      </p:sp>
      <p:sp>
        <p:nvSpPr>
          <p:cNvPr id="6" name="">
            <a:extLst xmlns:a="http://schemas.openxmlformats.org/drawingml/2006/main">
              <a:ext uri="{FF2B5EF4-FFF2-40B4-BE49-F238E27FC236}">
                <a16:creationId xmlns:a16="http://schemas.microsoft.com/office/drawing/2014/main" id="{5BF47AFB-4980-4DD5-B26C-50D0261645F4}"/>
              </a:ext>
            </a:extLst>
          </p:cNvPr>
          <p:cNvSpPr>
            <a:spLocks xmlns:a="http://schemas.openxmlformats.org/drawingml/2006/main" noGrp="1"/>
          </p:cNvSpPr>
          <p:nvPr/>
        </p:nvSpPr>
        <p:spPr>
          <a:xfrm xmlns:a="http://schemas.openxmlformats.org/drawingml/2006/main">
            <a:off x="666750" y="51911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a:solidFill>
                  <a:srgbClr val="172B3A"/>
                </a:solidFill>
                <a:latin typeface="Arial"/>
                <a:ea typeface="Arial"/>
                <a:cs typeface="Arial"/>
              </a:defRPr>
            </a:defPPr>
            <a:lvl1pPr>
              <a:defRPr sz="2100">
                <a:solidFill>
                  <a:srgbClr val="172B3A"/>
                </a:solidFill>
                <a:latin typeface="Arial"/>
                <a:ea typeface="Arial"/>
                <a:cs typeface="Arial"/>
              </a:defRPr>
            </a:lvl1pPr>
            <a:lvl2pPr>
              <a:defRPr sz="2100">
                <a:solidFill>
                  <a:srgbClr val="172B3A"/>
                </a:solidFill>
                <a:latin typeface="Arial"/>
                <a:ea typeface="Arial"/>
                <a:cs typeface="Arial"/>
              </a:defRPr>
            </a:lvl2pPr>
            <a:lvl3pPr>
              <a:defRPr sz="2100">
                <a:solidFill>
                  <a:srgbClr val="172B3A"/>
                </a:solidFill>
                <a:latin typeface="Arial"/>
                <a:ea typeface="Arial"/>
                <a:cs typeface="Arial"/>
              </a:defRPr>
            </a:lvl3pPr>
            <a:lvl4pPr>
              <a:defRPr sz="2100">
                <a:solidFill>
                  <a:srgbClr val="172B3A"/>
                </a:solidFill>
                <a:latin typeface="Arial"/>
                <a:ea typeface="Arial"/>
                <a:cs typeface="Arial"/>
              </a:defRPr>
            </a:lvl4pPr>
            <a:lvl5pPr>
              <a:defRPr sz="2100">
                <a:solidFill>
                  <a:srgbClr val="172B3A"/>
                </a:solidFill>
                <a:latin typeface="Arial"/>
                <a:ea typeface="Arial"/>
                <a:cs typeface="Arial"/>
              </a:defRPr>
            </a:lvl5pPr>
            <a:lvl6pPr>
              <a:defRPr sz="2100">
                <a:solidFill>
                  <a:srgbClr val="172B3A"/>
                </a:solidFill>
                <a:latin typeface="Arial"/>
                <a:ea typeface="Arial"/>
                <a:cs typeface="Arial"/>
              </a:defRPr>
            </a:lvl6pPr>
            <a:lvl7pPr>
              <a:defRPr sz="2100">
                <a:solidFill>
                  <a:srgbClr val="172B3A"/>
                </a:solidFill>
                <a:latin typeface="Arial"/>
                <a:ea typeface="Arial"/>
                <a:cs typeface="Arial"/>
              </a:defRPr>
            </a:lvl7pPr>
            <a:lvl8pPr>
              <a:defRPr sz="2100">
                <a:solidFill>
                  <a:srgbClr val="172B3A"/>
                </a:solidFill>
                <a:latin typeface="Arial"/>
                <a:ea typeface="Arial"/>
                <a:cs typeface="Arial"/>
              </a:defRPr>
            </a:lvl8pPr>
            <a:lvl9pPr>
              <a:defRPr sz="2100">
                <a:solidFill>
                  <a:srgbClr val="172B3A"/>
                </a:solidFill>
                <a:latin typeface="Arial"/>
                <a:ea typeface="Arial"/>
                <a:cs typeface="Arial"/>
              </a:defRPr>
            </a:lvl9pPr>
          </a:lstStyle>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Name: [Your name]</a:t>
            </a:r>
          </a:p>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Registration number: [Your registration number]</a:t>
            </a:r>
          </a:p>
        </p:txBody>
      </p:sp>
    </p:spTree>
    <p:extLst>
      <p:ext uri="{BB962C8B-B14F-4D97-AF65-F5344CB8AC3E}">
        <p14:creationId xmlns:p14="http://schemas.microsoft.com/office/powerpoint/2010/main" val="10757274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A1C3F4B-4776-437A-BD92-5055F7477134}"/>
              </a:ext>
            </a:extLst>
          </p:cNvPr>
          <p:cNvSpPr>
            <a:spLocks xmlns:a="http://schemas.openxmlformats.org/drawingml/2006/main" noGrp="1"/>
          </p:cNvSpPr>
          <p:nvPr/>
        </p:nvSpPr>
        <p:spPr>
          <a:xfrm xmlns:a="http://schemas.openxmlformats.org/drawingml/2006/main">
            <a:off x="666750" y="4095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B3A"/>
                </a:solidFill>
                <a:latin typeface="Arial"/>
                <a:ea typeface="Arial"/>
                <a:cs typeface="Arial"/>
              </a:defRPr>
            </a:defPPr>
            <a:lvl1pPr>
              <a:defRPr sz="3150" b="1">
                <a:solidFill>
                  <a:srgbClr val="172B3A"/>
                </a:solidFill>
                <a:latin typeface="Arial"/>
                <a:ea typeface="Arial"/>
                <a:cs typeface="Arial"/>
              </a:defRPr>
            </a:lvl1pPr>
            <a:lvl2pPr>
              <a:defRPr sz="3150" b="1">
                <a:solidFill>
                  <a:srgbClr val="172B3A"/>
                </a:solidFill>
                <a:latin typeface="Arial"/>
                <a:ea typeface="Arial"/>
                <a:cs typeface="Arial"/>
              </a:defRPr>
            </a:lvl2pPr>
            <a:lvl3pPr>
              <a:defRPr sz="3150" b="1">
                <a:solidFill>
                  <a:srgbClr val="172B3A"/>
                </a:solidFill>
                <a:latin typeface="Arial"/>
                <a:ea typeface="Arial"/>
                <a:cs typeface="Arial"/>
              </a:defRPr>
            </a:lvl3pPr>
            <a:lvl4pPr>
              <a:defRPr sz="3150" b="1">
                <a:solidFill>
                  <a:srgbClr val="172B3A"/>
                </a:solidFill>
                <a:latin typeface="Arial"/>
                <a:ea typeface="Arial"/>
                <a:cs typeface="Arial"/>
              </a:defRPr>
            </a:lvl4pPr>
            <a:lvl5pPr>
              <a:defRPr sz="3150" b="1">
                <a:solidFill>
                  <a:srgbClr val="172B3A"/>
                </a:solidFill>
                <a:latin typeface="Arial"/>
                <a:ea typeface="Arial"/>
                <a:cs typeface="Arial"/>
              </a:defRPr>
            </a:lvl5pPr>
            <a:lvl6pPr>
              <a:defRPr sz="3150" b="1">
                <a:solidFill>
                  <a:srgbClr val="172B3A"/>
                </a:solidFill>
                <a:latin typeface="Arial"/>
                <a:ea typeface="Arial"/>
                <a:cs typeface="Arial"/>
              </a:defRPr>
            </a:lvl6pPr>
            <a:lvl7pPr>
              <a:defRPr sz="3150" b="1">
                <a:solidFill>
                  <a:srgbClr val="172B3A"/>
                </a:solidFill>
                <a:latin typeface="Arial"/>
                <a:ea typeface="Arial"/>
                <a:cs typeface="Arial"/>
              </a:defRPr>
            </a:lvl7pPr>
            <a:lvl8pPr>
              <a:defRPr sz="3150" b="1">
                <a:solidFill>
                  <a:srgbClr val="172B3A"/>
                </a:solidFill>
                <a:latin typeface="Arial"/>
                <a:ea typeface="Arial"/>
                <a:cs typeface="Arial"/>
              </a:defRPr>
            </a:lvl8pPr>
            <a:lvl9pPr>
              <a:defRPr sz="3150" b="1">
                <a:solidFill>
                  <a:srgbClr val="172B3A"/>
                </a:solidFill>
                <a:latin typeface="Arial"/>
                <a:ea typeface="Arial"/>
                <a:cs typeface="Arial"/>
              </a:defRPr>
            </a:lvl9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Grokking explained with an example</a:t>
            </a:r>
          </a:p>
        </p:txBody>
      </p:sp>
      <p:sp>
        <p:nvSpPr>
          <p:cNvPr id="3" name="">
            <a:extLst xmlns:a="http://schemas.openxmlformats.org/drawingml/2006/main">
              <a:ext uri="{FF2B5EF4-FFF2-40B4-BE49-F238E27FC236}">
                <a16:creationId xmlns:a16="http://schemas.microsoft.com/office/drawing/2014/main" id="{E9161B94-5191-4B16-9C6A-77CF8F24FF8F}"/>
              </a:ext>
            </a:extLst>
          </p:cNvPr>
          <p:cNvSpPr>
            <a:spLocks xmlns:a="http://schemas.openxmlformats.org/drawingml/2006/main" noGrp="1"/>
          </p:cNvSpPr>
          <p:nvPr/>
        </p:nvSpPr>
        <p:spPr>
          <a:xfrm xmlns:a="http://schemas.openxmlformats.org/drawingml/2006/main">
            <a:off x="666750" y="647700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a:solidFill>
                  <a:srgbClr val="637E8E"/>
                </a:solidFill>
                <a:latin typeface="Arial"/>
                <a:ea typeface="Arial"/>
                <a:cs typeface="Arial"/>
              </a:defRPr>
            </a:defPPr>
            <a:lvl1pPr>
              <a:defRPr sz="1350">
                <a:solidFill>
                  <a:srgbClr val="637E8E"/>
                </a:solidFill>
                <a:latin typeface="Arial"/>
                <a:ea typeface="Arial"/>
                <a:cs typeface="Arial"/>
              </a:defRPr>
            </a:lvl1pPr>
            <a:lvl2pPr>
              <a:defRPr sz="1350">
                <a:solidFill>
                  <a:srgbClr val="637E8E"/>
                </a:solidFill>
                <a:latin typeface="Arial"/>
                <a:ea typeface="Arial"/>
                <a:cs typeface="Arial"/>
              </a:defRPr>
            </a:lvl2pPr>
            <a:lvl3pPr>
              <a:defRPr sz="1350">
                <a:solidFill>
                  <a:srgbClr val="637E8E"/>
                </a:solidFill>
                <a:latin typeface="Arial"/>
                <a:ea typeface="Arial"/>
                <a:cs typeface="Arial"/>
              </a:defRPr>
            </a:lvl3pPr>
            <a:lvl4pPr>
              <a:defRPr sz="1350">
                <a:solidFill>
                  <a:srgbClr val="637E8E"/>
                </a:solidFill>
                <a:latin typeface="Arial"/>
                <a:ea typeface="Arial"/>
                <a:cs typeface="Arial"/>
              </a:defRPr>
            </a:lvl4pPr>
            <a:lvl5pPr>
              <a:defRPr sz="1350">
                <a:solidFill>
                  <a:srgbClr val="637E8E"/>
                </a:solidFill>
                <a:latin typeface="Arial"/>
                <a:ea typeface="Arial"/>
                <a:cs typeface="Arial"/>
              </a:defRPr>
            </a:lvl5pPr>
            <a:lvl6pPr>
              <a:defRPr sz="1350">
                <a:solidFill>
                  <a:srgbClr val="637E8E"/>
                </a:solidFill>
                <a:latin typeface="Arial"/>
                <a:ea typeface="Arial"/>
                <a:cs typeface="Arial"/>
              </a:defRPr>
            </a:lvl6pPr>
            <a:lvl7pPr>
              <a:defRPr sz="1350">
                <a:solidFill>
                  <a:srgbClr val="637E8E"/>
                </a:solidFill>
                <a:latin typeface="Arial"/>
                <a:ea typeface="Arial"/>
                <a:cs typeface="Arial"/>
              </a:defRPr>
            </a:lvl7pPr>
            <a:lvl8pPr>
              <a:defRPr sz="1350">
                <a:solidFill>
                  <a:srgbClr val="637E8E"/>
                </a:solidFill>
                <a:latin typeface="Arial"/>
                <a:ea typeface="Arial"/>
                <a:cs typeface="Arial"/>
              </a:defRPr>
            </a:lvl8pPr>
            <a:lvl9pPr>
              <a:defRPr sz="1350">
                <a:solidFill>
                  <a:srgbClr val="637E8E"/>
                </a:solidFill>
                <a:latin typeface="Arial"/>
                <a:ea typeface="Arial"/>
                <a:cs typeface="Arial"/>
              </a:defRPr>
            </a:lvl9pPr>
          </a:lstStyle>
          <a:p xmlns:a="http://schemas.openxmlformats.org/drawingml/2006/main">
            <a:pPr>
              <a:defRPr sz="1350">
                <a:solidFill>
                  <a:srgbClr val="637E8E"/>
                </a:solidFill>
                <a:latin typeface="Arial"/>
                <a:ea typeface="Arial"/>
                <a:cs typeface="Arial"/>
              </a:defRPr>
            </a:pPr>
            <a:r>
              <a:rPr sz="1350">
                <a:solidFill>
                  <a:srgbClr val="637E8E"/>
                </a:solidFill>
                <a:latin typeface="Arial"/>
                <a:ea typeface="Arial"/>
                <a:cs typeface="Arial"/>
              </a:rPr>
              <a:t>Assessment 10  /  2</a:t>
            </a:r>
          </a:p>
        </p:txBody>
      </p:sp>
      <p:sp>
        <p:nvSpPr>
          <p:cNvPr id="4" name="">
            <a:extLst xmlns:a="http://schemas.openxmlformats.org/drawingml/2006/main">
              <a:ext uri="{FF2B5EF4-FFF2-40B4-BE49-F238E27FC236}">
                <a16:creationId xmlns:a16="http://schemas.microsoft.com/office/drawing/2014/main" id="{043A0215-3B3D-4598-BCDD-1A152E87E71D}"/>
              </a:ext>
            </a:extLst>
          </p:cNvPr>
          <p:cNvSpPr>
            <a:spLocks xmlns:a="http://schemas.openxmlformats.org/drawingml/2006/main" noGrp="1"/>
          </p:cNvSpPr>
          <p:nvPr/>
        </p:nvSpPr>
        <p:spPr>
          <a:xfrm xmlns:a="http://schemas.openxmlformats.org/drawingml/2006/main">
            <a:off x="666750" y="1714500"/>
            <a:ext cx="10858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a:solidFill>
                  <a:srgbClr val="172B3A"/>
                </a:solidFill>
                <a:latin typeface="Arial"/>
                <a:ea typeface="Arial"/>
                <a:cs typeface="Arial"/>
              </a:defRPr>
            </a:defPPr>
            <a:lvl1pPr>
              <a:defRPr sz="2325">
                <a:solidFill>
                  <a:srgbClr val="172B3A"/>
                </a:solidFill>
                <a:latin typeface="Arial"/>
                <a:ea typeface="Arial"/>
                <a:cs typeface="Arial"/>
              </a:defRPr>
            </a:lvl1pPr>
            <a:lvl2pPr>
              <a:defRPr sz="2325">
                <a:solidFill>
                  <a:srgbClr val="172B3A"/>
                </a:solidFill>
                <a:latin typeface="Arial"/>
                <a:ea typeface="Arial"/>
                <a:cs typeface="Arial"/>
              </a:defRPr>
            </a:lvl2pPr>
            <a:lvl3pPr>
              <a:defRPr sz="2325">
                <a:solidFill>
                  <a:srgbClr val="172B3A"/>
                </a:solidFill>
                <a:latin typeface="Arial"/>
                <a:ea typeface="Arial"/>
                <a:cs typeface="Arial"/>
              </a:defRPr>
            </a:lvl3pPr>
            <a:lvl4pPr>
              <a:defRPr sz="2325">
                <a:solidFill>
                  <a:srgbClr val="172B3A"/>
                </a:solidFill>
                <a:latin typeface="Arial"/>
                <a:ea typeface="Arial"/>
                <a:cs typeface="Arial"/>
              </a:defRPr>
            </a:lvl4pPr>
            <a:lvl5pPr>
              <a:defRPr sz="2325">
                <a:solidFill>
                  <a:srgbClr val="172B3A"/>
                </a:solidFill>
                <a:latin typeface="Arial"/>
                <a:ea typeface="Arial"/>
                <a:cs typeface="Arial"/>
              </a:defRPr>
            </a:lvl5pPr>
            <a:lvl6pPr>
              <a:defRPr sz="2325">
                <a:solidFill>
                  <a:srgbClr val="172B3A"/>
                </a:solidFill>
                <a:latin typeface="Arial"/>
                <a:ea typeface="Arial"/>
                <a:cs typeface="Arial"/>
              </a:defRPr>
            </a:lvl6pPr>
            <a:lvl7pPr>
              <a:defRPr sz="2325">
                <a:solidFill>
                  <a:srgbClr val="172B3A"/>
                </a:solidFill>
                <a:latin typeface="Arial"/>
                <a:ea typeface="Arial"/>
                <a:cs typeface="Arial"/>
              </a:defRPr>
            </a:lvl7pPr>
            <a:lvl8pPr>
              <a:defRPr sz="2325">
                <a:solidFill>
                  <a:srgbClr val="172B3A"/>
                </a:solidFill>
                <a:latin typeface="Arial"/>
                <a:ea typeface="Arial"/>
                <a:cs typeface="Arial"/>
              </a:defRPr>
            </a:lvl8pPr>
            <a:lvl9pPr>
              <a:defRPr sz="2325">
                <a:solidFill>
                  <a:srgbClr val="172B3A"/>
                </a:solidFill>
                <a:latin typeface="Arial"/>
                <a:ea typeface="Arial"/>
                <a:cs typeface="Arial"/>
              </a:defRPr>
            </a:lvl9pPr>
          </a:lstStyle>
          <a:p xmlns:a="http://schemas.openxmlformats.org/drawingml/2006/main">
            <a:pPr>
              <a:defRPr sz="2325">
                <a:solidFill>
                  <a:srgbClr val="172B3A"/>
                </a:solidFill>
                <a:latin typeface="Arial"/>
                <a:ea typeface="Arial"/>
                <a:cs typeface="Arial"/>
              </a:defRPr>
            </a:pPr>
            <a:r>
              <a:rPr sz="2325">
                <a:solidFill>
                  <a:srgbClr val="172B3A"/>
                </a:solidFill>
                <a:latin typeface="Arial"/>
                <a:ea typeface="Arial"/>
                <a:cs typeface="Arial"/>
              </a:rPr>
              <a:t>Memorization: answering familiar practice examples correctly.</a:t>
            </a:r>
          </a:p>
        </p:txBody>
      </p:sp>
      <p:sp>
        <p:nvSpPr>
          <p:cNvPr id="5" name="">
            <a:extLst xmlns:a="http://schemas.openxmlformats.org/drawingml/2006/main">
              <a:ext uri="{FF2B5EF4-FFF2-40B4-BE49-F238E27FC236}">
                <a16:creationId xmlns:a16="http://schemas.microsoft.com/office/drawing/2014/main" id="{64E7D4A5-45C2-4293-9EE7-BC96666DEC8D}"/>
              </a:ext>
            </a:extLst>
          </p:cNvPr>
          <p:cNvSpPr>
            <a:spLocks xmlns:a="http://schemas.openxmlformats.org/drawingml/2006/main" noGrp="1"/>
          </p:cNvSpPr>
          <p:nvPr/>
        </p:nvSpPr>
        <p:spPr>
          <a:xfrm xmlns:a="http://schemas.openxmlformats.org/drawingml/2006/main">
            <a:off x="666750" y="2667000"/>
            <a:ext cx="10858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a:solidFill>
                  <a:srgbClr val="172B3A"/>
                </a:solidFill>
                <a:latin typeface="Arial"/>
                <a:ea typeface="Arial"/>
                <a:cs typeface="Arial"/>
              </a:defRPr>
            </a:defPPr>
            <a:lvl1pPr>
              <a:defRPr sz="2325">
                <a:solidFill>
                  <a:srgbClr val="172B3A"/>
                </a:solidFill>
                <a:latin typeface="Arial"/>
                <a:ea typeface="Arial"/>
                <a:cs typeface="Arial"/>
              </a:defRPr>
            </a:lvl1pPr>
            <a:lvl2pPr>
              <a:defRPr sz="2325">
                <a:solidFill>
                  <a:srgbClr val="172B3A"/>
                </a:solidFill>
                <a:latin typeface="Arial"/>
                <a:ea typeface="Arial"/>
                <a:cs typeface="Arial"/>
              </a:defRPr>
            </a:lvl2pPr>
            <a:lvl3pPr>
              <a:defRPr sz="2325">
                <a:solidFill>
                  <a:srgbClr val="172B3A"/>
                </a:solidFill>
                <a:latin typeface="Arial"/>
                <a:ea typeface="Arial"/>
                <a:cs typeface="Arial"/>
              </a:defRPr>
            </a:lvl3pPr>
            <a:lvl4pPr>
              <a:defRPr sz="2325">
                <a:solidFill>
                  <a:srgbClr val="172B3A"/>
                </a:solidFill>
                <a:latin typeface="Arial"/>
                <a:ea typeface="Arial"/>
                <a:cs typeface="Arial"/>
              </a:defRPr>
            </a:lvl4pPr>
            <a:lvl5pPr>
              <a:defRPr sz="2325">
                <a:solidFill>
                  <a:srgbClr val="172B3A"/>
                </a:solidFill>
                <a:latin typeface="Arial"/>
                <a:ea typeface="Arial"/>
                <a:cs typeface="Arial"/>
              </a:defRPr>
            </a:lvl5pPr>
            <a:lvl6pPr>
              <a:defRPr sz="2325">
                <a:solidFill>
                  <a:srgbClr val="172B3A"/>
                </a:solidFill>
                <a:latin typeface="Arial"/>
                <a:ea typeface="Arial"/>
                <a:cs typeface="Arial"/>
              </a:defRPr>
            </a:lvl6pPr>
            <a:lvl7pPr>
              <a:defRPr sz="2325">
                <a:solidFill>
                  <a:srgbClr val="172B3A"/>
                </a:solidFill>
                <a:latin typeface="Arial"/>
                <a:ea typeface="Arial"/>
                <a:cs typeface="Arial"/>
              </a:defRPr>
            </a:lvl7pPr>
            <a:lvl8pPr>
              <a:defRPr sz="2325">
                <a:solidFill>
                  <a:srgbClr val="172B3A"/>
                </a:solidFill>
                <a:latin typeface="Arial"/>
                <a:ea typeface="Arial"/>
                <a:cs typeface="Arial"/>
              </a:defRPr>
            </a:lvl8pPr>
            <a:lvl9pPr>
              <a:defRPr sz="2325">
                <a:solidFill>
                  <a:srgbClr val="172B3A"/>
                </a:solidFill>
                <a:latin typeface="Arial"/>
                <a:ea typeface="Arial"/>
                <a:cs typeface="Arial"/>
              </a:defRPr>
            </a:lvl9pPr>
          </a:lstStyle>
          <a:p xmlns:a="http://schemas.openxmlformats.org/drawingml/2006/main">
            <a:pPr>
              <a:defRPr sz="2325">
                <a:solidFill>
                  <a:srgbClr val="172B3A"/>
                </a:solidFill>
                <a:latin typeface="Arial"/>
                <a:ea typeface="Arial"/>
                <a:cs typeface="Arial"/>
              </a:defRPr>
            </a:pPr>
            <a:r>
              <a:rPr sz="2325">
                <a:solidFill>
                  <a:srgbClr val="172B3A"/>
                </a:solidFill>
                <a:latin typeface="Arial"/>
                <a:ea typeface="Arial"/>
                <a:cs typeface="Arial"/>
              </a:rPr>
              <a:t>Generalization: answering questions held back from practice.</a:t>
            </a:r>
          </a:p>
        </p:txBody>
      </p:sp>
      <p:sp>
        <p:nvSpPr>
          <p:cNvPr id="6" name="">
            <a:extLst xmlns:a="http://schemas.openxmlformats.org/drawingml/2006/main">
              <a:ext uri="{FF2B5EF4-FFF2-40B4-BE49-F238E27FC236}">
                <a16:creationId xmlns:a16="http://schemas.microsoft.com/office/drawing/2014/main" id="{C21C02C1-8A3C-4697-B6EB-7116809152CE}"/>
              </a:ext>
            </a:extLst>
          </p:cNvPr>
          <p:cNvSpPr>
            <a:spLocks xmlns:a="http://schemas.openxmlformats.org/drawingml/2006/main" noGrp="1"/>
          </p:cNvSpPr>
          <p:nvPr/>
        </p:nvSpPr>
        <p:spPr>
          <a:xfrm xmlns:a="http://schemas.openxmlformats.org/drawingml/2006/main">
            <a:off x="666750" y="3619500"/>
            <a:ext cx="10858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a:solidFill>
                  <a:srgbClr val="172B3A"/>
                </a:solidFill>
                <a:latin typeface="Arial"/>
                <a:ea typeface="Arial"/>
                <a:cs typeface="Arial"/>
              </a:defRPr>
            </a:defPPr>
            <a:lvl1pPr>
              <a:defRPr sz="2325">
                <a:solidFill>
                  <a:srgbClr val="172B3A"/>
                </a:solidFill>
                <a:latin typeface="Arial"/>
                <a:ea typeface="Arial"/>
                <a:cs typeface="Arial"/>
              </a:defRPr>
            </a:lvl1pPr>
            <a:lvl2pPr>
              <a:defRPr sz="2325">
                <a:solidFill>
                  <a:srgbClr val="172B3A"/>
                </a:solidFill>
                <a:latin typeface="Arial"/>
                <a:ea typeface="Arial"/>
                <a:cs typeface="Arial"/>
              </a:defRPr>
            </a:lvl2pPr>
            <a:lvl3pPr>
              <a:defRPr sz="2325">
                <a:solidFill>
                  <a:srgbClr val="172B3A"/>
                </a:solidFill>
                <a:latin typeface="Arial"/>
                <a:ea typeface="Arial"/>
                <a:cs typeface="Arial"/>
              </a:defRPr>
            </a:lvl3pPr>
            <a:lvl4pPr>
              <a:defRPr sz="2325">
                <a:solidFill>
                  <a:srgbClr val="172B3A"/>
                </a:solidFill>
                <a:latin typeface="Arial"/>
                <a:ea typeface="Arial"/>
                <a:cs typeface="Arial"/>
              </a:defRPr>
            </a:lvl4pPr>
            <a:lvl5pPr>
              <a:defRPr sz="2325">
                <a:solidFill>
                  <a:srgbClr val="172B3A"/>
                </a:solidFill>
                <a:latin typeface="Arial"/>
                <a:ea typeface="Arial"/>
                <a:cs typeface="Arial"/>
              </a:defRPr>
            </a:lvl5pPr>
            <a:lvl6pPr>
              <a:defRPr sz="2325">
                <a:solidFill>
                  <a:srgbClr val="172B3A"/>
                </a:solidFill>
                <a:latin typeface="Arial"/>
                <a:ea typeface="Arial"/>
                <a:cs typeface="Arial"/>
              </a:defRPr>
            </a:lvl6pPr>
            <a:lvl7pPr>
              <a:defRPr sz="2325">
                <a:solidFill>
                  <a:srgbClr val="172B3A"/>
                </a:solidFill>
                <a:latin typeface="Arial"/>
                <a:ea typeface="Arial"/>
                <a:cs typeface="Arial"/>
              </a:defRPr>
            </a:lvl7pPr>
            <a:lvl8pPr>
              <a:defRPr sz="2325">
                <a:solidFill>
                  <a:srgbClr val="172B3A"/>
                </a:solidFill>
                <a:latin typeface="Arial"/>
                <a:ea typeface="Arial"/>
                <a:cs typeface="Arial"/>
              </a:defRPr>
            </a:lvl8pPr>
            <a:lvl9pPr>
              <a:defRPr sz="2325">
                <a:solidFill>
                  <a:srgbClr val="172B3A"/>
                </a:solidFill>
                <a:latin typeface="Arial"/>
                <a:ea typeface="Arial"/>
                <a:cs typeface="Arial"/>
              </a:defRPr>
            </a:lvl9pPr>
          </a:lstStyle>
          <a:p xmlns:a="http://schemas.openxmlformats.org/drawingml/2006/main">
            <a:pPr>
              <a:defRPr sz="2325">
                <a:solidFill>
                  <a:srgbClr val="172B3A"/>
                </a:solidFill>
                <a:latin typeface="Arial"/>
                <a:ea typeface="Arial"/>
                <a:cs typeface="Arial"/>
              </a:defRPr>
            </a:pPr>
            <a:r>
              <a:rPr sz="2325">
                <a:solidFill>
                  <a:srgbClr val="172B3A"/>
                </a:solidFill>
                <a:latin typeface="Arial"/>
                <a:ea typeface="Arial"/>
                <a:cs typeface="Arial"/>
              </a:rPr>
              <a:t>Grokking: new-question accuracy improves after a delay.</a:t>
            </a:r>
          </a:p>
        </p:txBody>
      </p:sp>
      <p:sp>
        <p:nvSpPr>
          <p:cNvPr id="7" name="">
            <a:extLst xmlns:a="http://schemas.openxmlformats.org/drawingml/2006/main">
              <a:ext uri="{FF2B5EF4-FFF2-40B4-BE49-F238E27FC236}">
                <a16:creationId xmlns:a16="http://schemas.microsoft.com/office/drawing/2014/main" id="{E499D631-C51E-41FE-AE76-9519994DC94C}"/>
              </a:ext>
            </a:extLst>
          </p:cNvPr>
          <p:cNvSpPr>
            <a:spLocks xmlns:a="http://schemas.openxmlformats.org/drawingml/2006/main" noGrp="1"/>
          </p:cNvSpPr>
          <p:nvPr/>
        </p:nvSpPr>
        <p:spPr>
          <a:xfrm xmlns:a="http://schemas.openxmlformats.org/drawingml/2006/main">
            <a:off x="666750" y="4572000"/>
            <a:ext cx="10858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a:solidFill>
                  <a:srgbClr val="172B3A"/>
                </a:solidFill>
                <a:latin typeface="Arial"/>
                <a:ea typeface="Arial"/>
                <a:cs typeface="Arial"/>
              </a:defRPr>
            </a:defPPr>
            <a:lvl1pPr>
              <a:defRPr sz="2325">
                <a:solidFill>
                  <a:srgbClr val="172B3A"/>
                </a:solidFill>
                <a:latin typeface="Arial"/>
                <a:ea typeface="Arial"/>
                <a:cs typeface="Arial"/>
              </a:defRPr>
            </a:lvl1pPr>
            <a:lvl2pPr>
              <a:defRPr sz="2325">
                <a:solidFill>
                  <a:srgbClr val="172B3A"/>
                </a:solidFill>
                <a:latin typeface="Arial"/>
                <a:ea typeface="Arial"/>
                <a:cs typeface="Arial"/>
              </a:defRPr>
            </a:lvl2pPr>
            <a:lvl3pPr>
              <a:defRPr sz="2325">
                <a:solidFill>
                  <a:srgbClr val="172B3A"/>
                </a:solidFill>
                <a:latin typeface="Arial"/>
                <a:ea typeface="Arial"/>
                <a:cs typeface="Arial"/>
              </a:defRPr>
            </a:lvl3pPr>
            <a:lvl4pPr>
              <a:defRPr sz="2325">
                <a:solidFill>
                  <a:srgbClr val="172B3A"/>
                </a:solidFill>
                <a:latin typeface="Arial"/>
                <a:ea typeface="Arial"/>
                <a:cs typeface="Arial"/>
              </a:defRPr>
            </a:lvl4pPr>
            <a:lvl5pPr>
              <a:defRPr sz="2325">
                <a:solidFill>
                  <a:srgbClr val="172B3A"/>
                </a:solidFill>
                <a:latin typeface="Arial"/>
                <a:ea typeface="Arial"/>
                <a:cs typeface="Arial"/>
              </a:defRPr>
            </a:lvl5pPr>
            <a:lvl6pPr>
              <a:defRPr sz="2325">
                <a:solidFill>
                  <a:srgbClr val="172B3A"/>
                </a:solidFill>
                <a:latin typeface="Arial"/>
                <a:ea typeface="Arial"/>
                <a:cs typeface="Arial"/>
              </a:defRPr>
            </a:lvl6pPr>
            <a:lvl7pPr>
              <a:defRPr sz="2325">
                <a:solidFill>
                  <a:srgbClr val="172B3A"/>
                </a:solidFill>
                <a:latin typeface="Arial"/>
                <a:ea typeface="Arial"/>
                <a:cs typeface="Arial"/>
              </a:defRPr>
            </a:lvl7pPr>
            <a:lvl8pPr>
              <a:defRPr sz="2325">
                <a:solidFill>
                  <a:srgbClr val="172B3A"/>
                </a:solidFill>
                <a:latin typeface="Arial"/>
                <a:ea typeface="Arial"/>
                <a:cs typeface="Arial"/>
              </a:defRPr>
            </a:lvl8pPr>
            <a:lvl9pPr>
              <a:defRPr sz="2325">
                <a:solidFill>
                  <a:srgbClr val="172B3A"/>
                </a:solidFill>
                <a:latin typeface="Arial"/>
                <a:ea typeface="Arial"/>
                <a:cs typeface="Arial"/>
              </a:defRPr>
            </a:lvl9pPr>
          </a:lstStyle>
          <a:p xmlns:a="http://schemas.openxmlformats.org/drawingml/2006/main">
            <a:pPr>
              <a:defRPr sz="2325">
                <a:solidFill>
                  <a:srgbClr val="172B3A"/>
                </a:solidFill>
                <a:latin typeface="Arial"/>
                <a:ea typeface="Arial"/>
                <a:cs typeface="Arial"/>
              </a:defRPr>
            </a:pPr>
            <a:r>
              <a:rPr sz="2325">
                <a:solidFill>
                  <a:srgbClr val="172B3A"/>
                </a:solidFill>
                <a:latin typeface="Arial"/>
                <a:ea typeface="Arial"/>
                <a:cs typeface="Arial"/>
              </a:rPr>
              <a:t>Our rule: (30 + 4) mod 31 = 3. Modulo keeps the remainder.</a:t>
            </a:r>
          </a:p>
        </p:txBody>
      </p:sp>
      <p:sp>
        <p:nvSpPr>
          <p:cNvPr id="8" name="">
            <a:extLst xmlns:a="http://schemas.openxmlformats.org/drawingml/2006/main">
              <a:ext uri="{FF2B5EF4-FFF2-40B4-BE49-F238E27FC236}">
                <a16:creationId xmlns:a16="http://schemas.microsoft.com/office/drawing/2014/main" id="{446BC5BB-B44A-44E2-9EB6-A4FECD64848B}"/>
              </a:ext>
            </a:extLst>
          </p:cNvPr>
          <p:cNvSpPr>
            <a:spLocks xmlns:a="http://schemas.openxmlformats.org/drawingml/2006/main" noGrp="1"/>
          </p:cNvSpPr>
          <p:nvPr/>
        </p:nvSpPr>
        <p:spPr>
          <a:xfrm xmlns:a="http://schemas.openxmlformats.org/drawingml/2006/main">
            <a:off x="666750" y="58007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a:solidFill>
                  <a:srgbClr val="175F96"/>
                </a:solidFill>
                <a:latin typeface="Arial"/>
                <a:ea typeface="Arial"/>
                <a:cs typeface="Arial"/>
              </a:defRPr>
            </a:defPPr>
            <a:lvl1pPr>
              <a:defRPr sz="2175">
                <a:solidFill>
                  <a:srgbClr val="175F96"/>
                </a:solidFill>
                <a:latin typeface="Arial"/>
                <a:ea typeface="Arial"/>
                <a:cs typeface="Arial"/>
              </a:defRPr>
            </a:lvl1pPr>
            <a:lvl2pPr>
              <a:defRPr sz="2175">
                <a:solidFill>
                  <a:srgbClr val="175F96"/>
                </a:solidFill>
                <a:latin typeface="Arial"/>
                <a:ea typeface="Arial"/>
                <a:cs typeface="Arial"/>
              </a:defRPr>
            </a:lvl2pPr>
            <a:lvl3pPr>
              <a:defRPr sz="2175">
                <a:solidFill>
                  <a:srgbClr val="175F96"/>
                </a:solidFill>
                <a:latin typeface="Arial"/>
                <a:ea typeface="Arial"/>
                <a:cs typeface="Arial"/>
              </a:defRPr>
            </a:lvl3pPr>
            <a:lvl4pPr>
              <a:defRPr sz="2175">
                <a:solidFill>
                  <a:srgbClr val="175F96"/>
                </a:solidFill>
                <a:latin typeface="Arial"/>
                <a:ea typeface="Arial"/>
                <a:cs typeface="Arial"/>
              </a:defRPr>
            </a:lvl4pPr>
            <a:lvl5pPr>
              <a:defRPr sz="2175">
                <a:solidFill>
                  <a:srgbClr val="175F96"/>
                </a:solidFill>
                <a:latin typeface="Arial"/>
                <a:ea typeface="Arial"/>
                <a:cs typeface="Arial"/>
              </a:defRPr>
            </a:lvl5pPr>
            <a:lvl6pPr>
              <a:defRPr sz="2175">
                <a:solidFill>
                  <a:srgbClr val="175F96"/>
                </a:solidFill>
                <a:latin typeface="Arial"/>
                <a:ea typeface="Arial"/>
                <a:cs typeface="Arial"/>
              </a:defRPr>
            </a:lvl6pPr>
            <a:lvl7pPr>
              <a:defRPr sz="2175">
                <a:solidFill>
                  <a:srgbClr val="175F96"/>
                </a:solidFill>
                <a:latin typeface="Arial"/>
                <a:ea typeface="Arial"/>
                <a:cs typeface="Arial"/>
              </a:defRPr>
            </a:lvl7pPr>
            <a:lvl8pPr>
              <a:defRPr sz="2175">
                <a:solidFill>
                  <a:srgbClr val="175F96"/>
                </a:solidFill>
                <a:latin typeface="Arial"/>
                <a:ea typeface="Arial"/>
                <a:cs typeface="Arial"/>
              </a:defRPr>
            </a:lvl8pPr>
            <a:lvl9pPr>
              <a:defRPr sz="2175">
                <a:solidFill>
                  <a:srgbClr val="175F96"/>
                </a:solidFill>
                <a:latin typeface="Arial"/>
                <a:ea typeface="Arial"/>
                <a:cs typeface="Arial"/>
              </a:defRPr>
            </a:lvl9pPr>
          </a:lstStyle>
          <a:p xmlns:a="http://schemas.openxmlformats.org/drawingml/2006/main">
            <a:pPr>
              <a:defRPr sz="2175">
                <a:solidFill>
                  <a:srgbClr val="175F96"/>
                </a:solidFill>
                <a:latin typeface="Arial"/>
                <a:ea typeface="Arial"/>
                <a:cs typeface="Arial"/>
              </a:defRPr>
            </a:pPr>
            <a:r>
              <a:rPr sz="2175">
                <a:solidFill>
                  <a:srgbClr val="175F96"/>
                </a:solidFill>
                <a:latin typeface="Arial"/>
                <a:ea typeface="Arial"/>
                <a:cs typeface="Arial"/>
              </a:rPr>
              <a:t>The computer sees number pairs and learns from examples.</a:t>
            </a:r>
          </a:p>
        </p:txBody>
      </p:sp>
    </p:spTree>
    <p:extLst>
      <p:ext uri="{BB962C8B-B14F-4D97-AF65-F5344CB8AC3E}">
        <p14:creationId xmlns:p14="http://schemas.microsoft.com/office/powerpoint/2010/main" val="8852385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AECF6E9-FEE6-4323-BFB9-7A9853179BB9}"/>
              </a:ext>
            </a:extLst>
          </p:cNvPr>
          <p:cNvSpPr>
            <a:spLocks xmlns:a="http://schemas.openxmlformats.org/drawingml/2006/main" noGrp="1"/>
          </p:cNvSpPr>
          <p:nvPr/>
        </p:nvSpPr>
        <p:spPr>
          <a:xfrm xmlns:a="http://schemas.openxmlformats.org/drawingml/2006/main">
            <a:off x="666750" y="4095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B3A"/>
                </a:solidFill>
                <a:latin typeface="Arial"/>
                <a:ea typeface="Arial"/>
                <a:cs typeface="Arial"/>
              </a:defRPr>
            </a:defPPr>
            <a:lvl1pPr>
              <a:defRPr sz="3150" b="1">
                <a:solidFill>
                  <a:srgbClr val="172B3A"/>
                </a:solidFill>
                <a:latin typeface="Arial"/>
                <a:ea typeface="Arial"/>
                <a:cs typeface="Arial"/>
              </a:defRPr>
            </a:lvl1pPr>
            <a:lvl2pPr>
              <a:defRPr sz="3150" b="1">
                <a:solidFill>
                  <a:srgbClr val="172B3A"/>
                </a:solidFill>
                <a:latin typeface="Arial"/>
                <a:ea typeface="Arial"/>
                <a:cs typeface="Arial"/>
              </a:defRPr>
            </a:lvl2pPr>
            <a:lvl3pPr>
              <a:defRPr sz="3150" b="1">
                <a:solidFill>
                  <a:srgbClr val="172B3A"/>
                </a:solidFill>
                <a:latin typeface="Arial"/>
                <a:ea typeface="Arial"/>
                <a:cs typeface="Arial"/>
              </a:defRPr>
            </a:lvl3pPr>
            <a:lvl4pPr>
              <a:defRPr sz="3150" b="1">
                <a:solidFill>
                  <a:srgbClr val="172B3A"/>
                </a:solidFill>
                <a:latin typeface="Arial"/>
                <a:ea typeface="Arial"/>
                <a:cs typeface="Arial"/>
              </a:defRPr>
            </a:lvl4pPr>
            <a:lvl5pPr>
              <a:defRPr sz="3150" b="1">
                <a:solidFill>
                  <a:srgbClr val="172B3A"/>
                </a:solidFill>
                <a:latin typeface="Arial"/>
                <a:ea typeface="Arial"/>
                <a:cs typeface="Arial"/>
              </a:defRPr>
            </a:lvl5pPr>
            <a:lvl6pPr>
              <a:defRPr sz="3150" b="1">
                <a:solidFill>
                  <a:srgbClr val="172B3A"/>
                </a:solidFill>
                <a:latin typeface="Arial"/>
                <a:ea typeface="Arial"/>
                <a:cs typeface="Arial"/>
              </a:defRPr>
            </a:lvl6pPr>
            <a:lvl7pPr>
              <a:defRPr sz="3150" b="1">
                <a:solidFill>
                  <a:srgbClr val="172B3A"/>
                </a:solidFill>
                <a:latin typeface="Arial"/>
                <a:ea typeface="Arial"/>
                <a:cs typeface="Arial"/>
              </a:defRPr>
            </a:lvl7pPr>
            <a:lvl8pPr>
              <a:defRPr sz="3150" b="1">
                <a:solidFill>
                  <a:srgbClr val="172B3A"/>
                </a:solidFill>
                <a:latin typeface="Arial"/>
                <a:ea typeface="Arial"/>
                <a:cs typeface="Arial"/>
              </a:defRPr>
            </a:lvl8pPr>
            <a:lvl9pPr>
              <a:defRPr sz="3150" b="1">
                <a:solidFill>
                  <a:srgbClr val="172B3A"/>
                </a:solidFill>
                <a:latin typeface="Arial"/>
                <a:ea typeface="Arial"/>
                <a:cs typeface="Arial"/>
              </a:defRPr>
            </a:lvl9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The question and experiment</a:t>
            </a:r>
          </a:p>
        </p:txBody>
      </p:sp>
      <p:sp>
        <p:nvSpPr>
          <p:cNvPr id="3" name="">
            <a:extLst xmlns:a="http://schemas.openxmlformats.org/drawingml/2006/main">
              <a:ext uri="{FF2B5EF4-FFF2-40B4-BE49-F238E27FC236}">
                <a16:creationId xmlns:a16="http://schemas.microsoft.com/office/drawing/2014/main" id="{6874F6AA-B465-4E2A-BDF2-199FAAD284AD}"/>
              </a:ext>
            </a:extLst>
          </p:cNvPr>
          <p:cNvSpPr>
            <a:spLocks xmlns:a="http://schemas.openxmlformats.org/drawingml/2006/main" noGrp="1"/>
          </p:cNvSpPr>
          <p:nvPr/>
        </p:nvSpPr>
        <p:spPr>
          <a:xfrm xmlns:a="http://schemas.openxmlformats.org/drawingml/2006/main">
            <a:off x="666750" y="647700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a:solidFill>
                  <a:srgbClr val="637E8E"/>
                </a:solidFill>
                <a:latin typeface="Arial"/>
                <a:ea typeface="Arial"/>
                <a:cs typeface="Arial"/>
              </a:defRPr>
            </a:defPPr>
            <a:lvl1pPr>
              <a:defRPr sz="1350">
                <a:solidFill>
                  <a:srgbClr val="637E8E"/>
                </a:solidFill>
                <a:latin typeface="Arial"/>
                <a:ea typeface="Arial"/>
                <a:cs typeface="Arial"/>
              </a:defRPr>
            </a:lvl1pPr>
            <a:lvl2pPr>
              <a:defRPr sz="1350">
                <a:solidFill>
                  <a:srgbClr val="637E8E"/>
                </a:solidFill>
                <a:latin typeface="Arial"/>
                <a:ea typeface="Arial"/>
                <a:cs typeface="Arial"/>
              </a:defRPr>
            </a:lvl2pPr>
            <a:lvl3pPr>
              <a:defRPr sz="1350">
                <a:solidFill>
                  <a:srgbClr val="637E8E"/>
                </a:solidFill>
                <a:latin typeface="Arial"/>
                <a:ea typeface="Arial"/>
                <a:cs typeface="Arial"/>
              </a:defRPr>
            </a:lvl3pPr>
            <a:lvl4pPr>
              <a:defRPr sz="1350">
                <a:solidFill>
                  <a:srgbClr val="637E8E"/>
                </a:solidFill>
                <a:latin typeface="Arial"/>
                <a:ea typeface="Arial"/>
                <a:cs typeface="Arial"/>
              </a:defRPr>
            </a:lvl4pPr>
            <a:lvl5pPr>
              <a:defRPr sz="1350">
                <a:solidFill>
                  <a:srgbClr val="637E8E"/>
                </a:solidFill>
                <a:latin typeface="Arial"/>
                <a:ea typeface="Arial"/>
                <a:cs typeface="Arial"/>
              </a:defRPr>
            </a:lvl5pPr>
            <a:lvl6pPr>
              <a:defRPr sz="1350">
                <a:solidFill>
                  <a:srgbClr val="637E8E"/>
                </a:solidFill>
                <a:latin typeface="Arial"/>
                <a:ea typeface="Arial"/>
                <a:cs typeface="Arial"/>
              </a:defRPr>
            </a:lvl6pPr>
            <a:lvl7pPr>
              <a:defRPr sz="1350">
                <a:solidFill>
                  <a:srgbClr val="637E8E"/>
                </a:solidFill>
                <a:latin typeface="Arial"/>
                <a:ea typeface="Arial"/>
                <a:cs typeface="Arial"/>
              </a:defRPr>
            </a:lvl7pPr>
            <a:lvl8pPr>
              <a:defRPr sz="1350">
                <a:solidFill>
                  <a:srgbClr val="637E8E"/>
                </a:solidFill>
                <a:latin typeface="Arial"/>
                <a:ea typeface="Arial"/>
                <a:cs typeface="Arial"/>
              </a:defRPr>
            </a:lvl8pPr>
            <a:lvl9pPr>
              <a:defRPr sz="1350">
                <a:solidFill>
                  <a:srgbClr val="637E8E"/>
                </a:solidFill>
                <a:latin typeface="Arial"/>
                <a:ea typeface="Arial"/>
                <a:cs typeface="Arial"/>
              </a:defRPr>
            </a:lvl9pPr>
          </a:lstStyle>
          <a:p xmlns:a="http://schemas.openxmlformats.org/drawingml/2006/main">
            <a:pPr>
              <a:defRPr sz="1350">
                <a:solidFill>
                  <a:srgbClr val="637E8E"/>
                </a:solidFill>
                <a:latin typeface="Arial"/>
                <a:ea typeface="Arial"/>
                <a:cs typeface="Arial"/>
              </a:defRPr>
            </a:pPr>
            <a:r>
              <a:rPr sz="1350">
                <a:solidFill>
                  <a:srgbClr val="637E8E"/>
                </a:solidFill>
                <a:latin typeface="Arial"/>
                <a:ea typeface="Arial"/>
                <a:cs typeface="Arial"/>
              </a:rPr>
              <a:t>Assessment 10  /  3</a:t>
            </a:r>
          </a:p>
        </p:txBody>
      </p:sp>
      <p:sp>
        <p:nvSpPr>
          <p:cNvPr id="4" name="">
            <a:extLst xmlns:a="http://schemas.openxmlformats.org/drawingml/2006/main">
              <a:ext uri="{FF2B5EF4-FFF2-40B4-BE49-F238E27FC236}">
                <a16:creationId xmlns:a16="http://schemas.microsoft.com/office/drawing/2014/main" id="{59CF4413-68CB-4807-9936-0549524A30E6}"/>
              </a:ext>
            </a:extLst>
          </p:cNvPr>
          <p:cNvSpPr>
            <a:spLocks xmlns:a="http://schemas.openxmlformats.org/drawingml/2006/main" noGrp="1"/>
          </p:cNvSpPr>
          <p:nvPr/>
        </p:nvSpPr>
        <p:spPr>
          <a:xfrm xmlns:a="http://schemas.openxmlformats.org/drawingml/2006/main">
            <a:off x="666750" y="15430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a:solidFill>
                  <a:srgbClr val="175F96"/>
                </a:solidFill>
                <a:latin typeface="Arial"/>
                <a:ea typeface="Arial"/>
                <a:cs typeface="Arial"/>
              </a:defRPr>
            </a:defPPr>
            <a:lvl1pPr>
              <a:defRPr sz="2625">
                <a:solidFill>
                  <a:srgbClr val="175F96"/>
                </a:solidFill>
                <a:latin typeface="Arial"/>
                <a:ea typeface="Arial"/>
                <a:cs typeface="Arial"/>
              </a:defRPr>
            </a:lvl1pPr>
            <a:lvl2pPr>
              <a:defRPr sz="2625">
                <a:solidFill>
                  <a:srgbClr val="175F96"/>
                </a:solidFill>
                <a:latin typeface="Arial"/>
                <a:ea typeface="Arial"/>
                <a:cs typeface="Arial"/>
              </a:defRPr>
            </a:lvl2pPr>
            <a:lvl3pPr>
              <a:defRPr sz="2625">
                <a:solidFill>
                  <a:srgbClr val="175F96"/>
                </a:solidFill>
                <a:latin typeface="Arial"/>
                <a:ea typeface="Arial"/>
                <a:cs typeface="Arial"/>
              </a:defRPr>
            </a:lvl3pPr>
            <a:lvl4pPr>
              <a:defRPr sz="2625">
                <a:solidFill>
                  <a:srgbClr val="175F96"/>
                </a:solidFill>
                <a:latin typeface="Arial"/>
                <a:ea typeface="Arial"/>
                <a:cs typeface="Arial"/>
              </a:defRPr>
            </a:lvl4pPr>
            <a:lvl5pPr>
              <a:defRPr sz="2625">
                <a:solidFill>
                  <a:srgbClr val="175F96"/>
                </a:solidFill>
                <a:latin typeface="Arial"/>
                <a:ea typeface="Arial"/>
                <a:cs typeface="Arial"/>
              </a:defRPr>
            </a:lvl5pPr>
            <a:lvl6pPr>
              <a:defRPr sz="2625">
                <a:solidFill>
                  <a:srgbClr val="175F96"/>
                </a:solidFill>
                <a:latin typeface="Arial"/>
                <a:ea typeface="Arial"/>
                <a:cs typeface="Arial"/>
              </a:defRPr>
            </a:lvl6pPr>
            <a:lvl7pPr>
              <a:defRPr sz="2625">
                <a:solidFill>
                  <a:srgbClr val="175F96"/>
                </a:solidFill>
                <a:latin typeface="Arial"/>
                <a:ea typeface="Arial"/>
                <a:cs typeface="Arial"/>
              </a:defRPr>
            </a:lvl7pPr>
            <a:lvl8pPr>
              <a:defRPr sz="2625">
                <a:solidFill>
                  <a:srgbClr val="175F96"/>
                </a:solidFill>
                <a:latin typeface="Arial"/>
                <a:ea typeface="Arial"/>
                <a:cs typeface="Arial"/>
              </a:defRPr>
            </a:lvl8pPr>
            <a:lvl9pPr>
              <a:defRPr sz="2625">
                <a:solidFill>
                  <a:srgbClr val="175F96"/>
                </a:solidFill>
                <a:latin typeface="Arial"/>
                <a:ea typeface="Arial"/>
                <a:cs typeface="Arial"/>
              </a:defRPr>
            </a:lvl9pPr>
          </a:lstStyle>
          <a:p xmlns:a="http://schemas.openxmlformats.org/drawingml/2006/main">
            <a:pPr>
              <a:defRPr sz="2625">
                <a:solidFill>
                  <a:srgbClr val="175F96"/>
                </a:solidFill>
                <a:latin typeface="Arial"/>
                <a:ea typeface="Arial"/>
                <a:cs typeface="Arial"/>
              </a:defRPr>
            </a:pPr>
            <a:r>
              <a:rPr sz="2625">
                <a:solidFill>
                  <a:srgbClr val="175F96"/>
                </a:solidFill>
                <a:latin typeface="Arial"/>
                <a:ea typeface="Arial"/>
                <a:cs typeface="Arial"/>
              </a:rPr>
              <a:t>With the same total steps, which policy succeeds more often?</a:t>
            </a:r>
          </a:p>
        </p:txBody>
      </p:sp>
      <p:sp>
        <p:nvSpPr>
          <p:cNvPr id="5" name="">
            <a:extLst xmlns:a="http://schemas.openxmlformats.org/drawingml/2006/main">
              <a:ext uri="{FF2B5EF4-FFF2-40B4-BE49-F238E27FC236}">
                <a16:creationId xmlns:a16="http://schemas.microsoft.com/office/drawing/2014/main" id="{BCAA2E56-F5E2-4E1A-BD7F-8126F927CA21}"/>
              </a:ext>
            </a:extLst>
          </p:cNvPr>
          <p:cNvSpPr>
            <a:spLocks xmlns:a="http://schemas.openxmlformats.org/drawingml/2006/main" noGrp="1"/>
          </p:cNvSpPr>
          <p:nvPr/>
        </p:nvSpPr>
        <p:spPr>
          <a:xfrm xmlns:a="http://schemas.openxmlformats.org/drawingml/2006/main">
            <a:off x="666750" y="252412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a:solidFill>
                  <a:srgbClr val="172B3A"/>
                </a:solidFill>
                <a:latin typeface="Arial"/>
                <a:ea typeface="Arial"/>
                <a:cs typeface="Arial"/>
              </a:defRPr>
            </a:defPPr>
            <a:lvl1pPr>
              <a:defRPr sz="2100">
                <a:solidFill>
                  <a:srgbClr val="172B3A"/>
                </a:solidFill>
                <a:latin typeface="Arial"/>
                <a:ea typeface="Arial"/>
                <a:cs typeface="Arial"/>
              </a:defRPr>
            </a:lvl1pPr>
            <a:lvl2pPr>
              <a:defRPr sz="2100">
                <a:solidFill>
                  <a:srgbClr val="172B3A"/>
                </a:solidFill>
                <a:latin typeface="Arial"/>
                <a:ea typeface="Arial"/>
                <a:cs typeface="Arial"/>
              </a:defRPr>
            </a:lvl2pPr>
            <a:lvl3pPr>
              <a:defRPr sz="2100">
                <a:solidFill>
                  <a:srgbClr val="172B3A"/>
                </a:solidFill>
                <a:latin typeface="Arial"/>
                <a:ea typeface="Arial"/>
                <a:cs typeface="Arial"/>
              </a:defRPr>
            </a:lvl3pPr>
            <a:lvl4pPr>
              <a:defRPr sz="2100">
                <a:solidFill>
                  <a:srgbClr val="172B3A"/>
                </a:solidFill>
                <a:latin typeface="Arial"/>
                <a:ea typeface="Arial"/>
                <a:cs typeface="Arial"/>
              </a:defRPr>
            </a:lvl4pPr>
            <a:lvl5pPr>
              <a:defRPr sz="2100">
                <a:solidFill>
                  <a:srgbClr val="172B3A"/>
                </a:solidFill>
                <a:latin typeface="Arial"/>
                <a:ea typeface="Arial"/>
                <a:cs typeface="Arial"/>
              </a:defRPr>
            </a:lvl5pPr>
            <a:lvl6pPr>
              <a:defRPr sz="2100">
                <a:solidFill>
                  <a:srgbClr val="172B3A"/>
                </a:solidFill>
                <a:latin typeface="Arial"/>
                <a:ea typeface="Arial"/>
                <a:cs typeface="Arial"/>
              </a:defRPr>
            </a:lvl6pPr>
            <a:lvl7pPr>
              <a:defRPr sz="2100">
                <a:solidFill>
                  <a:srgbClr val="172B3A"/>
                </a:solidFill>
                <a:latin typeface="Arial"/>
                <a:ea typeface="Arial"/>
                <a:cs typeface="Arial"/>
              </a:defRPr>
            </a:lvl7pPr>
            <a:lvl8pPr>
              <a:defRPr sz="2100">
                <a:solidFill>
                  <a:srgbClr val="172B3A"/>
                </a:solidFill>
                <a:latin typeface="Arial"/>
                <a:ea typeface="Arial"/>
                <a:cs typeface="Arial"/>
              </a:defRPr>
            </a:lvl8pPr>
            <a:lvl9pPr>
              <a:defRPr sz="2100">
                <a:solidFill>
                  <a:srgbClr val="172B3A"/>
                </a:solidFill>
                <a:latin typeface="Arial"/>
                <a:ea typeface="Arial"/>
                <a:cs typeface="Arial"/>
              </a:defRPr>
            </a:lvl9pPr>
          </a:lstStyle>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961 pairs: 576 for practice and 385 for evaluation.</a:t>
            </a:r>
          </a:p>
        </p:txBody>
      </p:sp>
      <p:sp>
        <p:nvSpPr>
          <p:cNvPr id="6" name="">
            <a:extLst xmlns:a="http://schemas.openxmlformats.org/drawingml/2006/main">
              <a:ext uri="{FF2B5EF4-FFF2-40B4-BE49-F238E27FC236}">
                <a16:creationId xmlns:a16="http://schemas.microsoft.com/office/drawing/2014/main" id="{0ACC9F18-D430-4C0A-93AB-C1A4AFCA23D6}"/>
              </a:ext>
            </a:extLst>
          </p:cNvPr>
          <p:cNvSpPr>
            <a:spLocks xmlns:a="http://schemas.openxmlformats.org/drawingml/2006/main" noGrp="1"/>
          </p:cNvSpPr>
          <p:nvPr/>
        </p:nvSpPr>
        <p:spPr>
          <a:xfrm xmlns:a="http://schemas.openxmlformats.org/drawingml/2006/main">
            <a:off x="666750" y="320040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a:solidFill>
                  <a:srgbClr val="172B3A"/>
                </a:solidFill>
                <a:latin typeface="Arial"/>
                <a:ea typeface="Arial"/>
                <a:cs typeface="Arial"/>
              </a:defRPr>
            </a:defPPr>
            <a:lvl1pPr>
              <a:defRPr sz="2100">
                <a:solidFill>
                  <a:srgbClr val="172B3A"/>
                </a:solidFill>
                <a:latin typeface="Arial"/>
                <a:ea typeface="Arial"/>
                <a:cs typeface="Arial"/>
              </a:defRPr>
            </a:lvl1pPr>
            <a:lvl2pPr>
              <a:defRPr sz="2100">
                <a:solidFill>
                  <a:srgbClr val="172B3A"/>
                </a:solidFill>
                <a:latin typeface="Arial"/>
                <a:ea typeface="Arial"/>
                <a:cs typeface="Arial"/>
              </a:defRPr>
            </a:lvl2pPr>
            <a:lvl3pPr>
              <a:defRPr sz="2100">
                <a:solidFill>
                  <a:srgbClr val="172B3A"/>
                </a:solidFill>
                <a:latin typeface="Arial"/>
                <a:ea typeface="Arial"/>
                <a:cs typeface="Arial"/>
              </a:defRPr>
            </a:lvl3pPr>
            <a:lvl4pPr>
              <a:defRPr sz="2100">
                <a:solidFill>
                  <a:srgbClr val="172B3A"/>
                </a:solidFill>
                <a:latin typeface="Arial"/>
                <a:ea typeface="Arial"/>
                <a:cs typeface="Arial"/>
              </a:defRPr>
            </a:lvl4pPr>
            <a:lvl5pPr>
              <a:defRPr sz="2100">
                <a:solidFill>
                  <a:srgbClr val="172B3A"/>
                </a:solidFill>
                <a:latin typeface="Arial"/>
                <a:ea typeface="Arial"/>
                <a:cs typeface="Arial"/>
              </a:defRPr>
            </a:lvl5pPr>
            <a:lvl6pPr>
              <a:defRPr sz="2100">
                <a:solidFill>
                  <a:srgbClr val="172B3A"/>
                </a:solidFill>
                <a:latin typeface="Arial"/>
                <a:ea typeface="Arial"/>
                <a:cs typeface="Arial"/>
              </a:defRPr>
            </a:lvl6pPr>
            <a:lvl7pPr>
              <a:defRPr sz="2100">
                <a:solidFill>
                  <a:srgbClr val="172B3A"/>
                </a:solidFill>
                <a:latin typeface="Arial"/>
                <a:ea typeface="Arial"/>
                <a:cs typeface="Arial"/>
              </a:defRPr>
            </a:lvl7pPr>
            <a:lvl8pPr>
              <a:defRPr sz="2100">
                <a:solidFill>
                  <a:srgbClr val="172B3A"/>
                </a:solidFill>
                <a:latin typeface="Arial"/>
                <a:ea typeface="Arial"/>
                <a:cs typeface="Arial"/>
              </a:defRPr>
            </a:lvl8pPr>
            <a:lvl9pPr>
              <a:defRPr sz="2100">
                <a:solidFill>
                  <a:srgbClr val="172B3A"/>
                </a:solidFill>
                <a:latin typeface="Arial"/>
                <a:ea typeface="Arial"/>
                <a:cs typeface="Arial"/>
              </a:defRPr>
            </a:lvl9pPr>
          </a:lstStyle>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One small model. Three fixed dataset splits.</a:t>
            </a:r>
          </a:p>
        </p:txBody>
      </p:sp>
      <p:sp>
        <p:nvSpPr>
          <p:cNvPr id="7" name="">
            <a:extLst xmlns:a="http://schemas.openxmlformats.org/drawingml/2006/main">
              <a:ext uri="{FF2B5EF4-FFF2-40B4-BE49-F238E27FC236}">
                <a16:creationId xmlns:a16="http://schemas.microsoft.com/office/drawing/2014/main" id="{B7C41D2A-8CD0-40CA-BA94-1F9884546EF5}"/>
              </a:ext>
            </a:extLst>
          </p:cNvPr>
          <p:cNvSpPr>
            <a:spLocks xmlns:a="http://schemas.openxmlformats.org/drawingml/2006/main" noGrp="1"/>
          </p:cNvSpPr>
          <p:nvPr/>
        </p:nvSpPr>
        <p:spPr>
          <a:xfrm xmlns:a="http://schemas.openxmlformats.org/drawingml/2006/main">
            <a:off x="666750" y="387667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a:solidFill>
                  <a:srgbClr val="172B3A"/>
                </a:solidFill>
                <a:latin typeface="Arial"/>
                <a:ea typeface="Arial"/>
                <a:cs typeface="Arial"/>
              </a:defRPr>
            </a:defPPr>
            <a:lvl1pPr>
              <a:defRPr sz="2100">
                <a:solidFill>
                  <a:srgbClr val="172B3A"/>
                </a:solidFill>
                <a:latin typeface="Arial"/>
                <a:ea typeface="Arial"/>
                <a:cs typeface="Arial"/>
              </a:defRPr>
            </a:lvl1pPr>
            <a:lvl2pPr>
              <a:defRPr sz="2100">
                <a:solidFill>
                  <a:srgbClr val="172B3A"/>
                </a:solidFill>
                <a:latin typeface="Arial"/>
                <a:ea typeface="Arial"/>
                <a:cs typeface="Arial"/>
              </a:defRPr>
            </a:lvl2pPr>
            <a:lvl3pPr>
              <a:defRPr sz="2100">
                <a:solidFill>
                  <a:srgbClr val="172B3A"/>
                </a:solidFill>
                <a:latin typeface="Arial"/>
                <a:ea typeface="Arial"/>
                <a:cs typeface="Arial"/>
              </a:defRPr>
            </a:lvl3pPr>
            <a:lvl4pPr>
              <a:defRPr sz="2100">
                <a:solidFill>
                  <a:srgbClr val="172B3A"/>
                </a:solidFill>
                <a:latin typeface="Arial"/>
                <a:ea typeface="Arial"/>
                <a:cs typeface="Arial"/>
              </a:defRPr>
            </a:lvl4pPr>
            <a:lvl5pPr>
              <a:defRPr sz="2100">
                <a:solidFill>
                  <a:srgbClr val="172B3A"/>
                </a:solidFill>
                <a:latin typeface="Arial"/>
                <a:ea typeface="Arial"/>
                <a:cs typeface="Arial"/>
              </a:defRPr>
            </a:lvl5pPr>
            <a:lvl6pPr>
              <a:defRPr sz="2100">
                <a:solidFill>
                  <a:srgbClr val="172B3A"/>
                </a:solidFill>
                <a:latin typeface="Arial"/>
                <a:ea typeface="Arial"/>
                <a:cs typeface="Arial"/>
              </a:defRPr>
            </a:lvl6pPr>
            <a:lvl7pPr>
              <a:defRPr sz="2100">
                <a:solidFill>
                  <a:srgbClr val="172B3A"/>
                </a:solidFill>
                <a:latin typeface="Arial"/>
                <a:ea typeface="Arial"/>
                <a:cs typeface="Arial"/>
              </a:defRPr>
            </a:lvl7pPr>
            <a:lvl8pPr>
              <a:defRPr sz="2100">
                <a:solidFill>
                  <a:srgbClr val="172B3A"/>
                </a:solidFill>
                <a:latin typeface="Arial"/>
                <a:ea typeface="Arial"/>
                <a:cs typeface="Arial"/>
              </a:defRPr>
            </a:lvl8pPr>
            <a:lvl9pPr>
              <a:defRPr sz="2100">
                <a:solidFill>
                  <a:srgbClr val="172B3A"/>
                </a:solidFill>
                <a:latin typeface="Arial"/>
                <a:ea typeface="Arial"/>
                <a:cs typeface="Arial"/>
              </a:defRPr>
            </a:lvl9pPr>
          </a:lstStyle>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A seed fixes starting weights. Weight decay gently shrinks them.</a:t>
            </a:r>
          </a:p>
        </p:txBody>
      </p:sp>
      <p:sp>
        <p:nvSpPr>
          <p:cNvPr id="8" name="">
            <a:extLst xmlns:a="http://schemas.openxmlformats.org/drawingml/2006/main">
              <a:ext uri="{FF2B5EF4-FFF2-40B4-BE49-F238E27FC236}">
                <a16:creationId xmlns:a16="http://schemas.microsoft.com/office/drawing/2014/main" id="{97335C07-6DEF-4D3B-A104-0BC3169DDC6B}"/>
              </a:ext>
            </a:extLst>
          </p:cNvPr>
          <p:cNvSpPr>
            <a:spLocks xmlns:a="http://schemas.openxmlformats.org/drawingml/2006/main" noGrp="1"/>
          </p:cNvSpPr>
          <p:nvPr/>
        </p:nvSpPr>
        <p:spPr>
          <a:xfrm xmlns:a="http://schemas.openxmlformats.org/drawingml/2006/main">
            <a:off x="666750" y="45529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a:solidFill>
                  <a:srgbClr val="172B3A"/>
                </a:solidFill>
                <a:latin typeface="Arial"/>
                <a:ea typeface="Arial"/>
                <a:cs typeface="Arial"/>
              </a:defRPr>
            </a:defPPr>
            <a:lvl1pPr>
              <a:defRPr sz="2100">
                <a:solidFill>
                  <a:srgbClr val="172B3A"/>
                </a:solidFill>
                <a:latin typeface="Arial"/>
                <a:ea typeface="Arial"/>
                <a:cs typeface="Arial"/>
              </a:defRPr>
            </a:lvl1pPr>
            <a:lvl2pPr>
              <a:defRPr sz="2100">
                <a:solidFill>
                  <a:srgbClr val="172B3A"/>
                </a:solidFill>
                <a:latin typeface="Arial"/>
                <a:ea typeface="Arial"/>
                <a:cs typeface="Arial"/>
              </a:defRPr>
            </a:lvl2pPr>
            <a:lvl3pPr>
              <a:defRPr sz="2100">
                <a:solidFill>
                  <a:srgbClr val="172B3A"/>
                </a:solidFill>
                <a:latin typeface="Arial"/>
                <a:ea typeface="Arial"/>
                <a:cs typeface="Arial"/>
              </a:defRPr>
            </a:lvl3pPr>
            <a:lvl4pPr>
              <a:defRPr sz="2100">
                <a:solidFill>
                  <a:srgbClr val="172B3A"/>
                </a:solidFill>
                <a:latin typeface="Arial"/>
                <a:ea typeface="Arial"/>
                <a:cs typeface="Arial"/>
              </a:defRPr>
            </a:lvl4pPr>
            <a:lvl5pPr>
              <a:defRPr sz="2100">
                <a:solidFill>
                  <a:srgbClr val="172B3A"/>
                </a:solidFill>
                <a:latin typeface="Arial"/>
                <a:ea typeface="Arial"/>
                <a:cs typeface="Arial"/>
              </a:defRPr>
            </a:lvl5pPr>
            <a:lvl6pPr>
              <a:defRPr sz="2100">
                <a:solidFill>
                  <a:srgbClr val="172B3A"/>
                </a:solidFill>
                <a:latin typeface="Arial"/>
                <a:ea typeface="Arial"/>
                <a:cs typeface="Arial"/>
              </a:defRPr>
            </a:lvl6pPr>
            <a:lvl7pPr>
              <a:defRPr sz="2100">
                <a:solidFill>
                  <a:srgbClr val="172B3A"/>
                </a:solidFill>
                <a:latin typeface="Arial"/>
                <a:ea typeface="Arial"/>
                <a:cs typeface="Arial"/>
              </a:defRPr>
            </a:lvl7pPr>
            <a:lvl8pPr>
              <a:defRPr sz="2100">
                <a:solidFill>
                  <a:srgbClr val="172B3A"/>
                </a:solidFill>
                <a:latin typeface="Arial"/>
                <a:ea typeface="Arial"/>
                <a:cs typeface="Arial"/>
              </a:defRPr>
            </a:lvl8pPr>
            <a:lvl9pPr>
              <a:defRPr sz="2100">
                <a:solidFill>
                  <a:srgbClr val="172B3A"/>
                </a:solidFill>
                <a:latin typeface="Arial"/>
                <a:ea typeface="Arial"/>
                <a:cs typeface="Arial"/>
              </a:defRPr>
            </a:lvl9pPr>
          </a:lstStyle>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90 calibration observations estimate learning-time probabilities.</a:t>
            </a:r>
          </a:p>
        </p:txBody>
      </p:sp>
      <p:sp>
        <p:nvSpPr>
          <p:cNvPr id="9" name="">
            <a:extLst xmlns:a="http://schemas.openxmlformats.org/drawingml/2006/main">
              <a:ext uri="{FF2B5EF4-FFF2-40B4-BE49-F238E27FC236}">
                <a16:creationId xmlns:a16="http://schemas.microsoft.com/office/drawing/2014/main" id="{D38EA94B-2EF2-4CD7-B23F-E1F9CB3E264E}"/>
              </a:ext>
            </a:extLst>
          </p:cNvPr>
          <p:cNvSpPr>
            <a:spLocks xmlns:a="http://schemas.openxmlformats.org/drawingml/2006/main" noGrp="1"/>
          </p:cNvSpPr>
          <p:nvPr/>
        </p:nvSpPr>
        <p:spPr>
          <a:xfrm xmlns:a="http://schemas.openxmlformats.org/drawingml/2006/main">
            <a:off x="666750" y="522922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a:solidFill>
                  <a:srgbClr val="172B3A"/>
                </a:solidFill>
                <a:latin typeface="Arial"/>
                <a:ea typeface="Arial"/>
                <a:cs typeface="Arial"/>
              </a:defRPr>
            </a:defPPr>
            <a:lvl1pPr>
              <a:defRPr sz="2100">
                <a:solidFill>
                  <a:srgbClr val="172B3A"/>
                </a:solidFill>
                <a:latin typeface="Arial"/>
                <a:ea typeface="Arial"/>
                <a:cs typeface="Arial"/>
              </a:defRPr>
            </a:lvl1pPr>
            <a:lvl2pPr>
              <a:defRPr sz="2100">
                <a:solidFill>
                  <a:srgbClr val="172B3A"/>
                </a:solidFill>
                <a:latin typeface="Arial"/>
                <a:ea typeface="Arial"/>
                <a:cs typeface="Arial"/>
              </a:defRPr>
            </a:lvl2pPr>
            <a:lvl3pPr>
              <a:defRPr sz="2100">
                <a:solidFill>
                  <a:srgbClr val="172B3A"/>
                </a:solidFill>
                <a:latin typeface="Arial"/>
                <a:ea typeface="Arial"/>
                <a:cs typeface="Arial"/>
              </a:defRPr>
            </a:lvl3pPr>
            <a:lvl4pPr>
              <a:defRPr sz="2100">
                <a:solidFill>
                  <a:srgbClr val="172B3A"/>
                </a:solidFill>
                <a:latin typeface="Arial"/>
                <a:ea typeface="Arial"/>
                <a:cs typeface="Arial"/>
              </a:defRPr>
            </a:lvl4pPr>
            <a:lvl5pPr>
              <a:defRPr sz="2100">
                <a:solidFill>
                  <a:srgbClr val="172B3A"/>
                </a:solidFill>
                <a:latin typeface="Arial"/>
                <a:ea typeface="Arial"/>
                <a:cs typeface="Arial"/>
              </a:defRPr>
            </a:lvl5pPr>
            <a:lvl6pPr>
              <a:defRPr sz="2100">
                <a:solidFill>
                  <a:srgbClr val="172B3A"/>
                </a:solidFill>
                <a:latin typeface="Arial"/>
                <a:ea typeface="Arial"/>
                <a:cs typeface="Arial"/>
              </a:defRPr>
            </a:lvl6pPr>
            <a:lvl7pPr>
              <a:defRPr sz="2100">
                <a:solidFill>
                  <a:srgbClr val="172B3A"/>
                </a:solidFill>
                <a:latin typeface="Arial"/>
                <a:ea typeface="Arial"/>
                <a:cs typeface="Arial"/>
              </a:defRPr>
            </a:lvl7pPr>
            <a:lvl8pPr>
              <a:defRPr sz="2100">
                <a:solidFill>
                  <a:srgbClr val="172B3A"/>
                </a:solidFill>
                <a:latin typeface="Arial"/>
                <a:ea typeface="Arial"/>
                <a:cs typeface="Arial"/>
              </a:defRPr>
            </a:lvl8pPr>
            <a:lvl9pPr>
              <a:defRPr sz="2100">
                <a:solidFill>
                  <a:srgbClr val="172B3A"/>
                </a:solidFill>
                <a:latin typeface="Arial"/>
                <a:ea typeface="Arial"/>
                <a:cs typeface="Arial"/>
              </a:defRPr>
            </a:lvl9pPr>
          </a:lstStyle>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540 fresh attempts test 1, 2 or 4 starts at 8k and 12k total steps.</a:t>
            </a:r>
          </a:p>
        </p:txBody>
      </p:sp>
    </p:spTree>
    <p:extLst>
      <p:ext uri="{BB962C8B-B14F-4D97-AF65-F5344CB8AC3E}">
        <p14:creationId xmlns:p14="http://schemas.microsoft.com/office/powerpoint/2010/main" val="5486711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3ABB1F6-7D1E-4EDB-960F-AF6007A522D5}"/>
              </a:ext>
            </a:extLst>
          </p:cNvPr>
          <p:cNvSpPr>
            <a:spLocks xmlns:a="http://schemas.openxmlformats.org/drawingml/2006/main" noGrp="1"/>
          </p:cNvSpPr>
          <p:nvPr/>
        </p:nvSpPr>
        <p:spPr>
          <a:xfrm xmlns:a="http://schemas.openxmlformats.org/drawingml/2006/main">
            <a:off x="666750" y="4095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B3A"/>
                </a:solidFill>
                <a:latin typeface="Arial"/>
                <a:ea typeface="Arial"/>
                <a:cs typeface="Arial"/>
              </a:defRPr>
            </a:defPPr>
            <a:lvl1pPr>
              <a:defRPr sz="3150" b="1">
                <a:solidFill>
                  <a:srgbClr val="172B3A"/>
                </a:solidFill>
                <a:latin typeface="Arial"/>
                <a:ea typeface="Arial"/>
                <a:cs typeface="Arial"/>
              </a:defRPr>
            </a:lvl1pPr>
            <a:lvl2pPr>
              <a:defRPr sz="3150" b="1">
                <a:solidFill>
                  <a:srgbClr val="172B3A"/>
                </a:solidFill>
                <a:latin typeface="Arial"/>
                <a:ea typeface="Arial"/>
                <a:cs typeface="Arial"/>
              </a:defRPr>
            </a:lvl2pPr>
            <a:lvl3pPr>
              <a:defRPr sz="3150" b="1">
                <a:solidFill>
                  <a:srgbClr val="172B3A"/>
                </a:solidFill>
                <a:latin typeface="Arial"/>
                <a:ea typeface="Arial"/>
                <a:cs typeface="Arial"/>
              </a:defRPr>
            </a:lvl3pPr>
            <a:lvl4pPr>
              <a:defRPr sz="3150" b="1">
                <a:solidFill>
                  <a:srgbClr val="172B3A"/>
                </a:solidFill>
                <a:latin typeface="Arial"/>
                <a:ea typeface="Arial"/>
                <a:cs typeface="Arial"/>
              </a:defRPr>
            </a:lvl4pPr>
            <a:lvl5pPr>
              <a:defRPr sz="3150" b="1">
                <a:solidFill>
                  <a:srgbClr val="172B3A"/>
                </a:solidFill>
                <a:latin typeface="Arial"/>
                <a:ea typeface="Arial"/>
                <a:cs typeface="Arial"/>
              </a:defRPr>
            </a:lvl5pPr>
            <a:lvl6pPr>
              <a:defRPr sz="3150" b="1">
                <a:solidFill>
                  <a:srgbClr val="172B3A"/>
                </a:solidFill>
                <a:latin typeface="Arial"/>
                <a:ea typeface="Arial"/>
                <a:cs typeface="Arial"/>
              </a:defRPr>
            </a:lvl6pPr>
            <a:lvl7pPr>
              <a:defRPr sz="3150" b="1">
                <a:solidFill>
                  <a:srgbClr val="172B3A"/>
                </a:solidFill>
                <a:latin typeface="Arial"/>
                <a:ea typeface="Arial"/>
                <a:cs typeface="Arial"/>
              </a:defRPr>
            </a:lvl7pPr>
            <a:lvl8pPr>
              <a:defRPr sz="3150" b="1">
                <a:solidFill>
                  <a:srgbClr val="172B3A"/>
                </a:solidFill>
                <a:latin typeface="Arial"/>
                <a:ea typeface="Arial"/>
                <a:cs typeface="Arial"/>
              </a:defRPr>
            </a:lvl8pPr>
            <a:lvl9pPr>
              <a:defRPr sz="3150" b="1">
                <a:solidFill>
                  <a:srgbClr val="172B3A"/>
                </a:solidFill>
                <a:latin typeface="Arial"/>
                <a:ea typeface="Arial"/>
                <a:cs typeface="Arial"/>
              </a:defRPr>
            </a:lvl9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How the code works</a:t>
            </a:r>
          </a:p>
        </p:txBody>
      </p:sp>
      <p:sp>
        <p:nvSpPr>
          <p:cNvPr id="3" name="">
            <a:extLst xmlns:a="http://schemas.openxmlformats.org/drawingml/2006/main">
              <a:ext uri="{FF2B5EF4-FFF2-40B4-BE49-F238E27FC236}">
                <a16:creationId xmlns:a16="http://schemas.microsoft.com/office/drawing/2014/main" id="{C06A5C76-29D4-4C76-B5B0-9500E16DC19F}"/>
              </a:ext>
            </a:extLst>
          </p:cNvPr>
          <p:cNvSpPr>
            <a:spLocks xmlns:a="http://schemas.openxmlformats.org/drawingml/2006/main" noGrp="1"/>
          </p:cNvSpPr>
          <p:nvPr/>
        </p:nvSpPr>
        <p:spPr>
          <a:xfrm xmlns:a="http://schemas.openxmlformats.org/drawingml/2006/main">
            <a:off x="666750" y="647700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a:solidFill>
                  <a:srgbClr val="637E8E"/>
                </a:solidFill>
                <a:latin typeface="Arial"/>
                <a:ea typeface="Arial"/>
                <a:cs typeface="Arial"/>
              </a:defRPr>
            </a:defPPr>
            <a:lvl1pPr>
              <a:defRPr sz="1350">
                <a:solidFill>
                  <a:srgbClr val="637E8E"/>
                </a:solidFill>
                <a:latin typeface="Arial"/>
                <a:ea typeface="Arial"/>
                <a:cs typeface="Arial"/>
              </a:defRPr>
            </a:lvl1pPr>
            <a:lvl2pPr>
              <a:defRPr sz="1350">
                <a:solidFill>
                  <a:srgbClr val="637E8E"/>
                </a:solidFill>
                <a:latin typeface="Arial"/>
                <a:ea typeface="Arial"/>
                <a:cs typeface="Arial"/>
              </a:defRPr>
            </a:lvl2pPr>
            <a:lvl3pPr>
              <a:defRPr sz="1350">
                <a:solidFill>
                  <a:srgbClr val="637E8E"/>
                </a:solidFill>
                <a:latin typeface="Arial"/>
                <a:ea typeface="Arial"/>
                <a:cs typeface="Arial"/>
              </a:defRPr>
            </a:lvl3pPr>
            <a:lvl4pPr>
              <a:defRPr sz="1350">
                <a:solidFill>
                  <a:srgbClr val="637E8E"/>
                </a:solidFill>
                <a:latin typeface="Arial"/>
                <a:ea typeface="Arial"/>
                <a:cs typeface="Arial"/>
              </a:defRPr>
            </a:lvl4pPr>
            <a:lvl5pPr>
              <a:defRPr sz="1350">
                <a:solidFill>
                  <a:srgbClr val="637E8E"/>
                </a:solidFill>
                <a:latin typeface="Arial"/>
                <a:ea typeface="Arial"/>
                <a:cs typeface="Arial"/>
              </a:defRPr>
            </a:lvl5pPr>
            <a:lvl6pPr>
              <a:defRPr sz="1350">
                <a:solidFill>
                  <a:srgbClr val="637E8E"/>
                </a:solidFill>
                <a:latin typeface="Arial"/>
                <a:ea typeface="Arial"/>
                <a:cs typeface="Arial"/>
              </a:defRPr>
            </a:lvl6pPr>
            <a:lvl7pPr>
              <a:defRPr sz="1350">
                <a:solidFill>
                  <a:srgbClr val="637E8E"/>
                </a:solidFill>
                <a:latin typeface="Arial"/>
                <a:ea typeface="Arial"/>
                <a:cs typeface="Arial"/>
              </a:defRPr>
            </a:lvl7pPr>
            <a:lvl8pPr>
              <a:defRPr sz="1350">
                <a:solidFill>
                  <a:srgbClr val="637E8E"/>
                </a:solidFill>
                <a:latin typeface="Arial"/>
                <a:ea typeface="Arial"/>
                <a:cs typeface="Arial"/>
              </a:defRPr>
            </a:lvl8pPr>
            <a:lvl9pPr>
              <a:defRPr sz="1350">
                <a:solidFill>
                  <a:srgbClr val="637E8E"/>
                </a:solidFill>
                <a:latin typeface="Arial"/>
                <a:ea typeface="Arial"/>
                <a:cs typeface="Arial"/>
              </a:defRPr>
            </a:lvl9pPr>
          </a:lstStyle>
          <a:p xmlns:a="http://schemas.openxmlformats.org/drawingml/2006/main">
            <a:pPr>
              <a:defRPr sz="1350">
                <a:solidFill>
                  <a:srgbClr val="637E8E"/>
                </a:solidFill>
                <a:latin typeface="Arial"/>
                <a:ea typeface="Arial"/>
                <a:cs typeface="Arial"/>
              </a:defRPr>
            </a:pPr>
            <a:r>
              <a:rPr sz="1350">
                <a:solidFill>
                  <a:srgbClr val="637E8E"/>
                </a:solidFill>
                <a:latin typeface="Arial"/>
                <a:ea typeface="Arial"/>
                <a:cs typeface="Arial"/>
              </a:rPr>
              <a:t>Assessment 10  /  4</a:t>
            </a:r>
          </a:p>
        </p:txBody>
      </p:sp>
      <p:sp>
        <p:nvSpPr>
          <p:cNvPr id="4" name="">
            <a:extLst xmlns:a="http://schemas.openxmlformats.org/drawingml/2006/main">
              <a:ext uri="{FF2B5EF4-FFF2-40B4-BE49-F238E27FC236}">
                <a16:creationId xmlns:a16="http://schemas.microsoft.com/office/drawing/2014/main" id="{A00AD223-57B7-4E9A-ADCC-D48EFF41F415}"/>
              </a:ext>
            </a:extLst>
          </p:cNvPr>
          <p:cNvSpPr>
            <a:spLocks xmlns:a="http://schemas.openxmlformats.org/drawingml/2006/main" noGrp="1"/>
          </p:cNvSpPr>
          <p:nvPr/>
        </p:nvSpPr>
        <p:spPr>
          <a:xfrm xmlns:a="http://schemas.openxmlformats.org/drawingml/2006/main">
            <a:off x="666750" y="1666875"/>
            <a:ext cx="10858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a:solidFill>
                  <a:srgbClr val="172B3A"/>
                </a:solidFill>
                <a:latin typeface="Arial"/>
                <a:ea typeface="Arial"/>
                <a:cs typeface="Arial"/>
              </a:defRPr>
            </a:defPPr>
            <a:lvl1pPr>
              <a:defRPr sz="2325">
                <a:solidFill>
                  <a:srgbClr val="172B3A"/>
                </a:solidFill>
                <a:latin typeface="Arial"/>
                <a:ea typeface="Arial"/>
                <a:cs typeface="Arial"/>
              </a:defRPr>
            </a:lvl1pPr>
            <a:lvl2pPr>
              <a:defRPr sz="2325">
                <a:solidFill>
                  <a:srgbClr val="172B3A"/>
                </a:solidFill>
                <a:latin typeface="Arial"/>
                <a:ea typeface="Arial"/>
                <a:cs typeface="Arial"/>
              </a:defRPr>
            </a:lvl2pPr>
            <a:lvl3pPr>
              <a:defRPr sz="2325">
                <a:solidFill>
                  <a:srgbClr val="172B3A"/>
                </a:solidFill>
                <a:latin typeface="Arial"/>
                <a:ea typeface="Arial"/>
                <a:cs typeface="Arial"/>
              </a:defRPr>
            </a:lvl3pPr>
            <a:lvl4pPr>
              <a:defRPr sz="2325">
                <a:solidFill>
                  <a:srgbClr val="172B3A"/>
                </a:solidFill>
                <a:latin typeface="Arial"/>
                <a:ea typeface="Arial"/>
                <a:cs typeface="Arial"/>
              </a:defRPr>
            </a:lvl4pPr>
            <a:lvl5pPr>
              <a:defRPr sz="2325">
                <a:solidFill>
                  <a:srgbClr val="172B3A"/>
                </a:solidFill>
                <a:latin typeface="Arial"/>
                <a:ea typeface="Arial"/>
                <a:cs typeface="Arial"/>
              </a:defRPr>
            </a:lvl5pPr>
            <a:lvl6pPr>
              <a:defRPr sz="2325">
                <a:solidFill>
                  <a:srgbClr val="172B3A"/>
                </a:solidFill>
                <a:latin typeface="Arial"/>
                <a:ea typeface="Arial"/>
                <a:cs typeface="Arial"/>
              </a:defRPr>
            </a:lvl6pPr>
            <a:lvl7pPr>
              <a:defRPr sz="2325">
                <a:solidFill>
                  <a:srgbClr val="172B3A"/>
                </a:solidFill>
                <a:latin typeface="Arial"/>
                <a:ea typeface="Arial"/>
                <a:cs typeface="Arial"/>
              </a:defRPr>
            </a:lvl7pPr>
            <a:lvl8pPr>
              <a:defRPr sz="2325">
                <a:solidFill>
                  <a:srgbClr val="172B3A"/>
                </a:solidFill>
                <a:latin typeface="Arial"/>
                <a:ea typeface="Arial"/>
                <a:cs typeface="Arial"/>
              </a:defRPr>
            </a:lvl8pPr>
            <a:lvl9pPr>
              <a:defRPr sz="2325">
                <a:solidFill>
                  <a:srgbClr val="172B3A"/>
                </a:solidFill>
                <a:latin typeface="Arial"/>
                <a:ea typeface="Arial"/>
                <a:cs typeface="Arial"/>
              </a:defRPr>
            </a:lvl9pPr>
          </a:lstStyle>
          <a:p xmlns:a="http://schemas.openxmlformats.org/drawingml/2006/main">
            <a:pPr>
              <a:defRPr sz="2325">
                <a:solidFill>
                  <a:srgbClr val="172B3A"/>
                </a:solidFill>
                <a:latin typeface="Arial"/>
                <a:ea typeface="Arial"/>
                <a:cs typeface="Arial"/>
              </a:defRPr>
            </a:pPr>
            <a:r>
              <a:rPr sz="2325">
                <a:solidFill>
                  <a:srgbClr val="172B3A"/>
                </a:solidFill>
                <a:latin typeface="Arial"/>
                <a:ea typeface="Arial"/>
                <a:cs typeface="Arial"/>
              </a:rPr>
              <a:t>Python generates the pairs and trains the model.</a:t>
            </a:r>
          </a:p>
        </p:txBody>
      </p:sp>
      <p:sp>
        <p:nvSpPr>
          <p:cNvPr id="5" name="">
            <a:extLst xmlns:a="http://schemas.openxmlformats.org/drawingml/2006/main">
              <a:ext uri="{FF2B5EF4-FFF2-40B4-BE49-F238E27FC236}">
                <a16:creationId xmlns:a16="http://schemas.microsoft.com/office/drawing/2014/main" id="{057C33DB-E4C2-4927-B114-976F12661F00}"/>
              </a:ext>
            </a:extLst>
          </p:cNvPr>
          <p:cNvSpPr>
            <a:spLocks xmlns:a="http://schemas.openxmlformats.org/drawingml/2006/main" noGrp="1"/>
          </p:cNvSpPr>
          <p:nvPr/>
        </p:nvSpPr>
        <p:spPr>
          <a:xfrm xmlns:a="http://schemas.openxmlformats.org/drawingml/2006/main">
            <a:off x="666750" y="2447925"/>
            <a:ext cx="10858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a:solidFill>
                  <a:srgbClr val="172B3A"/>
                </a:solidFill>
                <a:latin typeface="Arial"/>
                <a:ea typeface="Arial"/>
                <a:cs typeface="Arial"/>
              </a:defRPr>
            </a:defPPr>
            <a:lvl1pPr>
              <a:defRPr sz="2325">
                <a:solidFill>
                  <a:srgbClr val="172B3A"/>
                </a:solidFill>
                <a:latin typeface="Arial"/>
                <a:ea typeface="Arial"/>
                <a:cs typeface="Arial"/>
              </a:defRPr>
            </a:lvl1pPr>
            <a:lvl2pPr>
              <a:defRPr sz="2325">
                <a:solidFill>
                  <a:srgbClr val="172B3A"/>
                </a:solidFill>
                <a:latin typeface="Arial"/>
                <a:ea typeface="Arial"/>
                <a:cs typeface="Arial"/>
              </a:defRPr>
            </a:lvl2pPr>
            <a:lvl3pPr>
              <a:defRPr sz="2325">
                <a:solidFill>
                  <a:srgbClr val="172B3A"/>
                </a:solidFill>
                <a:latin typeface="Arial"/>
                <a:ea typeface="Arial"/>
                <a:cs typeface="Arial"/>
              </a:defRPr>
            </a:lvl3pPr>
            <a:lvl4pPr>
              <a:defRPr sz="2325">
                <a:solidFill>
                  <a:srgbClr val="172B3A"/>
                </a:solidFill>
                <a:latin typeface="Arial"/>
                <a:ea typeface="Arial"/>
                <a:cs typeface="Arial"/>
              </a:defRPr>
            </a:lvl4pPr>
            <a:lvl5pPr>
              <a:defRPr sz="2325">
                <a:solidFill>
                  <a:srgbClr val="172B3A"/>
                </a:solidFill>
                <a:latin typeface="Arial"/>
                <a:ea typeface="Arial"/>
                <a:cs typeface="Arial"/>
              </a:defRPr>
            </a:lvl5pPr>
            <a:lvl6pPr>
              <a:defRPr sz="2325">
                <a:solidFill>
                  <a:srgbClr val="172B3A"/>
                </a:solidFill>
                <a:latin typeface="Arial"/>
                <a:ea typeface="Arial"/>
                <a:cs typeface="Arial"/>
              </a:defRPr>
            </a:lvl6pPr>
            <a:lvl7pPr>
              <a:defRPr sz="2325">
                <a:solidFill>
                  <a:srgbClr val="172B3A"/>
                </a:solidFill>
                <a:latin typeface="Arial"/>
                <a:ea typeface="Arial"/>
                <a:cs typeface="Arial"/>
              </a:defRPr>
            </a:lvl7pPr>
            <a:lvl8pPr>
              <a:defRPr sz="2325">
                <a:solidFill>
                  <a:srgbClr val="172B3A"/>
                </a:solidFill>
                <a:latin typeface="Arial"/>
                <a:ea typeface="Arial"/>
                <a:cs typeface="Arial"/>
              </a:defRPr>
            </a:lvl8pPr>
            <a:lvl9pPr>
              <a:defRPr sz="2325">
                <a:solidFill>
                  <a:srgbClr val="172B3A"/>
                </a:solidFill>
                <a:latin typeface="Arial"/>
                <a:ea typeface="Arial"/>
                <a:cs typeface="Arial"/>
              </a:defRPr>
            </a:lvl9pPr>
          </a:lstStyle>
          <a:p xmlns:a="http://schemas.openxmlformats.org/drawingml/2006/main">
            <a:pPr>
              <a:defRPr sz="2325">
                <a:solidFill>
                  <a:srgbClr val="172B3A"/>
                </a:solidFill>
                <a:latin typeface="Arial"/>
                <a:ea typeface="Arial"/>
                <a:cs typeface="Arial"/>
              </a:defRPr>
            </a:pPr>
            <a:r>
              <a:rPr sz="2325">
                <a:solidFill>
                  <a:srgbClr val="172B3A"/>
                </a:solidFill>
                <a:latin typeface="Arial"/>
                <a:ea typeface="Arial"/>
                <a:cs typeface="Arial"/>
              </a:rPr>
              <a:t>One update = one learning step using all practice pairs.</a:t>
            </a:r>
          </a:p>
        </p:txBody>
      </p:sp>
      <p:sp>
        <p:nvSpPr>
          <p:cNvPr id="6" name="">
            <a:extLst xmlns:a="http://schemas.openxmlformats.org/drawingml/2006/main">
              <a:ext uri="{FF2B5EF4-FFF2-40B4-BE49-F238E27FC236}">
                <a16:creationId xmlns:a16="http://schemas.microsoft.com/office/drawing/2014/main" id="{002C589F-ADD1-472B-98EA-9940D423A37D}"/>
              </a:ext>
            </a:extLst>
          </p:cNvPr>
          <p:cNvSpPr>
            <a:spLocks xmlns:a="http://schemas.openxmlformats.org/drawingml/2006/main" noGrp="1"/>
          </p:cNvSpPr>
          <p:nvPr/>
        </p:nvSpPr>
        <p:spPr>
          <a:xfrm xmlns:a="http://schemas.openxmlformats.org/drawingml/2006/main">
            <a:off x="666750" y="3228975"/>
            <a:ext cx="10858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a:solidFill>
                  <a:srgbClr val="172B3A"/>
                </a:solidFill>
                <a:latin typeface="Arial"/>
                <a:ea typeface="Arial"/>
                <a:cs typeface="Arial"/>
              </a:defRPr>
            </a:defPPr>
            <a:lvl1pPr>
              <a:defRPr sz="2325">
                <a:solidFill>
                  <a:srgbClr val="172B3A"/>
                </a:solidFill>
                <a:latin typeface="Arial"/>
                <a:ea typeface="Arial"/>
                <a:cs typeface="Arial"/>
              </a:defRPr>
            </a:lvl1pPr>
            <a:lvl2pPr>
              <a:defRPr sz="2325">
                <a:solidFill>
                  <a:srgbClr val="172B3A"/>
                </a:solidFill>
                <a:latin typeface="Arial"/>
                <a:ea typeface="Arial"/>
                <a:cs typeface="Arial"/>
              </a:defRPr>
            </a:lvl2pPr>
            <a:lvl3pPr>
              <a:defRPr sz="2325">
                <a:solidFill>
                  <a:srgbClr val="172B3A"/>
                </a:solidFill>
                <a:latin typeface="Arial"/>
                <a:ea typeface="Arial"/>
                <a:cs typeface="Arial"/>
              </a:defRPr>
            </a:lvl3pPr>
            <a:lvl4pPr>
              <a:defRPr sz="2325">
                <a:solidFill>
                  <a:srgbClr val="172B3A"/>
                </a:solidFill>
                <a:latin typeface="Arial"/>
                <a:ea typeface="Arial"/>
                <a:cs typeface="Arial"/>
              </a:defRPr>
            </a:lvl4pPr>
            <a:lvl5pPr>
              <a:defRPr sz="2325">
                <a:solidFill>
                  <a:srgbClr val="172B3A"/>
                </a:solidFill>
                <a:latin typeface="Arial"/>
                <a:ea typeface="Arial"/>
                <a:cs typeface="Arial"/>
              </a:defRPr>
            </a:lvl5pPr>
            <a:lvl6pPr>
              <a:defRPr sz="2325">
                <a:solidFill>
                  <a:srgbClr val="172B3A"/>
                </a:solidFill>
                <a:latin typeface="Arial"/>
                <a:ea typeface="Arial"/>
                <a:cs typeface="Arial"/>
              </a:defRPr>
            </a:lvl6pPr>
            <a:lvl7pPr>
              <a:defRPr sz="2325">
                <a:solidFill>
                  <a:srgbClr val="172B3A"/>
                </a:solidFill>
                <a:latin typeface="Arial"/>
                <a:ea typeface="Arial"/>
                <a:cs typeface="Arial"/>
              </a:defRPr>
            </a:lvl7pPr>
            <a:lvl8pPr>
              <a:defRPr sz="2325">
                <a:solidFill>
                  <a:srgbClr val="172B3A"/>
                </a:solidFill>
                <a:latin typeface="Arial"/>
                <a:ea typeface="Arial"/>
                <a:cs typeface="Arial"/>
              </a:defRPr>
            </a:lvl8pPr>
            <a:lvl9pPr>
              <a:defRPr sz="2325">
                <a:solidFill>
                  <a:srgbClr val="172B3A"/>
                </a:solidFill>
                <a:latin typeface="Arial"/>
                <a:ea typeface="Arial"/>
                <a:cs typeface="Arial"/>
              </a:defRPr>
            </a:lvl9pPr>
          </a:lstStyle>
          <a:p xmlns:a="http://schemas.openxmlformats.org/drawingml/2006/main">
            <a:pPr>
              <a:defRPr sz="2325">
                <a:solidFill>
                  <a:srgbClr val="172B3A"/>
                </a:solidFill>
                <a:latin typeface="Arial"/>
                <a:ea typeface="Arial"/>
                <a:cs typeface="Arial"/>
              </a:defRPr>
            </a:pPr>
            <a:r>
              <a:rPr sz="2325">
                <a:solidFill>
                  <a:srgbClr val="172B3A"/>
                </a:solidFill>
                <a:latin typeface="Arial"/>
                <a:ea typeface="Arial"/>
                <a:cs typeface="Arial"/>
              </a:rPr>
              <a:t>Every 25 updates: measure accuracy and save CSV records.</a:t>
            </a:r>
          </a:p>
        </p:txBody>
      </p:sp>
      <p:sp>
        <p:nvSpPr>
          <p:cNvPr id="7" name="">
            <a:extLst xmlns:a="http://schemas.openxmlformats.org/drawingml/2006/main">
              <a:ext uri="{FF2B5EF4-FFF2-40B4-BE49-F238E27FC236}">
                <a16:creationId xmlns:a16="http://schemas.microsoft.com/office/drawing/2014/main" id="{02077F1A-FCD2-4A04-BC19-F7D8DB26E516}"/>
              </a:ext>
            </a:extLst>
          </p:cNvPr>
          <p:cNvSpPr>
            <a:spLocks xmlns:a="http://schemas.openxmlformats.org/drawingml/2006/main" noGrp="1"/>
          </p:cNvSpPr>
          <p:nvPr/>
        </p:nvSpPr>
        <p:spPr>
          <a:xfrm xmlns:a="http://schemas.openxmlformats.org/drawingml/2006/main">
            <a:off x="666750" y="4010025"/>
            <a:ext cx="10858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a:solidFill>
                  <a:srgbClr val="172B3A"/>
                </a:solidFill>
                <a:latin typeface="Arial"/>
                <a:ea typeface="Arial"/>
                <a:cs typeface="Arial"/>
              </a:defRPr>
            </a:defPPr>
            <a:lvl1pPr>
              <a:defRPr sz="2325">
                <a:solidFill>
                  <a:srgbClr val="172B3A"/>
                </a:solidFill>
                <a:latin typeface="Arial"/>
                <a:ea typeface="Arial"/>
                <a:cs typeface="Arial"/>
              </a:defRPr>
            </a:lvl1pPr>
            <a:lvl2pPr>
              <a:defRPr sz="2325">
                <a:solidFill>
                  <a:srgbClr val="172B3A"/>
                </a:solidFill>
                <a:latin typeface="Arial"/>
                <a:ea typeface="Arial"/>
                <a:cs typeface="Arial"/>
              </a:defRPr>
            </a:lvl2pPr>
            <a:lvl3pPr>
              <a:defRPr sz="2325">
                <a:solidFill>
                  <a:srgbClr val="172B3A"/>
                </a:solidFill>
                <a:latin typeface="Arial"/>
                <a:ea typeface="Arial"/>
                <a:cs typeface="Arial"/>
              </a:defRPr>
            </a:lvl3pPr>
            <a:lvl4pPr>
              <a:defRPr sz="2325">
                <a:solidFill>
                  <a:srgbClr val="172B3A"/>
                </a:solidFill>
                <a:latin typeface="Arial"/>
                <a:ea typeface="Arial"/>
                <a:cs typeface="Arial"/>
              </a:defRPr>
            </a:lvl4pPr>
            <a:lvl5pPr>
              <a:defRPr sz="2325">
                <a:solidFill>
                  <a:srgbClr val="172B3A"/>
                </a:solidFill>
                <a:latin typeface="Arial"/>
                <a:ea typeface="Arial"/>
                <a:cs typeface="Arial"/>
              </a:defRPr>
            </a:lvl5pPr>
            <a:lvl6pPr>
              <a:defRPr sz="2325">
                <a:solidFill>
                  <a:srgbClr val="172B3A"/>
                </a:solidFill>
                <a:latin typeface="Arial"/>
                <a:ea typeface="Arial"/>
                <a:cs typeface="Arial"/>
              </a:defRPr>
            </a:lvl6pPr>
            <a:lvl7pPr>
              <a:defRPr sz="2325">
                <a:solidFill>
                  <a:srgbClr val="172B3A"/>
                </a:solidFill>
                <a:latin typeface="Arial"/>
                <a:ea typeface="Arial"/>
                <a:cs typeface="Arial"/>
              </a:defRPr>
            </a:lvl7pPr>
            <a:lvl8pPr>
              <a:defRPr sz="2325">
                <a:solidFill>
                  <a:srgbClr val="172B3A"/>
                </a:solidFill>
                <a:latin typeface="Arial"/>
                <a:ea typeface="Arial"/>
                <a:cs typeface="Arial"/>
              </a:defRPr>
            </a:lvl8pPr>
            <a:lvl9pPr>
              <a:defRPr sz="2325">
                <a:solidFill>
                  <a:srgbClr val="172B3A"/>
                </a:solidFill>
                <a:latin typeface="Arial"/>
                <a:ea typeface="Arial"/>
                <a:cs typeface="Arial"/>
              </a:defRPr>
            </a:lvl9pPr>
          </a:lstStyle>
          <a:p xmlns:a="http://schemas.openxmlformats.org/drawingml/2006/main">
            <a:pPr>
              <a:defRPr sz="2325">
                <a:solidFill>
                  <a:srgbClr val="172B3A"/>
                </a:solidFill>
                <a:latin typeface="Arial"/>
                <a:ea typeface="Arial"/>
                <a:cs typeface="Arial"/>
              </a:defRPr>
            </a:pPr>
            <a:r>
              <a:rPr sz="2325">
                <a:solidFill>
                  <a:srgbClr val="172B3A"/>
                </a:solidFill>
                <a:latin typeface="Arial"/>
                <a:ea typeface="Arial"/>
                <a:cs typeface="Arial"/>
              </a:rPr>
              <a:t>Checkpoints let interrupted training resume.</a:t>
            </a:r>
          </a:p>
        </p:txBody>
      </p:sp>
      <p:sp>
        <p:nvSpPr>
          <p:cNvPr id="8" name="">
            <a:extLst xmlns:a="http://schemas.openxmlformats.org/drawingml/2006/main">
              <a:ext uri="{FF2B5EF4-FFF2-40B4-BE49-F238E27FC236}">
                <a16:creationId xmlns:a16="http://schemas.microsoft.com/office/drawing/2014/main" id="{A8AFE93E-3E10-42DC-AE76-770725846B3E}"/>
              </a:ext>
            </a:extLst>
          </p:cNvPr>
          <p:cNvSpPr>
            <a:spLocks xmlns:a="http://schemas.openxmlformats.org/drawingml/2006/main" noGrp="1"/>
          </p:cNvSpPr>
          <p:nvPr/>
        </p:nvSpPr>
        <p:spPr>
          <a:xfrm xmlns:a="http://schemas.openxmlformats.org/drawingml/2006/main">
            <a:off x="666750" y="4791075"/>
            <a:ext cx="10858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a:solidFill>
                  <a:srgbClr val="172B3A"/>
                </a:solidFill>
                <a:latin typeface="Arial"/>
                <a:ea typeface="Arial"/>
                <a:cs typeface="Arial"/>
              </a:defRPr>
            </a:defPPr>
            <a:lvl1pPr>
              <a:defRPr sz="2325">
                <a:solidFill>
                  <a:srgbClr val="172B3A"/>
                </a:solidFill>
                <a:latin typeface="Arial"/>
                <a:ea typeface="Arial"/>
                <a:cs typeface="Arial"/>
              </a:defRPr>
            </a:lvl1pPr>
            <a:lvl2pPr>
              <a:defRPr sz="2325">
                <a:solidFill>
                  <a:srgbClr val="172B3A"/>
                </a:solidFill>
                <a:latin typeface="Arial"/>
                <a:ea typeface="Arial"/>
                <a:cs typeface="Arial"/>
              </a:defRPr>
            </a:lvl2pPr>
            <a:lvl3pPr>
              <a:defRPr sz="2325">
                <a:solidFill>
                  <a:srgbClr val="172B3A"/>
                </a:solidFill>
                <a:latin typeface="Arial"/>
                <a:ea typeface="Arial"/>
                <a:cs typeface="Arial"/>
              </a:defRPr>
            </a:lvl3pPr>
            <a:lvl4pPr>
              <a:defRPr sz="2325">
                <a:solidFill>
                  <a:srgbClr val="172B3A"/>
                </a:solidFill>
                <a:latin typeface="Arial"/>
                <a:ea typeface="Arial"/>
                <a:cs typeface="Arial"/>
              </a:defRPr>
            </a:lvl4pPr>
            <a:lvl5pPr>
              <a:defRPr sz="2325">
                <a:solidFill>
                  <a:srgbClr val="172B3A"/>
                </a:solidFill>
                <a:latin typeface="Arial"/>
                <a:ea typeface="Arial"/>
                <a:cs typeface="Arial"/>
              </a:defRPr>
            </a:lvl5pPr>
            <a:lvl6pPr>
              <a:defRPr sz="2325">
                <a:solidFill>
                  <a:srgbClr val="172B3A"/>
                </a:solidFill>
                <a:latin typeface="Arial"/>
                <a:ea typeface="Arial"/>
                <a:cs typeface="Arial"/>
              </a:defRPr>
            </a:lvl6pPr>
            <a:lvl7pPr>
              <a:defRPr sz="2325">
                <a:solidFill>
                  <a:srgbClr val="172B3A"/>
                </a:solidFill>
                <a:latin typeface="Arial"/>
                <a:ea typeface="Arial"/>
                <a:cs typeface="Arial"/>
              </a:defRPr>
            </a:lvl7pPr>
            <a:lvl8pPr>
              <a:defRPr sz="2325">
                <a:solidFill>
                  <a:srgbClr val="172B3A"/>
                </a:solidFill>
                <a:latin typeface="Arial"/>
                <a:ea typeface="Arial"/>
                <a:cs typeface="Arial"/>
              </a:defRPr>
            </a:lvl8pPr>
            <a:lvl9pPr>
              <a:defRPr sz="2325">
                <a:solidFill>
                  <a:srgbClr val="172B3A"/>
                </a:solidFill>
                <a:latin typeface="Arial"/>
                <a:ea typeface="Arial"/>
                <a:cs typeface="Arial"/>
              </a:defRPr>
            </a:lvl9pPr>
          </a:lstStyle>
          <a:p xmlns:a="http://schemas.openxmlformats.org/drawingml/2006/main">
            <a:pPr>
              <a:defRPr sz="2325">
                <a:solidFill>
                  <a:srgbClr val="172B3A"/>
                </a:solidFill>
                <a:latin typeface="Arial"/>
                <a:ea typeface="Arial"/>
                <a:cs typeface="Arial"/>
              </a:defRPr>
            </a:pPr>
            <a:r>
              <a:rPr sz="2325">
                <a:solidFill>
                  <a:srgbClr val="172B3A"/>
                </a:solidFill>
                <a:latin typeface="Arial"/>
                <a:ea typeface="Arial"/>
                <a:cs typeface="Arial"/>
              </a:rPr>
              <a:t>R computes statistics and creates the graphs.</a:t>
            </a:r>
          </a:p>
        </p:txBody>
      </p:sp>
      <p:sp>
        <p:nvSpPr>
          <p:cNvPr id="9" name="">
            <a:extLst xmlns:a="http://schemas.openxmlformats.org/drawingml/2006/main">
              <a:ext uri="{FF2B5EF4-FFF2-40B4-BE49-F238E27FC236}">
                <a16:creationId xmlns:a16="http://schemas.microsoft.com/office/drawing/2014/main" id="{372F289D-DA18-4F75-841B-766414489F41}"/>
              </a:ext>
            </a:extLst>
          </p:cNvPr>
          <p:cNvSpPr>
            <a:spLocks xmlns:a="http://schemas.openxmlformats.org/drawingml/2006/main" noGrp="1"/>
          </p:cNvSpPr>
          <p:nvPr/>
        </p:nvSpPr>
        <p:spPr>
          <a:xfrm xmlns:a="http://schemas.openxmlformats.org/drawingml/2006/main">
            <a:off x="666750" y="58483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a:solidFill>
                  <a:srgbClr val="175F96"/>
                </a:solidFill>
                <a:latin typeface="Arial"/>
                <a:ea typeface="Arial"/>
                <a:cs typeface="Arial"/>
              </a:defRPr>
            </a:defPPr>
            <a:lvl1pPr>
              <a:defRPr sz="2100">
                <a:solidFill>
                  <a:srgbClr val="175F96"/>
                </a:solidFill>
                <a:latin typeface="Arial"/>
                <a:ea typeface="Arial"/>
                <a:cs typeface="Arial"/>
              </a:defRPr>
            </a:lvl1pPr>
            <a:lvl2pPr>
              <a:defRPr sz="2100">
                <a:solidFill>
                  <a:srgbClr val="175F96"/>
                </a:solidFill>
                <a:latin typeface="Arial"/>
                <a:ea typeface="Arial"/>
                <a:cs typeface="Arial"/>
              </a:defRPr>
            </a:lvl2pPr>
            <a:lvl3pPr>
              <a:defRPr sz="2100">
                <a:solidFill>
                  <a:srgbClr val="175F96"/>
                </a:solidFill>
                <a:latin typeface="Arial"/>
                <a:ea typeface="Arial"/>
                <a:cs typeface="Arial"/>
              </a:defRPr>
            </a:lvl3pPr>
            <a:lvl4pPr>
              <a:defRPr sz="2100">
                <a:solidFill>
                  <a:srgbClr val="175F96"/>
                </a:solidFill>
                <a:latin typeface="Arial"/>
                <a:ea typeface="Arial"/>
                <a:cs typeface="Arial"/>
              </a:defRPr>
            </a:lvl4pPr>
            <a:lvl5pPr>
              <a:defRPr sz="2100">
                <a:solidFill>
                  <a:srgbClr val="175F96"/>
                </a:solidFill>
                <a:latin typeface="Arial"/>
                <a:ea typeface="Arial"/>
                <a:cs typeface="Arial"/>
              </a:defRPr>
            </a:lvl5pPr>
            <a:lvl6pPr>
              <a:defRPr sz="2100">
                <a:solidFill>
                  <a:srgbClr val="175F96"/>
                </a:solidFill>
                <a:latin typeface="Arial"/>
                <a:ea typeface="Arial"/>
                <a:cs typeface="Arial"/>
              </a:defRPr>
            </a:lvl6pPr>
            <a:lvl7pPr>
              <a:defRPr sz="2100">
                <a:solidFill>
                  <a:srgbClr val="175F96"/>
                </a:solidFill>
                <a:latin typeface="Arial"/>
                <a:ea typeface="Arial"/>
                <a:cs typeface="Arial"/>
              </a:defRPr>
            </a:lvl7pPr>
            <a:lvl8pPr>
              <a:defRPr sz="2100">
                <a:solidFill>
                  <a:srgbClr val="175F96"/>
                </a:solidFill>
                <a:latin typeface="Arial"/>
                <a:ea typeface="Arial"/>
                <a:cs typeface="Arial"/>
              </a:defRPr>
            </a:lvl8pPr>
            <a:lvl9pPr>
              <a:defRPr sz="2100">
                <a:solidFill>
                  <a:srgbClr val="175F96"/>
                </a:solidFill>
                <a:latin typeface="Arial"/>
                <a:ea typeface="Arial"/>
                <a:cs typeface="Arial"/>
              </a:defRPr>
            </a:lvl9pPr>
          </a:lstStyle>
          <a:p xmlns:a="http://schemas.openxmlformats.org/drawingml/2006/main">
            <a:pPr>
              <a:defRPr sz="2100">
                <a:solidFill>
                  <a:srgbClr val="175F96"/>
                </a:solidFill>
                <a:latin typeface="Arial"/>
                <a:ea typeface="Arial"/>
                <a:cs typeface="Arial"/>
              </a:defRPr>
            </a:pPr>
            <a:r>
              <a:rPr sz="2100">
                <a:solidFill>
                  <a:srgbClr val="175F96"/>
                </a:solidFill>
                <a:latin typeface="Arial"/>
                <a:ea typeface="Arial"/>
                <a:cs typeface="Arial"/>
              </a:rPr>
              <a:t>The extension completed 1,330 new runs and 7.5 million logical updates.</a:t>
            </a:r>
          </a:p>
        </p:txBody>
      </p:sp>
    </p:spTree>
    <p:extLst>
      <p:ext uri="{BB962C8B-B14F-4D97-AF65-F5344CB8AC3E}">
        <p14:creationId xmlns:p14="http://schemas.microsoft.com/office/powerpoint/2010/main" val="2934796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221E6F6-0D3F-4576-8AAA-95076D196784}"/>
              </a:ext>
            </a:extLst>
          </p:cNvPr>
          <p:cNvSpPr>
            <a:spLocks xmlns:a="http://schemas.openxmlformats.org/drawingml/2006/main" noGrp="1"/>
          </p:cNvSpPr>
          <p:nvPr/>
        </p:nvSpPr>
        <p:spPr>
          <a:xfrm xmlns:a="http://schemas.openxmlformats.org/drawingml/2006/main">
            <a:off x="666750" y="4095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B3A"/>
                </a:solidFill>
                <a:latin typeface="Arial"/>
                <a:ea typeface="Arial"/>
                <a:cs typeface="Arial"/>
              </a:defRPr>
            </a:defPPr>
            <a:lvl1pPr>
              <a:defRPr sz="3150" b="1">
                <a:solidFill>
                  <a:srgbClr val="172B3A"/>
                </a:solidFill>
                <a:latin typeface="Arial"/>
                <a:ea typeface="Arial"/>
                <a:cs typeface="Arial"/>
              </a:defRPr>
            </a:lvl1pPr>
            <a:lvl2pPr>
              <a:defRPr sz="3150" b="1">
                <a:solidFill>
                  <a:srgbClr val="172B3A"/>
                </a:solidFill>
                <a:latin typeface="Arial"/>
                <a:ea typeface="Arial"/>
                <a:cs typeface="Arial"/>
              </a:defRPr>
            </a:lvl2pPr>
            <a:lvl3pPr>
              <a:defRPr sz="3150" b="1">
                <a:solidFill>
                  <a:srgbClr val="172B3A"/>
                </a:solidFill>
                <a:latin typeface="Arial"/>
                <a:ea typeface="Arial"/>
                <a:cs typeface="Arial"/>
              </a:defRPr>
            </a:lvl3pPr>
            <a:lvl4pPr>
              <a:defRPr sz="3150" b="1">
                <a:solidFill>
                  <a:srgbClr val="172B3A"/>
                </a:solidFill>
                <a:latin typeface="Arial"/>
                <a:ea typeface="Arial"/>
                <a:cs typeface="Arial"/>
              </a:defRPr>
            </a:lvl4pPr>
            <a:lvl5pPr>
              <a:defRPr sz="3150" b="1">
                <a:solidFill>
                  <a:srgbClr val="172B3A"/>
                </a:solidFill>
                <a:latin typeface="Arial"/>
                <a:ea typeface="Arial"/>
                <a:cs typeface="Arial"/>
              </a:defRPr>
            </a:lvl5pPr>
            <a:lvl6pPr>
              <a:defRPr sz="3150" b="1">
                <a:solidFill>
                  <a:srgbClr val="172B3A"/>
                </a:solidFill>
                <a:latin typeface="Arial"/>
                <a:ea typeface="Arial"/>
                <a:cs typeface="Arial"/>
              </a:defRPr>
            </a:lvl6pPr>
            <a:lvl7pPr>
              <a:defRPr sz="3150" b="1">
                <a:solidFill>
                  <a:srgbClr val="172B3A"/>
                </a:solidFill>
                <a:latin typeface="Arial"/>
                <a:ea typeface="Arial"/>
                <a:cs typeface="Arial"/>
              </a:defRPr>
            </a:lvl7pPr>
            <a:lvl8pPr>
              <a:defRPr sz="3150" b="1">
                <a:solidFill>
                  <a:srgbClr val="172B3A"/>
                </a:solidFill>
                <a:latin typeface="Arial"/>
                <a:ea typeface="Arial"/>
                <a:cs typeface="Arial"/>
              </a:defRPr>
            </a:lvl8pPr>
            <a:lvl9pPr>
              <a:defRPr sz="3150" b="1">
                <a:solidFill>
                  <a:srgbClr val="172B3A"/>
                </a:solidFill>
                <a:latin typeface="Arial"/>
                <a:ea typeface="Arial"/>
                <a:cs typeface="Arial"/>
              </a:defRPr>
            </a:lvl9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The probability and statistics</a:t>
            </a:r>
          </a:p>
        </p:txBody>
      </p:sp>
      <p:sp>
        <p:nvSpPr>
          <p:cNvPr id="3" name="">
            <a:extLst xmlns:a="http://schemas.openxmlformats.org/drawingml/2006/main">
              <a:ext uri="{FF2B5EF4-FFF2-40B4-BE49-F238E27FC236}">
                <a16:creationId xmlns:a16="http://schemas.microsoft.com/office/drawing/2014/main" id="{59C1148D-032D-45A3-8CC1-E45CA50E9AE8}"/>
              </a:ext>
            </a:extLst>
          </p:cNvPr>
          <p:cNvSpPr>
            <a:spLocks xmlns:a="http://schemas.openxmlformats.org/drawingml/2006/main" noGrp="1"/>
          </p:cNvSpPr>
          <p:nvPr/>
        </p:nvSpPr>
        <p:spPr>
          <a:xfrm xmlns:a="http://schemas.openxmlformats.org/drawingml/2006/main">
            <a:off x="666750" y="647700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a:solidFill>
                  <a:srgbClr val="637E8E"/>
                </a:solidFill>
                <a:latin typeface="Arial"/>
                <a:ea typeface="Arial"/>
                <a:cs typeface="Arial"/>
              </a:defRPr>
            </a:defPPr>
            <a:lvl1pPr>
              <a:defRPr sz="1350">
                <a:solidFill>
                  <a:srgbClr val="637E8E"/>
                </a:solidFill>
                <a:latin typeface="Arial"/>
                <a:ea typeface="Arial"/>
                <a:cs typeface="Arial"/>
              </a:defRPr>
            </a:lvl1pPr>
            <a:lvl2pPr>
              <a:defRPr sz="1350">
                <a:solidFill>
                  <a:srgbClr val="637E8E"/>
                </a:solidFill>
                <a:latin typeface="Arial"/>
                <a:ea typeface="Arial"/>
                <a:cs typeface="Arial"/>
              </a:defRPr>
            </a:lvl2pPr>
            <a:lvl3pPr>
              <a:defRPr sz="1350">
                <a:solidFill>
                  <a:srgbClr val="637E8E"/>
                </a:solidFill>
                <a:latin typeface="Arial"/>
                <a:ea typeface="Arial"/>
                <a:cs typeface="Arial"/>
              </a:defRPr>
            </a:lvl3pPr>
            <a:lvl4pPr>
              <a:defRPr sz="1350">
                <a:solidFill>
                  <a:srgbClr val="637E8E"/>
                </a:solidFill>
                <a:latin typeface="Arial"/>
                <a:ea typeface="Arial"/>
                <a:cs typeface="Arial"/>
              </a:defRPr>
            </a:lvl4pPr>
            <a:lvl5pPr>
              <a:defRPr sz="1350">
                <a:solidFill>
                  <a:srgbClr val="637E8E"/>
                </a:solidFill>
                <a:latin typeface="Arial"/>
                <a:ea typeface="Arial"/>
                <a:cs typeface="Arial"/>
              </a:defRPr>
            </a:lvl5pPr>
            <a:lvl6pPr>
              <a:defRPr sz="1350">
                <a:solidFill>
                  <a:srgbClr val="637E8E"/>
                </a:solidFill>
                <a:latin typeface="Arial"/>
                <a:ea typeface="Arial"/>
                <a:cs typeface="Arial"/>
              </a:defRPr>
            </a:lvl6pPr>
            <a:lvl7pPr>
              <a:defRPr sz="1350">
                <a:solidFill>
                  <a:srgbClr val="637E8E"/>
                </a:solidFill>
                <a:latin typeface="Arial"/>
                <a:ea typeface="Arial"/>
                <a:cs typeface="Arial"/>
              </a:defRPr>
            </a:lvl7pPr>
            <a:lvl8pPr>
              <a:defRPr sz="1350">
                <a:solidFill>
                  <a:srgbClr val="637E8E"/>
                </a:solidFill>
                <a:latin typeface="Arial"/>
                <a:ea typeface="Arial"/>
                <a:cs typeface="Arial"/>
              </a:defRPr>
            </a:lvl8pPr>
            <a:lvl9pPr>
              <a:defRPr sz="1350">
                <a:solidFill>
                  <a:srgbClr val="637E8E"/>
                </a:solidFill>
                <a:latin typeface="Arial"/>
                <a:ea typeface="Arial"/>
                <a:cs typeface="Arial"/>
              </a:defRPr>
            </a:lvl9pPr>
          </a:lstStyle>
          <a:p xmlns:a="http://schemas.openxmlformats.org/drawingml/2006/main">
            <a:pPr>
              <a:defRPr sz="1350">
                <a:solidFill>
                  <a:srgbClr val="637E8E"/>
                </a:solidFill>
                <a:latin typeface="Arial"/>
                <a:ea typeface="Arial"/>
                <a:cs typeface="Arial"/>
              </a:defRPr>
            </a:pPr>
            <a:r>
              <a:rPr sz="1350">
                <a:solidFill>
                  <a:srgbClr val="637E8E"/>
                </a:solidFill>
                <a:latin typeface="Arial"/>
                <a:ea typeface="Arial"/>
                <a:cs typeface="Arial"/>
              </a:rPr>
              <a:t>Assessment 10  /  5</a:t>
            </a:r>
          </a:p>
        </p:txBody>
      </p:sp>
      <p:sp>
        <p:nvSpPr>
          <p:cNvPr id="4" name="">
            <a:extLst xmlns:a="http://schemas.openxmlformats.org/drawingml/2006/main">
              <a:ext uri="{FF2B5EF4-FFF2-40B4-BE49-F238E27FC236}">
                <a16:creationId xmlns:a16="http://schemas.microsoft.com/office/drawing/2014/main" id="{919FC8DA-88BC-48AB-A596-FBD1F6C8C35D}"/>
              </a:ext>
            </a:extLst>
          </p:cNvPr>
          <p:cNvSpPr>
            <a:spLocks xmlns:a="http://schemas.openxmlformats.org/drawingml/2006/main" noGrp="1"/>
          </p:cNvSpPr>
          <p:nvPr/>
        </p:nvSpPr>
        <p:spPr>
          <a:xfrm xmlns:a="http://schemas.openxmlformats.org/drawingml/2006/main">
            <a:off x="666750" y="1514475"/>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a:solidFill>
                  <a:srgbClr val="175F96"/>
                </a:solidFill>
                <a:latin typeface="Arial"/>
                <a:ea typeface="Arial"/>
                <a:cs typeface="Arial"/>
              </a:defRPr>
            </a:defPPr>
            <a:lvl1pPr>
              <a:defRPr sz="2400">
                <a:solidFill>
                  <a:srgbClr val="175F96"/>
                </a:solidFill>
                <a:latin typeface="Arial"/>
                <a:ea typeface="Arial"/>
                <a:cs typeface="Arial"/>
              </a:defRPr>
            </a:lvl1pPr>
            <a:lvl2pPr>
              <a:defRPr sz="2400">
                <a:solidFill>
                  <a:srgbClr val="175F96"/>
                </a:solidFill>
                <a:latin typeface="Arial"/>
                <a:ea typeface="Arial"/>
                <a:cs typeface="Arial"/>
              </a:defRPr>
            </a:lvl2pPr>
            <a:lvl3pPr>
              <a:defRPr sz="2400">
                <a:solidFill>
                  <a:srgbClr val="175F96"/>
                </a:solidFill>
                <a:latin typeface="Arial"/>
                <a:ea typeface="Arial"/>
                <a:cs typeface="Arial"/>
              </a:defRPr>
            </a:lvl3pPr>
            <a:lvl4pPr>
              <a:defRPr sz="2400">
                <a:solidFill>
                  <a:srgbClr val="175F96"/>
                </a:solidFill>
                <a:latin typeface="Arial"/>
                <a:ea typeface="Arial"/>
                <a:cs typeface="Arial"/>
              </a:defRPr>
            </a:lvl4pPr>
            <a:lvl5pPr>
              <a:defRPr sz="2400">
                <a:solidFill>
                  <a:srgbClr val="175F96"/>
                </a:solidFill>
                <a:latin typeface="Arial"/>
                <a:ea typeface="Arial"/>
                <a:cs typeface="Arial"/>
              </a:defRPr>
            </a:lvl5pPr>
            <a:lvl6pPr>
              <a:defRPr sz="2400">
                <a:solidFill>
                  <a:srgbClr val="175F96"/>
                </a:solidFill>
                <a:latin typeface="Arial"/>
                <a:ea typeface="Arial"/>
                <a:cs typeface="Arial"/>
              </a:defRPr>
            </a:lvl6pPr>
            <a:lvl7pPr>
              <a:defRPr sz="2400">
                <a:solidFill>
                  <a:srgbClr val="175F96"/>
                </a:solidFill>
                <a:latin typeface="Arial"/>
                <a:ea typeface="Arial"/>
                <a:cs typeface="Arial"/>
              </a:defRPr>
            </a:lvl7pPr>
            <a:lvl8pPr>
              <a:defRPr sz="2400">
                <a:solidFill>
                  <a:srgbClr val="175F96"/>
                </a:solidFill>
                <a:latin typeface="Arial"/>
                <a:ea typeface="Arial"/>
                <a:cs typeface="Arial"/>
              </a:defRPr>
            </a:lvl8pPr>
            <a:lvl9pPr>
              <a:defRPr sz="2400">
                <a:solidFill>
                  <a:srgbClr val="175F96"/>
                </a:solidFill>
                <a:latin typeface="Arial"/>
                <a:ea typeface="Arial"/>
                <a:cs typeface="Arial"/>
              </a:defRPr>
            </a:lvl9pPr>
          </a:lstStyle>
          <a:p xmlns:a="http://schemas.openxmlformats.org/drawingml/2006/main">
            <a:pPr>
              <a:defRPr sz="2400">
                <a:solidFill>
                  <a:srgbClr val="175F96"/>
                </a:solidFill>
                <a:latin typeface="Arial"/>
                <a:ea typeface="Arial"/>
                <a:cs typeface="Arial"/>
              </a:defRPr>
            </a:pPr>
            <a:r>
              <a:rPr sz="2400">
                <a:solidFill>
                  <a:srgbClr val="175F96"/>
                </a:solidFill>
                <a:latin typeface="Arial"/>
                <a:ea typeface="Arial"/>
                <a:cs typeface="Arial"/>
              </a:rPr>
              <a:t>T = third good check. U = min(T, C). C = run limit.</a:t>
            </a:r>
          </a:p>
        </p:txBody>
      </p:sp>
      <p:sp>
        <p:nvSpPr>
          <p:cNvPr id="5" name="">
            <a:extLst xmlns:a="http://schemas.openxmlformats.org/drawingml/2006/main">
              <a:ext uri="{FF2B5EF4-FFF2-40B4-BE49-F238E27FC236}">
                <a16:creationId xmlns:a16="http://schemas.microsoft.com/office/drawing/2014/main" id="{7793AB4D-22CF-4740-BF07-C3E2C9642829}"/>
              </a:ext>
            </a:extLst>
          </p:cNvPr>
          <p:cNvSpPr>
            <a:spLocks xmlns:a="http://schemas.openxmlformats.org/drawingml/2006/main" noGrp="1"/>
          </p:cNvSpPr>
          <p:nvPr/>
        </p:nvSpPr>
        <p:spPr>
          <a:xfrm xmlns:a="http://schemas.openxmlformats.org/drawingml/2006/main">
            <a:off x="666750" y="21145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72B3A"/>
                </a:solidFill>
                <a:latin typeface="Arial"/>
                <a:ea typeface="Arial"/>
                <a:cs typeface="Arial"/>
              </a:defRPr>
            </a:defPPr>
            <a:lvl1pPr>
              <a:defRPr sz="2025">
                <a:solidFill>
                  <a:srgbClr val="172B3A"/>
                </a:solidFill>
                <a:latin typeface="Arial"/>
                <a:ea typeface="Arial"/>
                <a:cs typeface="Arial"/>
              </a:defRPr>
            </a:lvl1pPr>
            <a:lvl2pPr>
              <a:defRPr sz="2025">
                <a:solidFill>
                  <a:srgbClr val="172B3A"/>
                </a:solidFill>
                <a:latin typeface="Arial"/>
                <a:ea typeface="Arial"/>
                <a:cs typeface="Arial"/>
              </a:defRPr>
            </a:lvl2pPr>
            <a:lvl3pPr>
              <a:defRPr sz="2025">
                <a:solidFill>
                  <a:srgbClr val="172B3A"/>
                </a:solidFill>
                <a:latin typeface="Arial"/>
                <a:ea typeface="Arial"/>
                <a:cs typeface="Arial"/>
              </a:defRPr>
            </a:lvl3pPr>
            <a:lvl4pPr>
              <a:defRPr sz="2025">
                <a:solidFill>
                  <a:srgbClr val="172B3A"/>
                </a:solidFill>
                <a:latin typeface="Arial"/>
                <a:ea typeface="Arial"/>
                <a:cs typeface="Arial"/>
              </a:defRPr>
            </a:lvl4pPr>
            <a:lvl5pPr>
              <a:defRPr sz="2025">
                <a:solidFill>
                  <a:srgbClr val="172B3A"/>
                </a:solidFill>
                <a:latin typeface="Arial"/>
                <a:ea typeface="Arial"/>
                <a:cs typeface="Arial"/>
              </a:defRPr>
            </a:lvl5pPr>
            <a:lvl6pPr>
              <a:defRPr sz="2025">
                <a:solidFill>
                  <a:srgbClr val="172B3A"/>
                </a:solidFill>
                <a:latin typeface="Arial"/>
                <a:ea typeface="Arial"/>
                <a:cs typeface="Arial"/>
              </a:defRPr>
            </a:lvl6pPr>
            <a:lvl7pPr>
              <a:defRPr sz="2025">
                <a:solidFill>
                  <a:srgbClr val="172B3A"/>
                </a:solidFill>
                <a:latin typeface="Arial"/>
                <a:ea typeface="Arial"/>
                <a:cs typeface="Arial"/>
              </a:defRPr>
            </a:lvl7pPr>
            <a:lvl8pPr>
              <a:defRPr sz="2025">
                <a:solidFill>
                  <a:srgbClr val="172B3A"/>
                </a:solidFill>
                <a:latin typeface="Arial"/>
                <a:ea typeface="Arial"/>
                <a:cs typeface="Arial"/>
              </a:defRPr>
            </a:lvl8pPr>
            <a:lvl9pPr>
              <a:defRPr sz="2025">
                <a:solidFill>
                  <a:srgbClr val="172B3A"/>
                </a:solidFill>
                <a:latin typeface="Arial"/>
                <a:ea typeface="Arial"/>
                <a:cs typeface="Arial"/>
              </a:defRPr>
            </a:lvl9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Good check: at least 99% practice accuracy and 95% new-question accuracy.</a:t>
            </a:r>
          </a:p>
        </p:txBody>
      </p:sp>
      <p:sp>
        <p:nvSpPr>
          <p:cNvPr id="6" name="">
            <a:extLst xmlns:a="http://schemas.openxmlformats.org/drawingml/2006/main">
              <a:ext uri="{FF2B5EF4-FFF2-40B4-BE49-F238E27FC236}">
                <a16:creationId xmlns:a16="http://schemas.microsoft.com/office/drawing/2014/main" id="{2055D538-3D02-479B-ABFD-12AD4CB52238}"/>
              </a:ext>
            </a:extLst>
          </p:cNvPr>
          <p:cNvSpPr>
            <a:spLocks xmlns:a="http://schemas.openxmlformats.org/drawingml/2006/main" noGrp="1"/>
          </p:cNvSpPr>
          <p:nvPr/>
        </p:nvSpPr>
        <p:spPr>
          <a:xfrm xmlns:a="http://schemas.openxmlformats.org/drawingml/2006/main">
            <a:off x="666750" y="29146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a:solidFill>
                  <a:srgbClr val="175F96"/>
                </a:solidFill>
                <a:latin typeface="Arial"/>
                <a:ea typeface="Arial"/>
                <a:cs typeface="Arial"/>
              </a:defRPr>
            </a:defPPr>
            <a:lvl1pPr>
              <a:defRPr sz="2700">
                <a:solidFill>
                  <a:srgbClr val="175F96"/>
                </a:solidFill>
                <a:latin typeface="Arial"/>
                <a:ea typeface="Arial"/>
                <a:cs typeface="Arial"/>
              </a:defRPr>
            </a:lvl1pPr>
            <a:lvl2pPr>
              <a:defRPr sz="2700">
                <a:solidFill>
                  <a:srgbClr val="175F96"/>
                </a:solidFill>
                <a:latin typeface="Arial"/>
                <a:ea typeface="Arial"/>
                <a:cs typeface="Arial"/>
              </a:defRPr>
            </a:lvl2pPr>
            <a:lvl3pPr>
              <a:defRPr sz="2700">
                <a:solidFill>
                  <a:srgbClr val="175F96"/>
                </a:solidFill>
                <a:latin typeface="Arial"/>
                <a:ea typeface="Arial"/>
                <a:cs typeface="Arial"/>
              </a:defRPr>
            </a:lvl3pPr>
            <a:lvl4pPr>
              <a:defRPr sz="2700">
                <a:solidFill>
                  <a:srgbClr val="175F96"/>
                </a:solidFill>
                <a:latin typeface="Arial"/>
                <a:ea typeface="Arial"/>
                <a:cs typeface="Arial"/>
              </a:defRPr>
            </a:lvl4pPr>
            <a:lvl5pPr>
              <a:defRPr sz="2700">
                <a:solidFill>
                  <a:srgbClr val="175F96"/>
                </a:solidFill>
                <a:latin typeface="Arial"/>
                <a:ea typeface="Arial"/>
                <a:cs typeface="Arial"/>
              </a:defRPr>
            </a:lvl5pPr>
            <a:lvl6pPr>
              <a:defRPr sz="2700">
                <a:solidFill>
                  <a:srgbClr val="175F96"/>
                </a:solidFill>
                <a:latin typeface="Arial"/>
                <a:ea typeface="Arial"/>
                <a:cs typeface="Arial"/>
              </a:defRPr>
            </a:lvl6pPr>
            <a:lvl7pPr>
              <a:defRPr sz="2700">
                <a:solidFill>
                  <a:srgbClr val="175F96"/>
                </a:solidFill>
                <a:latin typeface="Arial"/>
                <a:ea typeface="Arial"/>
                <a:cs typeface="Arial"/>
              </a:defRPr>
            </a:lvl7pPr>
            <a:lvl8pPr>
              <a:defRPr sz="2700">
                <a:solidFill>
                  <a:srgbClr val="175F96"/>
                </a:solidFill>
                <a:latin typeface="Arial"/>
                <a:ea typeface="Arial"/>
                <a:cs typeface="Arial"/>
              </a:defRPr>
            </a:lvl8pPr>
            <a:lvl9pPr>
              <a:defRPr sz="2700">
                <a:solidFill>
                  <a:srgbClr val="175F96"/>
                </a:solidFill>
                <a:latin typeface="Arial"/>
                <a:ea typeface="Arial"/>
                <a:cs typeface="Arial"/>
              </a:defRPr>
            </a:lvl9pPr>
          </a:lstStyle>
          <a:p xmlns:a="http://schemas.openxmlformats.org/drawingml/2006/main">
            <a:pPr>
              <a:defRPr sz="2700">
                <a:solidFill>
                  <a:srgbClr val="175F96"/>
                </a:solidFill>
                <a:latin typeface="Arial"/>
                <a:ea typeface="Arial"/>
                <a:cs typeface="Arial"/>
              </a:defRPr>
            </a:pPr>
            <a:r>
              <a:rPr sz="2700">
                <a:solidFill>
                  <a:srgbClr val="175F96"/>
                </a:solidFill>
                <a:latin typeface="Arial"/>
                <a:ea typeface="Arial"/>
                <a:cs typeface="Arial"/>
              </a:rPr>
              <a:t>P(at least one success) = 1 − [1 − F(B/k)]ᵏ</a:t>
            </a:r>
          </a:p>
        </p:txBody>
      </p:sp>
      <p:sp>
        <p:nvSpPr>
          <p:cNvPr id="7" name="">
            <a:extLst xmlns:a="http://schemas.openxmlformats.org/drawingml/2006/main">
              <a:ext uri="{FF2B5EF4-FFF2-40B4-BE49-F238E27FC236}">
                <a16:creationId xmlns:a16="http://schemas.microsoft.com/office/drawing/2014/main" id="{335B0286-6FDE-4666-BE9D-C373926CD836}"/>
              </a:ext>
            </a:extLst>
          </p:cNvPr>
          <p:cNvSpPr>
            <a:spLocks xmlns:a="http://schemas.openxmlformats.org/drawingml/2006/main" noGrp="1"/>
          </p:cNvSpPr>
          <p:nvPr/>
        </p:nvSpPr>
        <p:spPr>
          <a:xfrm xmlns:a="http://schemas.openxmlformats.org/drawingml/2006/main">
            <a:off x="666750" y="370522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72B3A"/>
                </a:solidFill>
                <a:latin typeface="Arial"/>
                <a:ea typeface="Arial"/>
                <a:cs typeface="Arial"/>
              </a:defRPr>
            </a:defPPr>
            <a:lvl1pPr>
              <a:defRPr sz="2025">
                <a:solidFill>
                  <a:srgbClr val="172B3A"/>
                </a:solidFill>
                <a:latin typeface="Arial"/>
                <a:ea typeface="Arial"/>
                <a:cs typeface="Arial"/>
              </a:defRPr>
            </a:lvl1pPr>
            <a:lvl2pPr>
              <a:defRPr sz="2025">
                <a:solidFill>
                  <a:srgbClr val="172B3A"/>
                </a:solidFill>
                <a:latin typeface="Arial"/>
                <a:ea typeface="Arial"/>
                <a:cs typeface="Arial"/>
              </a:defRPr>
            </a:lvl2pPr>
            <a:lvl3pPr>
              <a:defRPr sz="2025">
                <a:solidFill>
                  <a:srgbClr val="172B3A"/>
                </a:solidFill>
                <a:latin typeface="Arial"/>
                <a:ea typeface="Arial"/>
                <a:cs typeface="Arial"/>
              </a:defRPr>
            </a:lvl3pPr>
            <a:lvl4pPr>
              <a:defRPr sz="2025">
                <a:solidFill>
                  <a:srgbClr val="172B3A"/>
                </a:solidFill>
                <a:latin typeface="Arial"/>
                <a:ea typeface="Arial"/>
                <a:cs typeface="Arial"/>
              </a:defRPr>
            </a:lvl4pPr>
            <a:lvl5pPr>
              <a:defRPr sz="2025">
                <a:solidFill>
                  <a:srgbClr val="172B3A"/>
                </a:solidFill>
                <a:latin typeface="Arial"/>
                <a:ea typeface="Arial"/>
                <a:cs typeface="Arial"/>
              </a:defRPr>
            </a:lvl5pPr>
            <a:lvl6pPr>
              <a:defRPr sz="2025">
                <a:solidFill>
                  <a:srgbClr val="172B3A"/>
                </a:solidFill>
                <a:latin typeface="Arial"/>
                <a:ea typeface="Arial"/>
                <a:cs typeface="Arial"/>
              </a:defRPr>
            </a:lvl6pPr>
            <a:lvl7pPr>
              <a:defRPr sz="2025">
                <a:solidFill>
                  <a:srgbClr val="172B3A"/>
                </a:solidFill>
                <a:latin typeface="Arial"/>
                <a:ea typeface="Arial"/>
                <a:cs typeface="Arial"/>
              </a:defRPr>
            </a:lvl7pPr>
            <a:lvl8pPr>
              <a:defRPr sz="2025">
                <a:solidFill>
                  <a:srgbClr val="172B3A"/>
                </a:solidFill>
                <a:latin typeface="Arial"/>
                <a:ea typeface="Arial"/>
                <a:cs typeface="Arial"/>
              </a:defRPr>
            </a:lvl8pPr>
            <a:lvl9pPr>
              <a:defRPr sz="2025">
                <a:solidFill>
                  <a:srgbClr val="172B3A"/>
                </a:solidFill>
                <a:latin typeface="Arial"/>
                <a:ea typeface="Arial"/>
                <a:cs typeface="Arial"/>
              </a:defRPr>
            </a:lvl9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B = total steps. k = starts. F(t) = chance one run succeeds by t.</a:t>
            </a:r>
          </a:p>
        </p:txBody>
      </p:sp>
      <p:sp>
        <p:nvSpPr>
          <p:cNvPr id="8" name="">
            <a:extLst xmlns:a="http://schemas.openxmlformats.org/drawingml/2006/main">
              <a:ext uri="{FF2B5EF4-FFF2-40B4-BE49-F238E27FC236}">
                <a16:creationId xmlns:a16="http://schemas.microsoft.com/office/drawing/2014/main" id="{99D64547-C34E-47F6-8A5A-F9AD2E0BE26B}"/>
              </a:ext>
            </a:extLst>
          </p:cNvPr>
          <p:cNvSpPr>
            <a:spLocks xmlns:a="http://schemas.openxmlformats.org/drawingml/2006/main" noGrp="1"/>
          </p:cNvSpPr>
          <p:nvPr/>
        </p:nvSpPr>
        <p:spPr>
          <a:xfrm xmlns:a="http://schemas.openxmlformats.org/drawingml/2006/main">
            <a:off x="666750" y="4486275"/>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72B3A"/>
                </a:solidFill>
                <a:latin typeface="Arial"/>
                <a:ea typeface="Arial"/>
                <a:cs typeface="Arial"/>
              </a:defRPr>
            </a:defPPr>
            <a:lvl1pPr>
              <a:defRPr sz="2025">
                <a:solidFill>
                  <a:srgbClr val="172B3A"/>
                </a:solidFill>
                <a:latin typeface="Arial"/>
                <a:ea typeface="Arial"/>
                <a:cs typeface="Arial"/>
              </a:defRPr>
            </a:lvl1pPr>
            <a:lvl2pPr>
              <a:defRPr sz="2025">
                <a:solidFill>
                  <a:srgbClr val="172B3A"/>
                </a:solidFill>
                <a:latin typeface="Arial"/>
                <a:ea typeface="Arial"/>
                <a:cs typeface="Arial"/>
              </a:defRPr>
            </a:lvl2pPr>
            <a:lvl3pPr>
              <a:defRPr sz="2025">
                <a:solidFill>
                  <a:srgbClr val="172B3A"/>
                </a:solidFill>
                <a:latin typeface="Arial"/>
                <a:ea typeface="Arial"/>
                <a:cs typeface="Arial"/>
              </a:defRPr>
            </a:lvl3pPr>
            <a:lvl4pPr>
              <a:defRPr sz="2025">
                <a:solidFill>
                  <a:srgbClr val="172B3A"/>
                </a:solidFill>
                <a:latin typeface="Arial"/>
                <a:ea typeface="Arial"/>
                <a:cs typeface="Arial"/>
              </a:defRPr>
            </a:lvl4pPr>
            <a:lvl5pPr>
              <a:defRPr sz="2025">
                <a:solidFill>
                  <a:srgbClr val="172B3A"/>
                </a:solidFill>
                <a:latin typeface="Arial"/>
                <a:ea typeface="Arial"/>
                <a:cs typeface="Arial"/>
              </a:defRPr>
            </a:lvl5pPr>
            <a:lvl6pPr>
              <a:defRPr sz="2025">
                <a:solidFill>
                  <a:srgbClr val="172B3A"/>
                </a:solidFill>
                <a:latin typeface="Arial"/>
                <a:ea typeface="Arial"/>
                <a:cs typeface="Arial"/>
              </a:defRPr>
            </a:lvl6pPr>
            <a:lvl7pPr>
              <a:defRPr sz="2025">
                <a:solidFill>
                  <a:srgbClr val="172B3A"/>
                </a:solidFill>
                <a:latin typeface="Arial"/>
                <a:ea typeface="Arial"/>
                <a:cs typeface="Arial"/>
              </a:defRPr>
            </a:lvl7pPr>
            <a:lvl8pPr>
              <a:defRPr sz="2025">
                <a:solidFill>
                  <a:srgbClr val="172B3A"/>
                </a:solidFill>
                <a:latin typeface="Arial"/>
                <a:ea typeface="Arial"/>
                <a:cs typeface="Arial"/>
              </a:defRPr>
            </a:lvl8pPr>
            <a:lvl9pPr>
              <a:defRPr sz="2025">
                <a:solidFill>
                  <a:srgbClr val="172B3A"/>
                </a:solidFill>
                <a:latin typeface="Arial"/>
                <a:ea typeface="Arial"/>
                <a:cs typeface="Arial"/>
              </a:defRPr>
            </a:lvl9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Bernoulli / binomial: yes-or-no attempts and success counts.</a:t>
            </a:r>
          </a:p>
        </p:txBody>
      </p:sp>
      <p:sp>
        <p:nvSpPr>
          <p:cNvPr id="9" name="">
            <a:extLst xmlns:a="http://schemas.openxmlformats.org/drawingml/2006/main">
              <a:ext uri="{FF2B5EF4-FFF2-40B4-BE49-F238E27FC236}">
                <a16:creationId xmlns:a16="http://schemas.microsoft.com/office/drawing/2014/main" id="{177ED2AD-26AA-4686-8E73-3ED8277E9573}"/>
              </a:ext>
            </a:extLst>
          </p:cNvPr>
          <p:cNvSpPr>
            <a:spLocks xmlns:a="http://schemas.openxmlformats.org/drawingml/2006/main" noGrp="1"/>
          </p:cNvSpPr>
          <p:nvPr/>
        </p:nvSpPr>
        <p:spPr>
          <a:xfrm xmlns:a="http://schemas.openxmlformats.org/drawingml/2006/main">
            <a:off x="666750" y="5038725"/>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72B3A"/>
                </a:solidFill>
                <a:latin typeface="Arial"/>
                <a:ea typeface="Arial"/>
                <a:cs typeface="Arial"/>
              </a:defRPr>
            </a:defPPr>
            <a:lvl1pPr>
              <a:defRPr sz="2025">
                <a:solidFill>
                  <a:srgbClr val="172B3A"/>
                </a:solidFill>
                <a:latin typeface="Arial"/>
                <a:ea typeface="Arial"/>
                <a:cs typeface="Arial"/>
              </a:defRPr>
            </a:lvl1pPr>
            <a:lvl2pPr>
              <a:defRPr sz="2025">
                <a:solidFill>
                  <a:srgbClr val="172B3A"/>
                </a:solidFill>
                <a:latin typeface="Arial"/>
                <a:ea typeface="Arial"/>
                <a:cs typeface="Arial"/>
              </a:defRPr>
            </a:lvl2pPr>
            <a:lvl3pPr>
              <a:defRPr sz="2025">
                <a:solidFill>
                  <a:srgbClr val="172B3A"/>
                </a:solidFill>
                <a:latin typeface="Arial"/>
                <a:ea typeface="Arial"/>
                <a:cs typeface="Arial"/>
              </a:defRPr>
            </a:lvl3pPr>
            <a:lvl4pPr>
              <a:defRPr sz="2025">
                <a:solidFill>
                  <a:srgbClr val="172B3A"/>
                </a:solidFill>
                <a:latin typeface="Arial"/>
                <a:ea typeface="Arial"/>
                <a:cs typeface="Arial"/>
              </a:defRPr>
            </a:lvl4pPr>
            <a:lvl5pPr>
              <a:defRPr sz="2025">
                <a:solidFill>
                  <a:srgbClr val="172B3A"/>
                </a:solidFill>
                <a:latin typeface="Arial"/>
                <a:ea typeface="Arial"/>
                <a:cs typeface="Arial"/>
              </a:defRPr>
            </a:lvl5pPr>
            <a:lvl6pPr>
              <a:defRPr sz="2025">
                <a:solidFill>
                  <a:srgbClr val="172B3A"/>
                </a:solidFill>
                <a:latin typeface="Arial"/>
                <a:ea typeface="Arial"/>
                <a:cs typeface="Arial"/>
              </a:defRPr>
            </a:lvl6pPr>
            <a:lvl7pPr>
              <a:defRPr sz="2025">
                <a:solidFill>
                  <a:srgbClr val="172B3A"/>
                </a:solidFill>
                <a:latin typeface="Arial"/>
                <a:ea typeface="Arial"/>
                <a:cs typeface="Arial"/>
              </a:defRPr>
            </a:lvl7pPr>
            <a:lvl8pPr>
              <a:defRPr sz="2025">
                <a:solidFill>
                  <a:srgbClr val="172B3A"/>
                </a:solidFill>
                <a:latin typeface="Arial"/>
                <a:ea typeface="Arial"/>
                <a:cs typeface="Arial"/>
              </a:defRPr>
            </a:lvl8pPr>
            <a:lvl9pPr>
              <a:defRPr sz="2025">
                <a:solidFill>
                  <a:srgbClr val="172B3A"/>
                </a:solidFill>
                <a:latin typeface="Arial"/>
                <a:ea typeface="Arial"/>
                <a:cs typeface="Arial"/>
              </a:defRPr>
            </a:lvl9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Exact 95% intervals describe uncertainty.</a:t>
            </a:r>
          </a:p>
        </p:txBody>
      </p:sp>
      <p:sp>
        <p:nvSpPr>
          <p:cNvPr id="10" name="">
            <a:extLst xmlns:a="http://schemas.openxmlformats.org/drawingml/2006/main">
              <a:ext uri="{FF2B5EF4-FFF2-40B4-BE49-F238E27FC236}">
                <a16:creationId xmlns:a16="http://schemas.microsoft.com/office/drawing/2014/main" id="{06D233D8-5C0A-4AB0-B1F0-58E410024387}"/>
              </a:ext>
            </a:extLst>
          </p:cNvPr>
          <p:cNvSpPr>
            <a:spLocks xmlns:a="http://schemas.openxmlformats.org/drawingml/2006/main" noGrp="1"/>
          </p:cNvSpPr>
          <p:nvPr/>
        </p:nvSpPr>
        <p:spPr>
          <a:xfrm xmlns:a="http://schemas.openxmlformats.org/drawingml/2006/main">
            <a:off x="666750" y="5591175"/>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72B3A"/>
                </a:solidFill>
                <a:latin typeface="Arial"/>
                <a:ea typeface="Arial"/>
                <a:cs typeface="Arial"/>
              </a:defRPr>
            </a:defPPr>
            <a:lvl1pPr>
              <a:defRPr sz="2025">
                <a:solidFill>
                  <a:srgbClr val="172B3A"/>
                </a:solidFill>
                <a:latin typeface="Arial"/>
                <a:ea typeface="Arial"/>
                <a:cs typeface="Arial"/>
              </a:defRPr>
            </a:lvl1pPr>
            <a:lvl2pPr>
              <a:defRPr sz="2025">
                <a:solidFill>
                  <a:srgbClr val="172B3A"/>
                </a:solidFill>
                <a:latin typeface="Arial"/>
                <a:ea typeface="Arial"/>
                <a:cs typeface="Arial"/>
              </a:defRPr>
            </a:lvl2pPr>
            <a:lvl3pPr>
              <a:defRPr sz="2025">
                <a:solidFill>
                  <a:srgbClr val="172B3A"/>
                </a:solidFill>
                <a:latin typeface="Arial"/>
                <a:ea typeface="Arial"/>
                <a:cs typeface="Arial"/>
              </a:defRPr>
            </a:lvl3pPr>
            <a:lvl4pPr>
              <a:defRPr sz="2025">
                <a:solidFill>
                  <a:srgbClr val="172B3A"/>
                </a:solidFill>
                <a:latin typeface="Arial"/>
                <a:ea typeface="Arial"/>
                <a:cs typeface="Arial"/>
              </a:defRPr>
            </a:lvl4pPr>
            <a:lvl5pPr>
              <a:defRPr sz="2025">
                <a:solidFill>
                  <a:srgbClr val="172B3A"/>
                </a:solidFill>
                <a:latin typeface="Arial"/>
                <a:ea typeface="Arial"/>
                <a:cs typeface="Arial"/>
              </a:defRPr>
            </a:lvl5pPr>
            <a:lvl6pPr>
              <a:defRPr sz="2025">
                <a:solidFill>
                  <a:srgbClr val="172B3A"/>
                </a:solidFill>
                <a:latin typeface="Arial"/>
                <a:ea typeface="Arial"/>
                <a:cs typeface="Arial"/>
              </a:defRPr>
            </a:lvl6pPr>
            <a:lvl7pPr>
              <a:defRPr sz="2025">
                <a:solidFill>
                  <a:srgbClr val="172B3A"/>
                </a:solidFill>
                <a:latin typeface="Arial"/>
                <a:ea typeface="Arial"/>
                <a:cs typeface="Arial"/>
              </a:defRPr>
            </a:lvl7pPr>
            <a:lvl8pPr>
              <a:defRPr sz="2025">
                <a:solidFill>
                  <a:srgbClr val="172B3A"/>
                </a:solidFill>
                <a:latin typeface="Arial"/>
                <a:ea typeface="Arial"/>
                <a:cs typeface="Arial"/>
              </a:defRPr>
            </a:lvl8pPr>
            <a:lvl9pPr>
              <a:defRPr sz="2025">
                <a:solidFill>
                  <a:srgbClr val="172B3A"/>
                </a:solidFill>
                <a:latin typeface="Arial"/>
                <a:ea typeface="Arial"/>
                <a:cs typeface="Arial"/>
              </a:defRPr>
            </a:lvl9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Twelve Fisher tests with Holm correction compare the policies.</a:t>
            </a:r>
          </a:p>
        </p:txBody>
      </p:sp>
    </p:spTree>
    <p:extLst>
      <p:ext uri="{BB962C8B-B14F-4D97-AF65-F5344CB8AC3E}">
        <p14:creationId xmlns:p14="http://schemas.microsoft.com/office/powerpoint/2010/main" val="10205506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05FA54E-FC1B-4B52-8BD8-2CAF614E621E}"/>
              </a:ext>
            </a:extLst>
          </p:cNvPr>
          <p:cNvSpPr>
            <a:spLocks xmlns:a="http://schemas.openxmlformats.org/drawingml/2006/main" noGrp="1"/>
          </p:cNvSpPr>
          <p:nvPr/>
        </p:nvSpPr>
        <p:spPr>
          <a:xfrm xmlns:a="http://schemas.openxmlformats.org/drawingml/2006/main">
            <a:off x="666750" y="4095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B3A"/>
                </a:solidFill>
                <a:latin typeface="Arial"/>
                <a:ea typeface="Arial"/>
                <a:cs typeface="Arial"/>
              </a:defRPr>
            </a:defPPr>
            <a:lvl1pPr>
              <a:defRPr sz="3150" b="1">
                <a:solidFill>
                  <a:srgbClr val="172B3A"/>
                </a:solidFill>
                <a:latin typeface="Arial"/>
                <a:ea typeface="Arial"/>
                <a:cs typeface="Arial"/>
              </a:defRPr>
            </a:lvl1pPr>
            <a:lvl2pPr>
              <a:defRPr sz="3150" b="1">
                <a:solidFill>
                  <a:srgbClr val="172B3A"/>
                </a:solidFill>
                <a:latin typeface="Arial"/>
                <a:ea typeface="Arial"/>
                <a:cs typeface="Arial"/>
              </a:defRPr>
            </a:lvl2pPr>
            <a:lvl3pPr>
              <a:defRPr sz="3150" b="1">
                <a:solidFill>
                  <a:srgbClr val="172B3A"/>
                </a:solidFill>
                <a:latin typeface="Arial"/>
                <a:ea typeface="Arial"/>
                <a:cs typeface="Arial"/>
              </a:defRPr>
            </a:lvl3pPr>
            <a:lvl4pPr>
              <a:defRPr sz="3150" b="1">
                <a:solidFill>
                  <a:srgbClr val="172B3A"/>
                </a:solidFill>
                <a:latin typeface="Arial"/>
                <a:ea typeface="Arial"/>
                <a:cs typeface="Arial"/>
              </a:defRPr>
            </a:lvl4pPr>
            <a:lvl5pPr>
              <a:defRPr sz="3150" b="1">
                <a:solidFill>
                  <a:srgbClr val="172B3A"/>
                </a:solidFill>
                <a:latin typeface="Arial"/>
                <a:ea typeface="Arial"/>
                <a:cs typeface="Arial"/>
              </a:defRPr>
            </a:lvl5pPr>
            <a:lvl6pPr>
              <a:defRPr sz="3150" b="1">
                <a:solidFill>
                  <a:srgbClr val="172B3A"/>
                </a:solidFill>
                <a:latin typeface="Arial"/>
                <a:ea typeface="Arial"/>
                <a:cs typeface="Arial"/>
              </a:defRPr>
            </a:lvl6pPr>
            <a:lvl7pPr>
              <a:defRPr sz="3150" b="1">
                <a:solidFill>
                  <a:srgbClr val="172B3A"/>
                </a:solidFill>
                <a:latin typeface="Arial"/>
                <a:ea typeface="Arial"/>
                <a:cs typeface="Arial"/>
              </a:defRPr>
            </a:lvl7pPr>
            <a:lvl8pPr>
              <a:defRPr sz="3150" b="1">
                <a:solidFill>
                  <a:srgbClr val="172B3A"/>
                </a:solidFill>
                <a:latin typeface="Arial"/>
                <a:ea typeface="Arial"/>
                <a:cs typeface="Arial"/>
              </a:defRPr>
            </a:lvl8pPr>
            <a:lvl9pPr>
              <a:defRPr sz="3150" b="1">
                <a:solidFill>
                  <a:srgbClr val="172B3A"/>
                </a:solidFill>
                <a:latin typeface="Arial"/>
                <a:ea typeface="Arial"/>
                <a:cs typeface="Arial"/>
              </a:defRPr>
            </a:lvl9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Practice improves before new-question accuracy</a:t>
            </a:r>
          </a:p>
        </p:txBody>
      </p:sp>
      <p:sp>
        <p:nvSpPr>
          <p:cNvPr id="3" name="">
            <a:extLst xmlns:a="http://schemas.openxmlformats.org/drawingml/2006/main">
              <a:ext uri="{FF2B5EF4-FFF2-40B4-BE49-F238E27FC236}">
                <a16:creationId xmlns:a16="http://schemas.microsoft.com/office/drawing/2014/main" id="{17389A92-C0F6-4E43-9942-73A96FD9FDA4}"/>
              </a:ext>
            </a:extLst>
          </p:cNvPr>
          <p:cNvSpPr>
            <a:spLocks xmlns:a="http://schemas.openxmlformats.org/drawingml/2006/main" noGrp="1"/>
          </p:cNvSpPr>
          <p:nvPr/>
        </p:nvSpPr>
        <p:spPr>
          <a:xfrm xmlns:a="http://schemas.openxmlformats.org/drawingml/2006/main">
            <a:off x="666750" y="647700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a:solidFill>
                  <a:srgbClr val="637E8E"/>
                </a:solidFill>
                <a:latin typeface="Arial"/>
                <a:ea typeface="Arial"/>
                <a:cs typeface="Arial"/>
              </a:defRPr>
            </a:defPPr>
            <a:lvl1pPr>
              <a:defRPr sz="1350">
                <a:solidFill>
                  <a:srgbClr val="637E8E"/>
                </a:solidFill>
                <a:latin typeface="Arial"/>
                <a:ea typeface="Arial"/>
                <a:cs typeface="Arial"/>
              </a:defRPr>
            </a:lvl1pPr>
            <a:lvl2pPr>
              <a:defRPr sz="1350">
                <a:solidFill>
                  <a:srgbClr val="637E8E"/>
                </a:solidFill>
                <a:latin typeface="Arial"/>
                <a:ea typeface="Arial"/>
                <a:cs typeface="Arial"/>
              </a:defRPr>
            </a:lvl2pPr>
            <a:lvl3pPr>
              <a:defRPr sz="1350">
                <a:solidFill>
                  <a:srgbClr val="637E8E"/>
                </a:solidFill>
                <a:latin typeface="Arial"/>
                <a:ea typeface="Arial"/>
                <a:cs typeface="Arial"/>
              </a:defRPr>
            </a:lvl3pPr>
            <a:lvl4pPr>
              <a:defRPr sz="1350">
                <a:solidFill>
                  <a:srgbClr val="637E8E"/>
                </a:solidFill>
                <a:latin typeface="Arial"/>
                <a:ea typeface="Arial"/>
                <a:cs typeface="Arial"/>
              </a:defRPr>
            </a:lvl4pPr>
            <a:lvl5pPr>
              <a:defRPr sz="1350">
                <a:solidFill>
                  <a:srgbClr val="637E8E"/>
                </a:solidFill>
                <a:latin typeface="Arial"/>
                <a:ea typeface="Arial"/>
                <a:cs typeface="Arial"/>
              </a:defRPr>
            </a:lvl5pPr>
            <a:lvl6pPr>
              <a:defRPr sz="1350">
                <a:solidFill>
                  <a:srgbClr val="637E8E"/>
                </a:solidFill>
                <a:latin typeface="Arial"/>
                <a:ea typeface="Arial"/>
                <a:cs typeface="Arial"/>
              </a:defRPr>
            </a:lvl6pPr>
            <a:lvl7pPr>
              <a:defRPr sz="1350">
                <a:solidFill>
                  <a:srgbClr val="637E8E"/>
                </a:solidFill>
                <a:latin typeface="Arial"/>
                <a:ea typeface="Arial"/>
                <a:cs typeface="Arial"/>
              </a:defRPr>
            </a:lvl7pPr>
            <a:lvl8pPr>
              <a:defRPr sz="1350">
                <a:solidFill>
                  <a:srgbClr val="637E8E"/>
                </a:solidFill>
                <a:latin typeface="Arial"/>
                <a:ea typeface="Arial"/>
                <a:cs typeface="Arial"/>
              </a:defRPr>
            </a:lvl8pPr>
            <a:lvl9pPr>
              <a:defRPr sz="1350">
                <a:solidFill>
                  <a:srgbClr val="637E8E"/>
                </a:solidFill>
                <a:latin typeface="Arial"/>
                <a:ea typeface="Arial"/>
                <a:cs typeface="Arial"/>
              </a:defRPr>
            </a:lvl9pPr>
          </a:lstStyle>
          <a:p xmlns:a="http://schemas.openxmlformats.org/drawingml/2006/main">
            <a:pPr>
              <a:defRPr sz="1350">
                <a:solidFill>
                  <a:srgbClr val="637E8E"/>
                </a:solidFill>
                <a:latin typeface="Arial"/>
                <a:ea typeface="Arial"/>
                <a:cs typeface="Arial"/>
              </a:defRPr>
            </a:pPr>
            <a:r>
              <a:rPr sz="1350">
                <a:solidFill>
                  <a:srgbClr val="637E8E"/>
                </a:solidFill>
                <a:latin typeface="Arial"/>
                <a:ea typeface="Arial"/>
                <a:cs typeface="Arial"/>
              </a:rPr>
              <a:t>Assessment 10  /  6</a:t>
            </a:r>
          </a:p>
        </p:txBody>
      </p:sp>
      <p:graphicFrame>
        <p:nvGraphicFramePr>
          <p:cNvPr id="4" name="Chart">
            <a:extLst xmlns:a="http://schemas.openxmlformats.org/drawingml/2006/main">
              <a:ext uri="{FF2B5EF4-FFF2-40B4-BE49-F238E27FC236}">
                <a16:creationId xmlns:a16="http://schemas.microsoft.com/office/drawing/2014/main" id="{16ABE232-A05D-4A12-B5D7-151A7D77CFCB}"/>
              </a:ext>
            </a:extLst>
          </p:cNvPr>
          <p:cNvGraphicFramePr/>
          <p:nvPr/>
        </p:nvGraphicFramePr>
        <p:xfrm>
          <a:off xmlns:a="http://schemas.openxmlformats.org/drawingml/2006/main" x="428625" y="1495425"/>
          <a:ext xmlns:a="http://schemas.openxmlformats.org/drawingml/2006/main" cx="11239500" cy="4048125"/>
        </p:xfrm>
        <a:graphic xmlns:a="http://schemas.openxmlformats.org/drawingml/2006/main">
          <a:graphicData uri="http://schemas.openxmlformats.org/drawingml/2006/chart">
            <c:chart xmlns:r="http://schemas.openxmlformats.org/officeDocument/2006/relationships" xmlns:c="http://schemas.openxmlformats.org/drawingml/2006/chart" r:id="Rcddfd0791f58485d"/>
          </a:graphicData>
        </a:graphic>
      </p:graphicFrame>
      <p:sp>
        <p:nvSpPr>
          <p:cNvPr id="5" name="">
            <a:extLst xmlns:a="http://schemas.openxmlformats.org/drawingml/2006/main">
              <a:ext uri="{FF2B5EF4-FFF2-40B4-BE49-F238E27FC236}">
                <a16:creationId xmlns:a16="http://schemas.microsoft.com/office/drawing/2014/main" id="{8C91E091-53E1-4676-ACAF-BECA256D9CC1}"/>
              </a:ext>
            </a:extLst>
          </p:cNvPr>
          <p:cNvSpPr>
            <a:spLocks xmlns:a="http://schemas.openxmlformats.org/drawingml/2006/main" noGrp="1"/>
          </p:cNvSpPr>
          <p:nvPr/>
        </p:nvSpPr>
        <p:spPr>
          <a:xfrm xmlns:a="http://schemas.openxmlformats.org/drawingml/2006/main">
            <a:off x="666750" y="582930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a:solidFill>
                  <a:srgbClr val="175F96"/>
                </a:solidFill>
                <a:latin typeface="Arial"/>
                <a:ea typeface="Arial"/>
                <a:cs typeface="Arial"/>
              </a:defRPr>
            </a:defPPr>
            <a:lvl1pPr>
              <a:defRPr sz="2100">
                <a:solidFill>
                  <a:srgbClr val="175F96"/>
                </a:solidFill>
                <a:latin typeface="Arial"/>
                <a:ea typeface="Arial"/>
                <a:cs typeface="Arial"/>
              </a:defRPr>
            </a:lvl1pPr>
            <a:lvl2pPr>
              <a:defRPr sz="2100">
                <a:solidFill>
                  <a:srgbClr val="175F96"/>
                </a:solidFill>
                <a:latin typeface="Arial"/>
                <a:ea typeface="Arial"/>
                <a:cs typeface="Arial"/>
              </a:defRPr>
            </a:lvl2pPr>
            <a:lvl3pPr>
              <a:defRPr sz="2100">
                <a:solidFill>
                  <a:srgbClr val="175F96"/>
                </a:solidFill>
                <a:latin typeface="Arial"/>
                <a:ea typeface="Arial"/>
                <a:cs typeface="Arial"/>
              </a:defRPr>
            </a:lvl3pPr>
            <a:lvl4pPr>
              <a:defRPr sz="2100">
                <a:solidFill>
                  <a:srgbClr val="175F96"/>
                </a:solidFill>
                <a:latin typeface="Arial"/>
                <a:ea typeface="Arial"/>
                <a:cs typeface="Arial"/>
              </a:defRPr>
            </a:lvl4pPr>
            <a:lvl5pPr>
              <a:defRPr sz="2100">
                <a:solidFill>
                  <a:srgbClr val="175F96"/>
                </a:solidFill>
                <a:latin typeface="Arial"/>
                <a:ea typeface="Arial"/>
                <a:cs typeface="Arial"/>
              </a:defRPr>
            </a:lvl5pPr>
            <a:lvl6pPr>
              <a:defRPr sz="2100">
                <a:solidFill>
                  <a:srgbClr val="175F96"/>
                </a:solidFill>
                <a:latin typeface="Arial"/>
                <a:ea typeface="Arial"/>
                <a:cs typeface="Arial"/>
              </a:defRPr>
            </a:lvl6pPr>
            <a:lvl7pPr>
              <a:defRPr sz="2100">
                <a:solidFill>
                  <a:srgbClr val="175F96"/>
                </a:solidFill>
                <a:latin typeface="Arial"/>
                <a:ea typeface="Arial"/>
                <a:cs typeface="Arial"/>
              </a:defRPr>
            </a:lvl7pPr>
            <a:lvl8pPr>
              <a:defRPr sz="2100">
                <a:solidFill>
                  <a:srgbClr val="175F96"/>
                </a:solidFill>
                <a:latin typeface="Arial"/>
                <a:ea typeface="Arial"/>
                <a:cs typeface="Arial"/>
              </a:defRPr>
            </a:lvl8pPr>
            <a:lvl9pPr>
              <a:defRPr sz="2100">
                <a:solidFill>
                  <a:srgbClr val="175F96"/>
                </a:solidFill>
                <a:latin typeface="Arial"/>
                <a:ea typeface="Arial"/>
                <a:cs typeface="Arial"/>
              </a:defRPr>
            </a:lvl9pPr>
          </a:lstStyle>
          <a:p xmlns:a="http://schemas.openxmlformats.org/drawingml/2006/main">
            <a:pPr>
              <a:defRPr sz="2100">
                <a:solidFill>
                  <a:srgbClr val="175F96"/>
                </a:solidFill>
                <a:latin typeface="Arial"/>
                <a:ea typeface="Arial"/>
                <a:cs typeface="Arial"/>
              </a:defRPr>
            </a:pPr>
            <a:r>
              <a:rPr sz="2100">
                <a:solidFill>
                  <a:srgbClr val="175F96"/>
                </a:solidFill>
                <a:latin typeface="Arial"/>
                <a:ea typeface="Arial"/>
                <a:cs typeface="Arial"/>
              </a:rPr>
              <a:t>Original-split mean: 5,347 updates. Median: 4,375. SD: 4,610 (n = 30).</a:t>
            </a:r>
          </a:p>
        </p:txBody>
      </p:sp>
    </p:spTree>
    <p:extLst>
      <p:ext uri="{BB962C8B-B14F-4D97-AF65-F5344CB8AC3E}">
        <p14:creationId xmlns:p14="http://schemas.microsoft.com/office/powerpoint/2010/main" val="2901000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EAF2E09-E487-4B29-943A-9631E7A97FEA}"/>
              </a:ext>
            </a:extLst>
          </p:cNvPr>
          <p:cNvSpPr>
            <a:spLocks xmlns:a="http://schemas.openxmlformats.org/drawingml/2006/main" noGrp="1"/>
          </p:cNvSpPr>
          <p:nvPr/>
        </p:nvSpPr>
        <p:spPr>
          <a:xfrm xmlns:a="http://schemas.openxmlformats.org/drawingml/2006/main">
            <a:off x="666750" y="4095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B3A"/>
                </a:solidFill>
                <a:latin typeface="Arial"/>
                <a:ea typeface="Arial"/>
                <a:cs typeface="Arial"/>
              </a:defRPr>
            </a:defPPr>
            <a:lvl1pPr>
              <a:defRPr sz="3150" b="1">
                <a:solidFill>
                  <a:srgbClr val="172B3A"/>
                </a:solidFill>
                <a:latin typeface="Arial"/>
                <a:ea typeface="Arial"/>
                <a:cs typeface="Arial"/>
              </a:defRPr>
            </a:lvl1pPr>
            <a:lvl2pPr>
              <a:defRPr sz="3150" b="1">
                <a:solidFill>
                  <a:srgbClr val="172B3A"/>
                </a:solidFill>
                <a:latin typeface="Arial"/>
                <a:ea typeface="Arial"/>
                <a:cs typeface="Arial"/>
              </a:defRPr>
            </a:lvl2pPr>
            <a:lvl3pPr>
              <a:defRPr sz="3150" b="1">
                <a:solidFill>
                  <a:srgbClr val="172B3A"/>
                </a:solidFill>
                <a:latin typeface="Arial"/>
                <a:ea typeface="Arial"/>
                <a:cs typeface="Arial"/>
              </a:defRPr>
            </a:lvl3pPr>
            <a:lvl4pPr>
              <a:defRPr sz="3150" b="1">
                <a:solidFill>
                  <a:srgbClr val="172B3A"/>
                </a:solidFill>
                <a:latin typeface="Arial"/>
                <a:ea typeface="Arial"/>
                <a:cs typeface="Arial"/>
              </a:defRPr>
            </a:lvl4pPr>
            <a:lvl5pPr>
              <a:defRPr sz="3150" b="1">
                <a:solidFill>
                  <a:srgbClr val="172B3A"/>
                </a:solidFill>
                <a:latin typeface="Arial"/>
                <a:ea typeface="Arial"/>
                <a:cs typeface="Arial"/>
              </a:defRPr>
            </a:lvl5pPr>
            <a:lvl6pPr>
              <a:defRPr sz="3150" b="1">
                <a:solidFill>
                  <a:srgbClr val="172B3A"/>
                </a:solidFill>
                <a:latin typeface="Arial"/>
                <a:ea typeface="Arial"/>
                <a:cs typeface="Arial"/>
              </a:defRPr>
            </a:lvl6pPr>
            <a:lvl7pPr>
              <a:defRPr sz="3150" b="1">
                <a:solidFill>
                  <a:srgbClr val="172B3A"/>
                </a:solidFill>
                <a:latin typeface="Arial"/>
                <a:ea typeface="Arial"/>
                <a:cs typeface="Arial"/>
              </a:defRPr>
            </a:lvl7pPr>
            <a:lvl8pPr>
              <a:defRPr sz="3150" b="1">
                <a:solidFill>
                  <a:srgbClr val="172B3A"/>
                </a:solidFill>
                <a:latin typeface="Arial"/>
                <a:ea typeface="Arial"/>
                <a:cs typeface="Arial"/>
              </a:defRPr>
            </a:lvl8pPr>
            <a:lvl9pPr>
              <a:defRPr sz="3150" b="1">
                <a:solidFill>
                  <a:srgbClr val="172B3A"/>
                </a:solidFill>
                <a:latin typeface="Arial"/>
                <a:ea typeface="Arial"/>
                <a:cs typeface="Arial"/>
              </a:defRPr>
            </a:lvl9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Results at 8,000 total updates</a:t>
            </a:r>
          </a:p>
        </p:txBody>
      </p:sp>
      <p:sp>
        <p:nvSpPr>
          <p:cNvPr id="3" name="">
            <a:extLst xmlns:a="http://schemas.openxmlformats.org/drawingml/2006/main">
              <a:ext uri="{FF2B5EF4-FFF2-40B4-BE49-F238E27FC236}">
                <a16:creationId xmlns:a16="http://schemas.microsoft.com/office/drawing/2014/main" id="{523E45F4-1736-464B-A63B-D1B4862147D1}"/>
              </a:ext>
            </a:extLst>
          </p:cNvPr>
          <p:cNvSpPr>
            <a:spLocks xmlns:a="http://schemas.openxmlformats.org/drawingml/2006/main" noGrp="1"/>
          </p:cNvSpPr>
          <p:nvPr/>
        </p:nvSpPr>
        <p:spPr>
          <a:xfrm xmlns:a="http://schemas.openxmlformats.org/drawingml/2006/main">
            <a:off x="666750" y="647700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a:solidFill>
                  <a:srgbClr val="637E8E"/>
                </a:solidFill>
                <a:latin typeface="Arial"/>
                <a:ea typeface="Arial"/>
                <a:cs typeface="Arial"/>
              </a:defRPr>
            </a:defPPr>
            <a:lvl1pPr>
              <a:defRPr sz="1350">
                <a:solidFill>
                  <a:srgbClr val="637E8E"/>
                </a:solidFill>
                <a:latin typeface="Arial"/>
                <a:ea typeface="Arial"/>
                <a:cs typeface="Arial"/>
              </a:defRPr>
            </a:lvl1pPr>
            <a:lvl2pPr>
              <a:defRPr sz="1350">
                <a:solidFill>
                  <a:srgbClr val="637E8E"/>
                </a:solidFill>
                <a:latin typeface="Arial"/>
                <a:ea typeface="Arial"/>
                <a:cs typeface="Arial"/>
              </a:defRPr>
            </a:lvl2pPr>
            <a:lvl3pPr>
              <a:defRPr sz="1350">
                <a:solidFill>
                  <a:srgbClr val="637E8E"/>
                </a:solidFill>
                <a:latin typeface="Arial"/>
                <a:ea typeface="Arial"/>
                <a:cs typeface="Arial"/>
              </a:defRPr>
            </a:lvl3pPr>
            <a:lvl4pPr>
              <a:defRPr sz="1350">
                <a:solidFill>
                  <a:srgbClr val="637E8E"/>
                </a:solidFill>
                <a:latin typeface="Arial"/>
                <a:ea typeface="Arial"/>
                <a:cs typeface="Arial"/>
              </a:defRPr>
            </a:lvl4pPr>
            <a:lvl5pPr>
              <a:defRPr sz="1350">
                <a:solidFill>
                  <a:srgbClr val="637E8E"/>
                </a:solidFill>
                <a:latin typeface="Arial"/>
                <a:ea typeface="Arial"/>
                <a:cs typeface="Arial"/>
              </a:defRPr>
            </a:lvl5pPr>
            <a:lvl6pPr>
              <a:defRPr sz="1350">
                <a:solidFill>
                  <a:srgbClr val="637E8E"/>
                </a:solidFill>
                <a:latin typeface="Arial"/>
                <a:ea typeface="Arial"/>
                <a:cs typeface="Arial"/>
              </a:defRPr>
            </a:lvl6pPr>
            <a:lvl7pPr>
              <a:defRPr sz="1350">
                <a:solidFill>
                  <a:srgbClr val="637E8E"/>
                </a:solidFill>
                <a:latin typeface="Arial"/>
                <a:ea typeface="Arial"/>
                <a:cs typeface="Arial"/>
              </a:defRPr>
            </a:lvl7pPr>
            <a:lvl8pPr>
              <a:defRPr sz="1350">
                <a:solidFill>
                  <a:srgbClr val="637E8E"/>
                </a:solidFill>
                <a:latin typeface="Arial"/>
                <a:ea typeface="Arial"/>
                <a:cs typeface="Arial"/>
              </a:defRPr>
            </a:lvl8pPr>
            <a:lvl9pPr>
              <a:defRPr sz="1350">
                <a:solidFill>
                  <a:srgbClr val="637E8E"/>
                </a:solidFill>
                <a:latin typeface="Arial"/>
                <a:ea typeface="Arial"/>
                <a:cs typeface="Arial"/>
              </a:defRPr>
            </a:lvl9pPr>
          </a:lstStyle>
          <a:p xmlns:a="http://schemas.openxmlformats.org/drawingml/2006/main">
            <a:pPr>
              <a:defRPr sz="1350">
                <a:solidFill>
                  <a:srgbClr val="637E8E"/>
                </a:solidFill>
                <a:latin typeface="Arial"/>
                <a:ea typeface="Arial"/>
                <a:cs typeface="Arial"/>
              </a:defRPr>
            </a:pPr>
            <a:r>
              <a:rPr sz="1350">
                <a:solidFill>
                  <a:srgbClr val="637E8E"/>
                </a:solidFill>
                <a:latin typeface="Arial"/>
                <a:ea typeface="Arial"/>
                <a:cs typeface="Arial"/>
              </a:rPr>
              <a:t>Assessment 10  /  7</a:t>
            </a:r>
          </a:p>
        </p:txBody>
      </p:sp>
      <p:graphicFrame>
        <p:nvGraphicFramePr>
          <p:cNvPr id="4" name="Chart">
            <a:extLst xmlns:a="http://schemas.openxmlformats.org/drawingml/2006/main">
              <a:ext uri="{FF2B5EF4-FFF2-40B4-BE49-F238E27FC236}">
                <a16:creationId xmlns:a16="http://schemas.microsoft.com/office/drawing/2014/main" id="{34764D13-1712-4260-8DC6-20778A0D7E33}"/>
              </a:ext>
            </a:extLst>
          </p:cNvPr>
          <p:cNvGraphicFramePr/>
          <p:nvPr/>
        </p:nvGraphicFramePr>
        <p:xfrm>
          <a:off xmlns:a="http://schemas.openxmlformats.org/drawingml/2006/main" x="428625" y="1476375"/>
          <a:ext xmlns:a="http://schemas.openxmlformats.org/drawingml/2006/main" cx="11239500" cy="3952875"/>
        </p:xfrm>
        <a:graphic xmlns:a="http://schemas.openxmlformats.org/drawingml/2006/main">
          <a:graphicData uri="http://schemas.openxmlformats.org/drawingml/2006/chart">
            <c:chart xmlns:r="http://schemas.openxmlformats.org/officeDocument/2006/relationships" xmlns:c="http://schemas.openxmlformats.org/drawingml/2006/chart" r:id="R90e314f74ada469f"/>
          </a:graphicData>
        </a:graphic>
      </p:graphicFrame>
      <p:sp>
        <p:nvSpPr>
          <p:cNvPr id="5" name="">
            <a:extLst xmlns:a="http://schemas.openxmlformats.org/drawingml/2006/main">
              <a:ext uri="{FF2B5EF4-FFF2-40B4-BE49-F238E27FC236}">
                <a16:creationId xmlns:a16="http://schemas.microsoft.com/office/drawing/2014/main" id="{FCA02AB4-4613-46C7-90B9-C459C5EF4C15}"/>
              </a:ext>
            </a:extLst>
          </p:cNvPr>
          <p:cNvSpPr>
            <a:spLocks xmlns:a="http://schemas.openxmlformats.org/drawingml/2006/main" noGrp="1"/>
          </p:cNvSpPr>
          <p:nvPr/>
        </p:nvSpPr>
        <p:spPr>
          <a:xfrm xmlns:a="http://schemas.openxmlformats.org/drawingml/2006/main">
            <a:off x="666750" y="5581650"/>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a:solidFill>
                  <a:srgbClr val="175F96"/>
                </a:solidFill>
                <a:latin typeface="Arial"/>
                <a:ea typeface="Arial"/>
                <a:cs typeface="Arial"/>
              </a:defRPr>
            </a:defPPr>
            <a:lvl1pPr>
              <a:defRPr sz="2175">
                <a:solidFill>
                  <a:srgbClr val="175F96"/>
                </a:solidFill>
                <a:latin typeface="Arial"/>
                <a:ea typeface="Arial"/>
                <a:cs typeface="Arial"/>
              </a:defRPr>
            </a:lvl1pPr>
            <a:lvl2pPr>
              <a:defRPr sz="2175">
                <a:solidFill>
                  <a:srgbClr val="175F96"/>
                </a:solidFill>
                <a:latin typeface="Arial"/>
                <a:ea typeface="Arial"/>
                <a:cs typeface="Arial"/>
              </a:defRPr>
            </a:lvl2pPr>
            <a:lvl3pPr>
              <a:defRPr sz="2175">
                <a:solidFill>
                  <a:srgbClr val="175F96"/>
                </a:solidFill>
                <a:latin typeface="Arial"/>
                <a:ea typeface="Arial"/>
                <a:cs typeface="Arial"/>
              </a:defRPr>
            </a:lvl3pPr>
            <a:lvl4pPr>
              <a:defRPr sz="2175">
                <a:solidFill>
                  <a:srgbClr val="175F96"/>
                </a:solidFill>
                <a:latin typeface="Arial"/>
                <a:ea typeface="Arial"/>
                <a:cs typeface="Arial"/>
              </a:defRPr>
            </a:lvl4pPr>
            <a:lvl5pPr>
              <a:defRPr sz="2175">
                <a:solidFill>
                  <a:srgbClr val="175F96"/>
                </a:solidFill>
                <a:latin typeface="Arial"/>
                <a:ea typeface="Arial"/>
                <a:cs typeface="Arial"/>
              </a:defRPr>
            </a:lvl5pPr>
            <a:lvl6pPr>
              <a:defRPr sz="2175">
                <a:solidFill>
                  <a:srgbClr val="175F96"/>
                </a:solidFill>
                <a:latin typeface="Arial"/>
                <a:ea typeface="Arial"/>
                <a:cs typeface="Arial"/>
              </a:defRPr>
            </a:lvl6pPr>
            <a:lvl7pPr>
              <a:defRPr sz="2175">
                <a:solidFill>
                  <a:srgbClr val="175F96"/>
                </a:solidFill>
                <a:latin typeface="Arial"/>
                <a:ea typeface="Arial"/>
                <a:cs typeface="Arial"/>
              </a:defRPr>
            </a:lvl7pPr>
            <a:lvl8pPr>
              <a:defRPr sz="2175">
                <a:solidFill>
                  <a:srgbClr val="175F96"/>
                </a:solidFill>
                <a:latin typeface="Arial"/>
                <a:ea typeface="Arial"/>
                <a:cs typeface="Arial"/>
              </a:defRPr>
            </a:lvl8pPr>
            <a:lvl9pPr>
              <a:defRPr sz="2175">
                <a:solidFill>
                  <a:srgbClr val="175F96"/>
                </a:solidFill>
                <a:latin typeface="Arial"/>
                <a:ea typeface="Arial"/>
                <a:cs typeface="Arial"/>
              </a:defRPr>
            </a:lvl9pPr>
          </a:lstStyle>
          <a:p xmlns:a="http://schemas.openxmlformats.org/drawingml/2006/main">
            <a:pPr>
              <a:defRPr sz="2175">
                <a:solidFill>
                  <a:srgbClr val="175F96"/>
                </a:solidFill>
                <a:latin typeface="Arial"/>
                <a:ea typeface="Arial"/>
                <a:cs typeface="Arial"/>
              </a:defRPr>
            </a:pPr>
            <a:r>
              <a:rPr sz="2175">
                <a:solidFill>
                  <a:srgbClr val="175F96"/>
                </a:solidFill>
                <a:latin typeface="Arial"/>
                <a:ea typeface="Arial"/>
                <a:cs typeface="Arial"/>
              </a:rPr>
              <a:t>1 run: 28/30 on every split. 4 runs: 12/30, 9/30, 11/30.</a:t>
            </a:r>
          </a:p>
        </p:txBody>
      </p:sp>
      <p:sp>
        <p:nvSpPr>
          <p:cNvPr id="6" name="">
            <a:extLst xmlns:a="http://schemas.openxmlformats.org/drawingml/2006/main">
              <a:ext uri="{FF2B5EF4-FFF2-40B4-BE49-F238E27FC236}">
                <a16:creationId xmlns:a16="http://schemas.microsoft.com/office/drawing/2014/main" id="{0209C2A0-F697-4C43-A0C3-71D836C09F88}"/>
              </a:ext>
            </a:extLst>
          </p:cNvPr>
          <p:cNvSpPr>
            <a:spLocks xmlns:a="http://schemas.openxmlformats.org/drawingml/2006/main" noGrp="1"/>
          </p:cNvSpPr>
          <p:nvPr/>
        </p:nvSpPr>
        <p:spPr>
          <a:xfrm xmlns:a="http://schemas.openxmlformats.org/drawingml/2006/main">
            <a:off x="666750" y="60769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a:solidFill>
                  <a:srgbClr val="172B3A"/>
                </a:solidFill>
                <a:latin typeface="Arial"/>
                <a:ea typeface="Arial"/>
                <a:cs typeface="Arial"/>
              </a:defRPr>
            </a:defPPr>
            <a:lvl1pPr>
              <a:defRPr sz="1725">
                <a:solidFill>
                  <a:srgbClr val="172B3A"/>
                </a:solidFill>
                <a:latin typeface="Arial"/>
                <a:ea typeface="Arial"/>
                <a:cs typeface="Arial"/>
              </a:defRPr>
            </a:lvl1pPr>
            <a:lvl2pPr>
              <a:defRPr sz="1725">
                <a:solidFill>
                  <a:srgbClr val="172B3A"/>
                </a:solidFill>
                <a:latin typeface="Arial"/>
                <a:ea typeface="Arial"/>
                <a:cs typeface="Arial"/>
              </a:defRPr>
            </a:lvl2pPr>
            <a:lvl3pPr>
              <a:defRPr sz="1725">
                <a:solidFill>
                  <a:srgbClr val="172B3A"/>
                </a:solidFill>
                <a:latin typeface="Arial"/>
                <a:ea typeface="Arial"/>
                <a:cs typeface="Arial"/>
              </a:defRPr>
            </a:lvl3pPr>
            <a:lvl4pPr>
              <a:defRPr sz="1725">
                <a:solidFill>
                  <a:srgbClr val="172B3A"/>
                </a:solidFill>
                <a:latin typeface="Arial"/>
                <a:ea typeface="Arial"/>
                <a:cs typeface="Arial"/>
              </a:defRPr>
            </a:lvl4pPr>
            <a:lvl5pPr>
              <a:defRPr sz="1725">
                <a:solidFill>
                  <a:srgbClr val="172B3A"/>
                </a:solidFill>
                <a:latin typeface="Arial"/>
                <a:ea typeface="Arial"/>
                <a:cs typeface="Arial"/>
              </a:defRPr>
            </a:lvl5pPr>
            <a:lvl6pPr>
              <a:defRPr sz="1725">
                <a:solidFill>
                  <a:srgbClr val="172B3A"/>
                </a:solidFill>
                <a:latin typeface="Arial"/>
                <a:ea typeface="Arial"/>
                <a:cs typeface="Arial"/>
              </a:defRPr>
            </a:lvl6pPr>
            <a:lvl7pPr>
              <a:defRPr sz="1725">
                <a:solidFill>
                  <a:srgbClr val="172B3A"/>
                </a:solidFill>
                <a:latin typeface="Arial"/>
                <a:ea typeface="Arial"/>
                <a:cs typeface="Arial"/>
              </a:defRPr>
            </a:lvl7pPr>
            <a:lvl8pPr>
              <a:defRPr sz="1725">
                <a:solidFill>
                  <a:srgbClr val="172B3A"/>
                </a:solidFill>
                <a:latin typeface="Arial"/>
                <a:ea typeface="Arial"/>
                <a:cs typeface="Arial"/>
              </a:defRPr>
            </a:lvl8pPr>
            <a:lvl9pPr>
              <a:defRPr sz="1725">
                <a:solidFill>
                  <a:srgbClr val="172B3A"/>
                </a:solidFill>
                <a:latin typeface="Arial"/>
                <a:ea typeface="Arial"/>
                <a:cs typeface="Arial"/>
              </a:defRPr>
            </a:lvl9pPr>
          </a:lstStyle>
          <a:p xmlns:a="http://schemas.openxmlformats.org/drawingml/2006/main">
            <a:pPr>
              <a:defRPr sz="1725">
                <a:solidFill>
                  <a:srgbClr val="172B3A"/>
                </a:solidFill>
                <a:latin typeface="Arial"/>
                <a:ea typeface="Arial"/>
                <a:cs typeface="Arial"/>
              </a:defRPr>
            </a:pPr>
            <a:r>
              <a:rPr sz="1725">
                <a:solidFill>
                  <a:srgbClr val="172B3A"/>
                </a:solidFill>
                <a:latin typeface="Arial"/>
                <a:ea typeface="Arial"/>
                <a:cs typeface="Arial"/>
              </a:rPr>
              <a:t>All three 4-versus-1 differences survive Holm correction. No 2-versus-1 contrast does.</a:t>
            </a:r>
          </a:p>
        </p:txBody>
      </p:sp>
    </p:spTree>
    <p:extLst>
      <p:ext uri="{BB962C8B-B14F-4D97-AF65-F5344CB8AC3E}">
        <p14:creationId xmlns:p14="http://schemas.microsoft.com/office/powerpoint/2010/main" val="5873869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005CF62-E800-45DD-87AA-C025D7EC6BB7}"/>
              </a:ext>
            </a:extLst>
          </p:cNvPr>
          <p:cNvSpPr>
            <a:spLocks xmlns:a="http://schemas.openxmlformats.org/drawingml/2006/main" noGrp="1"/>
          </p:cNvSpPr>
          <p:nvPr/>
        </p:nvSpPr>
        <p:spPr>
          <a:xfrm xmlns:a="http://schemas.openxmlformats.org/drawingml/2006/main">
            <a:off x="666750" y="4095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B3A"/>
                </a:solidFill>
                <a:latin typeface="Arial"/>
                <a:ea typeface="Arial"/>
                <a:cs typeface="Arial"/>
              </a:defRPr>
            </a:defPPr>
            <a:lvl1pPr>
              <a:defRPr sz="3150" b="1">
                <a:solidFill>
                  <a:srgbClr val="172B3A"/>
                </a:solidFill>
                <a:latin typeface="Arial"/>
                <a:ea typeface="Arial"/>
                <a:cs typeface="Arial"/>
              </a:defRPr>
            </a:lvl1pPr>
            <a:lvl2pPr>
              <a:defRPr sz="3150" b="1">
                <a:solidFill>
                  <a:srgbClr val="172B3A"/>
                </a:solidFill>
                <a:latin typeface="Arial"/>
                <a:ea typeface="Arial"/>
                <a:cs typeface="Arial"/>
              </a:defRPr>
            </a:lvl2pPr>
            <a:lvl3pPr>
              <a:defRPr sz="3150" b="1">
                <a:solidFill>
                  <a:srgbClr val="172B3A"/>
                </a:solidFill>
                <a:latin typeface="Arial"/>
                <a:ea typeface="Arial"/>
                <a:cs typeface="Arial"/>
              </a:defRPr>
            </a:lvl3pPr>
            <a:lvl4pPr>
              <a:defRPr sz="3150" b="1">
                <a:solidFill>
                  <a:srgbClr val="172B3A"/>
                </a:solidFill>
                <a:latin typeface="Arial"/>
                <a:ea typeface="Arial"/>
                <a:cs typeface="Arial"/>
              </a:defRPr>
            </a:lvl4pPr>
            <a:lvl5pPr>
              <a:defRPr sz="3150" b="1">
                <a:solidFill>
                  <a:srgbClr val="172B3A"/>
                </a:solidFill>
                <a:latin typeface="Arial"/>
                <a:ea typeface="Arial"/>
                <a:cs typeface="Arial"/>
              </a:defRPr>
            </a:lvl5pPr>
            <a:lvl6pPr>
              <a:defRPr sz="3150" b="1">
                <a:solidFill>
                  <a:srgbClr val="172B3A"/>
                </a:solidFill>
                <a:latin typeface="Arial"/>
                <a:ea typeface="Arial"/>
                <a:cs typeface="Arial"/>
              </a:defRPr>
            </a:lvl6pPr>
            <a:lvl7pPr>
              <a:defRPr sz="3150" b="1">
                <a:solidFill>
                  <a:srgbClr val="172B3A"/>
                </a:solidFill>
                <a:latin typeface="Arial"/>
                <a:ea typeface="Arial"/>
                <a:cs typeface="Arial"/>
              </a:defRPr>
            </a:lvl7pPr>
            <a:lvl8pPr>
              <a:defRPr sz="3150" b="1">
                <a:solidFill>
                  <a:srgbClr val="172B3A"/>
                </a:solidFill>
                <a:latin typeface="Arial"/>
                <a:ea typeface="Arial"/>
                <a:cs typeface="Arial"/>
              </a:defRPr>
            </a:lvl8pPr>
            <a:lvl9pPr>
              <a:defRPr sz="3150" b="1">
                <a:solidFill>
                  <a:srgbClr val="172B3A"/>
                </a:solidFill>
                <a:latin typeface="Arial"/>
                <a:ea typeface="Arial"/>
                <a:cs typeface="Arial"/>
              </a:defRPr>
            </a:lvl9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Complete results at both budgets</a:t>
            </a:r>
          </a:p>
        </p:txBody>
      </p:sp>
      <p:sp>
        <p:nvSpPr>
          <p:cNvPr id="3" name="">
            <a:extLst xmlns:a="http://schemas.openxmlformats.org/drawingml/2006/main">
              <a:ext uri="{FF2B5EF4-FFF2-40B4-BE49-F238E27FC236}">
                <a16:creationId xmlns:a16="http://schemas.microsoft.com/office/drawing/2014/main" id="{CCAE354E-A3FB-4859-8ACE-372A14854F5D}"/>
              </a:ext>
            </a:extLst>
          </p:cNvPr>
          <p:cNvSpPr>
            <a:spLocks xmlns:a="http://schemas.openxmlformats.org/drawingml/2006/main" noGrp="1"/>
          </p:cNvSpPr>
          <p:nvPr/>
        </p:nvSpPr>
        <p:spPr>
          <a:xfrm xmlns:a="http://schemas.openxmlformats.org/drawingml/2006/main">
            <a:off x="666750" y="647700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a:solidFill>
                  <a:srgbClr val="637E8E"/>
                </a:solidFill>
                <a:latin typeface="Arial"/>
                <a:ea typeface="Arial"/>
                <a:cs typeface="Arial"/>
              </a:defRPr>
            </a:defPPr>
            <a:lvl1pPr>
              <a:defRPr sz="1350">
                <a:solidFill>
                  <a:srgbClr val="637E8E"/>
                </a:solidFill>
                <a:latin typeface="Arial"/>
                <a:ea typeface="Arial"/>
                <a:cs typeface="Arial"/>
              </a:defRPr>
            </a:lvl1pPr>
            <a:lvl2pPr>
              <a:defRPr sz="1350">
                <a:solidFill>
                  <a:srgbClr val="637E8E"/>
                </a:solidFill>
                <a:latin typeface="Arial"/>
                <a:ea typeface="Arial"/>
                <a:cs typeface="Arial"/>
              </a:defRPr>
            </a:lvl2pPr>
            <a:lvl3pPr>
              <a:defRPr sz="1350">
                <a:solidFill>
                  <a:srgbClr val="637E8E"/>
                </a:solidFill>
                <a:latin typeface="Arial"/>
                <a:ea typeface="Arial"/>
                <a:cs typeface="Arial"/>
              </a:defRPr>
            </a:lvl3pPr>
            <a:lvl4pPr>
              <a:defRPr sz="1350">
                <a:solidFill>
                  <a:srgbClr val="637E8E"/>
                </a:solidFill>
                <a:latin typeface="Arial"/>
                <a:ea typeface="Arial"/>
                <a:cs typeface="Arial"/>
              </a:defRPr>
            </a:lvl4pPr>
            <a:lvl5pPr>
              <a:defRPr sz="1350">
                <a:solidFill>
                  <a:srgbClr val="637E8E"/>
                </a:solidFill>
                <a:latin typeface="Arial"/>
                <a:ea typeface="Arial"/>
                <a:cs typeface="Arial"/>
              </a:defRPr>
            </a:lvl5pPr>
            <a:lvl6pPr>
              <a:defRPr sz="1350">
                <a:solidFill>
                  <a:srgbClr val="637E8E"/>
                </a:solidFill>
                <a:latin typeface="Arial"/>
                <a:ea typeface="Arial"/>
                <a:cs typeface="Arial"/>
              </a:defRPr>
            </a:lvl6pPr>
            <a:lvl7pPr>
              <a:defRPr sz="1350">
                <a:solidFill>
                  <a:srgbClr val="637E8E"/>
                </a:solidFill>
                <a:latin typeface="Arial"/>
                <a:ea typeface="Arial"/>
                <a:cs typeface="Arial"/>
              </a:defRPr>
            </a:lvl7pPr>
            <a:lvl8pPr>
              <a:defRPr sz="1350">
                <a:solidFill>
                  <a:srgbClr val="637E8E"/>
                </a:solidFill>
                <a:latin typeface="Arial"/>
                <a:ea typeface="Arial"/>
                <a:cs typeface="Arial"/>
              </a:defRPr>
            </a:lvl8pPr>
            <a:lvl9pPr>
              <a:defRPr sz="1350">
                <a:solidFill>
                  <a:srgbClr val="637E8E"/>
                </a:solidFill>
                <a:latin typeface="Arial"/>
                <a:ea typeface="Arial"/>
                <a:cs typeface="Arial"/>
              </a:defRPr>
            </a:lvl9pPr>
          </a:lstStyle>
          <a:p xmlns:a="http://schemas.openxmlformats.org/drawingml/2006/main">
            <a:pPr>
              <a:defRPr sz="1350">
                <a:solidFill>
                  <a:srgbClr val="637E8E"/>
                </a:solidFill>
                <a:latin typeface="Arial"/>
                <a:ea typeface="Arial"/>
                <a:cs typeface="Arial"/>
              </a:defRPr>
            </a:pPr>
            <a:r>
              <a:rPr sz="1350">
                <a:solidFill>
                  <a:srgbClr val="637E8E"/>
                </a:solidFill>
                <a:latin typeface="Arial"/>
                <a:ea typeface="Arial"/>
                <a:cs typeface="Arial"/>
              </a:rPr>
              <a:t>Assessment 10  /  8</a:t>
            </a:r>
          </a:p>
        </p:txBody>
      </p:sp>
      <p:graphicFrame>
        <p:nvGraphicFramePr>
          <p:cNvPr id="4" name="">
            <a:extLst xmlns:a="http://schemas.openxmlformats.org/drawingml/2006/main">
              <a:ext uri="{FF2B5EF4-FFF2-40B4-BE49-F238E27FC236}">
                <a16:creationId xmlns:a16="http://schemas.microsoft.com/office/drawing/2014/main" id="{9DCF0790-4A14-4EB8-AC8C-063436733086}"/>
              </a:ext>
            </a:extLst>
          </p:cNvPr>
          <p:cNvGraphicFramePr/>
          <p:nvPr/>
        </p:nvGraphicFramePr>
        <p:xfrm>
          <a:off xmlns:a="http://schemas.openxmlformats.org/drawingml/2006/main" x="666750" y="1619250"/>
          <a:ext xmlns:a="http://schemas.openxmlformats.org/drawingml/2006/main" cx="10858500" cy="3371850"/>
        </p:xfrm>
        <a:graphic xmlns:a="http://schemas.openxmlformats.org/drawingml/2006/main">
          <a:graphicData uri="http://schemas.openxmlformats.org/drawingml/2006/table">
            <a:tbl>
              <a:tblPr/>
              <a:tblGrid>
                <a:gridCol w="3571875"/>
                <a:gridCol w="2428875"/>
                <a:gridCol w="2428875"/>
                <a:gridCol w="2428875"/>
              </a:tblGrid>
              <a:tr h="481693">
                <a:tc>
                  <a:txBody>
                    <a:bodyPr lIns="76200" tIns="76200" rIns="76200" bIns="76200"/>
                    <a:lstStyle/>
                    <a:p>
                      <a:r>
                        <a:rPr sz="2175" b="1">
                          <a:solidFill>
                            <a:srgbClr val="175F96"/>
                          </a:solidFill>
                          <a:latin typeface="Arial"/>
                          <a:ea typeface="Arial"/>
                          <a:cs typeface="Arial"/>
                        </a:rPr>
                        <a:t>Split / total steps</a:t>
                      </a:r>
                    </a:p>
                  </a:txBody>
                  <a:tcPr marL="91440" marR="91440" marT="45720" marB="45720" anchor="ctr">
                    <a:lnL w="0">
                      <a:solidFill>
                        <a:srgbClr val="FFFFFF"/>
                      </a:solidFill>
                    </a:lnL>
                    <a:lnR w="0">
                      <a:solidFill>
                        <a:srgbClr val="FFFFFF"/>
                      </a:solidFill>
                    </a:lnR>
                    <a:lnT w="0">
                      <a:solidFill>
                        <a:srgbClr val="FFFFFF"/>
                      </a:solidFill>
                    </a:lnT>
                    <a:lnB w="0">
                      <a:solidFill>
                        <a:srgbClr val="FFFFFF"/>
                      </a:solidFill>
                    </a:lnB>
                    <a:solidFill>
                      <a:srgbClr val="FFFFFF"/>
                    </a:solidFill>
                  </a:tcPr>
                </a:tc>
                <a:tc>
                  <a:txBody>
                    <a:bodyPr lIns="76200" tIns="76200" rIns="76200" bIns="76200"/>
                    <a:lstStyle/>
                    <a:p>
                      <a:r>
                        <a:rPr sz="2175" b="1">
                          <a:solidFill>
                            <a:srgbClr val="175F96"/>
                          </a:solidFill>
                          <a:latin typeface="Arial"/>
                          <a:ea typeface="Arial"/>
                          <a:cs typeface="Arial"/>
                        </a:rPr>
                        <a:t>One run</a:t>
                      </a:r>
                    </a:p>
                  </a:txBody>
                  <a:tcPr marL="91440" marR="91440" marT="45720" marB="45720" anchor="ctr">
                    <a:lnR w="0">
                      <a:solidFill>
                        <a:srgbClr val="FFFFFF"/>
                      </a:solidFill>
                    </a:lnR>
                    <a:lnT w="0">
                      <a:solidFill>
                        <a:srgbClr val="FFFFFF"/>
                      </a:solidFill>
                    </a:lnT>
                    <a:lnB w="0">
                      <a:solidFill>
                        <a:srgbClr val="FFFFFF"/>
                      </a:solidFill>
                    </a:lnB>
                    <a:solidFill>
                      <a:srgbClr val="FFFFFF"/>
                    </a:solidFill>
                  </a:tcPr>
                </a:tc>
                <a:tc>
                  <a:txBody>
                    <a:bodyPr lIns="76200" tIns="76200" rIns="76200" bIns="76200"/>
                    <a:lstStyle/>
                    <a:p>
                      <a:r>
                        <a:rPr sz="2175" b="1">
                          <a:solidFill>
                            <a:srgbClr val="175F96"/>
                          </a:solidFill>
                          <a:latin typeface="Arial"/>
                          <a:ea typeface="Arial"/>
                          <a:cs typeface="Arial"/>
                        </a:rPr>
                        <a:t>Two runs</a:t>
                      </a:r>
                    </a:p>
                  </a:txBody>
                  <a:tcPr marL="91440" marR="91440" marT="45720" marB="45720" anchor="ctr">
                    <a:lnR w="0">
                      <a:solidFill>
                        <a:srgbClr val="FFFFFF"/>
                      </a:solidFill>
                    </a:lnR>
                    <a:lnT w="0">
                      <a:solidFill>
                        <a:srgbClr val="FFFFFF"/>
                      </a:solidFill>
                    </a:lnT>
                    <a:lnB w="0">
                      <a:solidFill>
                        <a:srgbClr val="FFFFFF"/>
                      </a:solidFill>
                    </a:lnB>
                    <a:solidFill>
                      <a:srgbClr val="FFFFFF"/>
                    </a:solidFill>
                  </a:tcPr>
                </a:tc>
                <a:tc>
                  <a:txBody>
                    <a:bodyPr lIns="76200" tIns="76200" rIns="76200" bIns="76200"/>
                    <a:lstStyle/>
                    <a:p>
                      <a:r>
                        <a:rPr sz="2175" b="1">
                          <a:solidFill>
                            <a:srgbClr val="175F96"/>
                          </a:solidFill>
                          <a:latin typeface="Arial"/>
                          <a:ea typeface="Arial"/>
                          <a:cs typeface="Arial"/>
                        </a:rPr>
                        <a:t>Four runs</a:t>
                      </a:r>
                    </a:p>
                  </a:txBody>
                  <a:tcPr marL="91440" marR="91440" marT="45720" marB="45720" anchor="ctr">
                    <a:lnR w="0">
                      <a:solidFill>
                        <a:srgbClr val="FFFFFF"/>
                      </a:solidFill>
                    </a:lnR>
                    <a:lnT w="0">
                      <a:solidFill>
                        <a:srgbClr val="FFFFFF"/>
                      </a:solidFill>
                    </a:lnT>
                    <a:lnB w="0">
                      <a:solidFill>
                        <a:srgbClr val="FFFFFF"/>
                      </a:solidFill>
                    </a:lnB>
                    <a:solidFill>
                      <a:srgbClr val="FFFFFF"/>
                    </a:solidFill>
                  </a:tcPr>
                </a:tc>
              </a:tr>
              <a:tr h="481693">
                <a:tc>
                  <a:txBody>
                    <a:bodyPr lIns="76200" tIns="76200" rIns="76200" bIns="76200"/>
                    <a:lstStyle/>
                    <a:p>
                      <a:r>
                        <a:rPr sz="2175" b="0">
                          <a:solidFill>
                            <a:srgbClr val="172B3A"/>
                          </a:solidFill>
                          <a:latin typeface="Arial"/>
                          <a:ea typeface="Arial"/>
                          <a:cs typeface="Arial"/>
                        </a:rPr>
                        <a:t>S1 / 8,000</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2175" b="0">
                          <a:solidFill>
                            <a:srgbClr val="172B3A"/>
                          </a:solidFill>
                          <a:latin typeface="Arial"/>
                          <a:ea typeface="Arial"/>
                          <a:cs typeface="Arial"/>
                        </a:rPr>
                        <a:t>28/30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2175" b="0">
                          <a:solidFill>
                            <a:srgbClr val="172B3A"/>
                          </a:solidFill>
                          <a:latin typeface="Arial"/>
                          <a:ea typeface="Arial"/>
                          <a:cs typeface="Arial"/>
                        </a:rPr>
                        <a:t>23/30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2175" b="0">
                          <a:solidFill>
                            <a:srgbClr val="172B3A"/>
                          </a:solidFill>
                          <a:latin typeface="Arial"/>
                          <a:ea typeface="Arial"/>
                          <a:cs typeface="Arial"/>
                        </a:rPr>
                        <a:t>12/30</a:t>
                      </a:r>
                    </a:p>
                  </a:txBody>
                  <a:tcPr marL="91440" marR="91440" marT="45720" marB="45720" anchor="ctr">
                    <a:lnR w="0">
                      <a:solidFill>
                        <a:srgbClr val="FFFFFF"/>
                      </a:solidFill>
                    </a:lnR>
                    <a:lnB w="0">
                      <a:solidFill>
                        <a:srgbClr val="FFFFFF"/>
                      </a:solidFill>
                    </a:lnB>
                    <a:solidFill>
                      <a:srgbClr val="FFFFFF"/>
                    </a:solidFill>
                  </a:tcPr>
                </a:tc>
              </a:tr>
              <a:tr h="481693">
                <a:tc>
                  <a:txBody>
                    <a:bodyPr lIns="76200" tIns="76200" rIns="76200" bIns="76200"/>
                    <a:lstStyle/>
                    <a:p>
                      <a:r>
                        <a:rPr sz="2175" b="0">
                          <a:solidFill>
                            <a:srgbClr val="172B3A"/>
                          </a:solidFill>
                          <a:latin typeface="Arial"/>
                          <a:ea typeface="Arial"/>
                          <a:cs typeface="Arial"/>
                        </a:rPr>
                        <a:t>S1 / 12,000</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2175" b="0">
                          <a:solidFill>
                            <a:srgbClr val="172B3A"/>
                          </a:solidFill>
                          <a:latin typeface="Arial"/>
                          <a:ea typeface="Arial"/>
                          <a:cs typeface="Arial"/>
                        </a:rPr>
                        <a:t>30/30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2175" b="0">
                          <a:solidFill>
                            <a:srgbClr val="172B3A"/>
                          </a:solidFill>
                          <a:latin typeface="Arial"/>
                          <a:ea typeface="Arial"/>
                          <a:cs typeface="Arial"/>
                        </a:rPr>
                        <a:t>30/30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2175" b="0">
                          <a:solidFill>
                            <a:srgbClr val="172B3A"/>
                          </a:solidFill>
                          <a:latin typeface="Arial"/>
                          <a:ea typeface="Arial"/>
                          <a:cs typeface="Arial"/>
                        </a:rPr>
                        <a:t>24/30</a:t>
                      </a:r>
                    </a:p>
                  </a:txBody>
                  <a:tcPr marL="91440" marR="91440" marT="45720" marB="45720" anchor="ctr">
                    <a:lnR w="0">
                      <a:solidFill>
                        <a:srgbClr val="FFFFFF"/>
                      </a:solidFill>
                    </a:lnR>
                    <a:lnB w="0">
                      <a:solidFill>
                        <a:srgbClr val="FFFFFF"/>
                      </a:solidFill>
                    </a:lnB>
                    <a:solidFill>
                      <a:srgbClr val="FFFFFF"/>
                    </a:solidFill>
                  </a:tcPr>
                </a:tc>
              </a:tr>
              <a:tr h="481693">
                <a:tc>
                  <a:txBody>
                    <a:bodyPr lIns="76200" tIns="76200" rIns="76200" bIns="76200"/>
                    <a:lstStyle/>
                    <a:p>
                      <a:r>
                        <a:rPr sz="2175" b="0">
                          <a:solidFill>
                            <a:srgbClr val="172B3A"/>
                          </a:solidFill>
                          <a:latin typeface="Arial"/>
                          <a:ea typeface="Arial"/>
                          <a:cs typeface="Arial"/>
                        </a:rPr>
                        <a:t>S2 / 8,000</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2175" b="0">
                          <a:solidFill>
                            <a:srgbClr val="172B3A"/>
                          </a:solidFill>
                          <a:latin typeface="Arial"/>
                          <a:ea typeface="Arial"/>
                          <a:cs typeface="Arial"/>
                        </a:rPr>
                        <a:t>28/30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2175" b="0">
                          <a:solidFill>
                            <a:srgbClr val="172B3A"/>
                          </a:solidFill>
                          <a:latin typeface="Arial"/>
                          <a:ea typeface="Arial"/>
                          <a:cs typeface="Arial"/>
                        </a:rPr>
                        <a:t>24/30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2175" b="0">
                          <a:solidFill>
                            <a:srgbClr val="172B3A"/>
                          </a:solidFill>
                          <a:latin typeface="Arial"/>
                          <a:ea typeface="Arial"/>
                          <a:cs typeface="Arial"/>
                        </a:rPr>
                        <a:t>9/30</a:t>
                      </a:r>
                    </a:p>
                  </a:txBody>
                  <a:tcPr marL="91440" marR="91440" marT="45720" marB="45720" anchor="ctr">
                    <a:lnR w="0">
                      <a:solidFill>
                        <a:srgbClr val="FFFFFF"/>
                      </a:solidFill>
                    </a:lnR>
                    <a:lnB w="0">
                      <a:solidFill>
                        <a:srgbClr val="FFFFFF"/>
                      </a:solidFill>
                    </a:lnB>
                    <a:solidFill>
                      <a:srgbClr val="FFFFFF"/>
                    </a:solidFill>
                  </a:tcPr>
                </a:tc>
              </a:tr>
              <a:tr h="481693">
                <a:tc>
                  <a:txBody>
                    <a:bodyPr lIns="76200" tIns="76200" rIns="76200" bIns="76200"/>
                    <a:lstStyle/>
                    <a:p>
                      <a:r>
                        <a:rPr sz="2175" b="0">
                          <a:solidFill>
                            <a:srgbClr val="172B3A"/>
                          </a:solidFill>
                          <a:latin typeface="Arial"/>
                          <a:ea typeface="Arial"/>
                          <a:cs typeface="Arial"/>
                        </a:rPr>
                        <a:t>S2 / 12,000</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2175" b="0">
                          <a:solidFill>
                            <a:srgbClr val="172B3A"/>
                          </a:solidFill>
                          <a:latin typeface="Arial"/>
                          <a:ea typeface="Arial"/>
                          <a:cs typeface="Arial"/>
                        </a:rPr>
                        <a:t>30/30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2175" b="0">
                          <a:solidFill>
                            <a:srgbClr val="172B3A"/>
                          </a:solidFill>
                          <a:latin typeface="Arial"/>
                          <a:ea typeface="Arial"/>
                          <a:cs typeface="Arial"/>
                        </a:rPr>
                        <a:t>30/30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2175" b="0">
                          <a:solidFill>
                            <a:srgbClr val="172B3A"/>
                          </a:solidFill>
                          <a:latin typeface="Arial"/>
                          <a:ea typeface="Arial"/>
                          <a:cs typeface="Arial"/>
                        </a:rPr>
                        <a:t>20/30</a:t>
                      </a:r>
                    </a:p>
                  </a:txBody>
                  <a:tcPr marL="91440" marR="91440" marT="45720" marB="45720" anchor="ctr">
                    <a:lnR w="0">
                      <a:solidFill>
                        <a:srgbClr val="FFFFFF"/>
                      </a:solidFill>
                    </a:lnR>
                    <a:lnB w="0">
                      <a:solidFill>
                        <a:srgbClr val="FFFFFF"/>
                      </a:solidFill>
                    </a:lnB>
                    <a:solidFill>
                      <a:srgbClr val="FFFFFF"/>
                    </a:solidFill>
                  </a:tcPr>
                </a:tc>
              </a:tr>
              <a:tr h="481693">
                <a:tc>
                  <a:txBody>
                    <a:bodyPr lIns="76200" tIns="76200" rIns="76200" bIns="76200"/>
                    <a:lstStyle/>
                    <a:p>
                      <a:r>
                        <a:rPr sz="2175" b="0">
                          <a:solidFill>
                            <a:srgbClr val="172B3A"/>
                          </a:solidFill>
                          <a:latin typeface="Arial"/>
                          <a:ea typeface="Arial"/>
                          <a:cs typeface="Arial"/>
                        </a:rPr>
                        <a:t>S3 / 8,000</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2175" b="0">
                          <a:solidFill>
                            <a:srgbClr val="172B3A"/>
                          </a:solidFill>
                          <a:latin typeface="Arial"/>
                          <a:ea typeface="Arial"/>
                          <a:cs typeface="Arial"/>
                        </a:rPr>
                        <a:t>28/30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2175" b="0">
                          <a:solidFill>
                            <a:srgbClr val="172B3A"/>
                          </a:solidFill>
                          <a:latin typeface="Arial"/>
                          <a:ea typeface="Arial"/>
                          <a:cs typeface="Arial"/>
                        </a:rPr>
                        <a:t>25/30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2175" b="0">
                          <a:solidFill>
                            <a:srgbClr val="172B3A"/>
                          </a:solidFill>
                          <a:latin typeface="Arial"/>
                          <a:ea typeface="Arial"/>
                          <a:cs typeface="Arial"/>
                        </a:rPr>
                        <a:t>11/30</a:t>
                      </a:r>
                    </a:p>
                  </a:txBody>
                  <a:tcPr marL="91440" marR="91440" marT="45720" marB="45720" anchor="ctr">
                    <a:lnR w="0">
                      <a:solidFill>
                        <a:srgbClr val="FFFFFF"/>
                      </a:solidFill>
                    </a:lnR>
                    <a:lnB w="0">
                      <a:solidFill>
                        <a:srgbClr val="FFFFFF"/>
                      </a:solidFill>
                    </a:lnB>
                    <a:solidFill>
                      <a:srgbClr val="FFFFFF"/>
                    </a:solidFill>
                  </a:tcPr>
                </a:tc>
              </a:tr>
              <a:tr h="481693">
                <a:tc>
                  <a:txBody>
                    <a:bodyPr lIns="76200" tIns="76200" rIns="76200" bIns="76200"/>
                    <a:lstStyle/>
                    <a:p>
                      <a:r>
                        <a:rPr sz="2175" b="0">
                          <a:solidFill>
                            <a:srgbClr val="172B3A"/>
                          </a:solidFill>
                          <a:latin typeface="Arial"/>
                          <a:ea typeface="Arial"/>
                          <a:cs typeface="Arial"/>
                        </a:rPr>
                        <a:t>S3 / 12,000</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2175" b="0">
                          <a:solidFill>
                            <a:srgbClr val="172B3A"/>
                          </a:solidFill>
                          <a:latin typeface="Arial"/>
                          <a:ea typeface="Arial"/>
                          <a:cs typeface="Arial"/>
                        </a:rPr>
                        <a:t>30/30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2175" b="0">
                          <a:solidFill>
                            <a:srgbClr val="172B3A"/>
                          </a:solidFill>
                          <a:latin typeface="Arial"/>
                          <a:ea typeface="Arial"/>
                          <a:cs typeface="Arial"/>
                        </a:rPr>
                        <a:t>29/30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2175" b="0">
                          <a:solidFill>
                            <a:srgbClr val="172B3A"/>
                          </a:solidFill>
                          <a:latin typeface="Arial"/>
                          <a:ea typeface="Arial"/>
                          <a:cs typeface="Arial"/>
                        </a:rPr>
                        <a:t>23/30</a:t>
                      </a:r>
                    </a:p>
                  </a:txBody>
                  <a:tcPr marL="91440" marR="91440" marT="45720" marB="45720" anchor="ctr">
                    <a:lnR w="0">
                      <a:solidFill>
                        <a:srgbClr val="FFFFFF"/>
                      </a:solidFill>
                    </a:lnR>
                    <a:lnB w="0">
                      <a:solidFill>
                        <a:srgbClr val="FFFFFF"/>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0A3A557-6444-472B-8829-94295CEAC9DA}"/>
              </a:ext>
            </a:extLst>
          </p:cNvPr>
          <p:cNvSpPr>
            <a:spLocks xmlns:a="http://schemas.openxmlformats.org/drawingml/2006/main" noGrp="1"/>
          </p:cNvSpPr>
          <p:nvPr/>
        </p:nvSpPr>
        <p:spPr>
          <a:xfrm xmlns:a="http://schemas.openxmlformats.org/drawingml/2006/main">
            <a:off x="666750" y="53911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a:solidFill>
                  <a:srgbClr val="175F96"/>
                </a:solidFill>
                <a:latin typeface="Arial"/>
                <a:ea typeface="Arial"/>
                <a:cs typeface="Arial"/>
              </a:defRPr>
            </a:defPPr>
            <a:lvl1pPr>
              <a:defRPr sz="2175">
                <a:solidFill>
                  <a:srgbClr val="175F96"/>
                </a:solidFill>
                <a:latin typeface="Arial"/>
                <a:ea typeface="Arial"/>
                <a:cs typeface="Arial"/>
              </a:defRPr>
            </a:lvl1pPr>
            <a:lvl2pPr>
              <a:defRPr sz="2175">
                <a:solidFill>
                  <a:srgbClr val="175F96"/>
                </a:solidFill>
                <a:latin typeface="Arial"/>
                <a:ea typeface="Arial"/>
                <a:cs typeface="Arial"/>
              </a:defRPr>
            </a:lvl2pPr>
            <a:lvl3pPr>
              <a:defRPr sz="2175">
                <a:solidFill>
                  <a:srgbClr val="175F96"/>
                </a:solidFill>
                <a:latin typeface="Arial"/>
                <a:ea typeface="Arial"/>
                <a:cs typeface="Arial"/>
              </a:defRPr>
            </a:lvl3pPr>
            <a:lvl4pPr>
              <a:defRPr sz="2175">
                <a:solidFill>
                  <a:srgbClr val="175F96"/>
                </a:solidFill>
                <a:latin typeface="Arial"/>
                <a:ea typeface="Arial"/>
                <a:cs typeface="Arial"/>
              </a:defRPr>
            </a:lvl4pPr>
            <a:lvl5pPr>
              <a:defRPr sz="2175">
                <a:solidFill>
                  <a:srgbClr val="175F96"/>
                </a:solidFill>
                <a:latin typeface="Arial"/>
                <a:ea typeface="Arial"/>
                <a:cs typeface="Arial"/>
              </a:defRPr>
            </a:lvl5pPr>
            <a:lvl6pPr>
              <a:defRPr sz="2175">
                <a:solidFill>
                  <a:srgbClr val="175F96"/>
                </a:solidFill>
                <a:latin typeface="Arial"/>
                <a:ea typeface="Arial"/>
                <a:cs typeface="Arial"/>
              </a:defRPr>
            </a:lvl6pPr>
            <a:lvl7pPr>
              <a:defRPr sz="2175">
                <a:solidFill>
                  <a:srgbClr val="175F96"/>
                </a:solidFill>
                <a:latin typeface="Arial"/>
                <a:ea typeface="Arial"/>
                <a:cs typeface="Arial"/>
              </a:defRPr>
            </a:lvl7pPr>
            <a:lvl8pPr>
              <a:defRPr sz="2175">
                <a:solidFill>
                  <a:srgbClr val="175F96"/>
                </a:solidFill>
                <a:latin typeface="Arial"/>
                <a:ea typeface="Arial"/>
                <a:cs typeface="Arial"/>
              </a:defRPr>
            </a:lvl8pPr>
            <a:lvl9pPr>
              <a:defRPr sz="2175">
                <a:solidFill>
                  <a:srgbClr val="175F96"/>
                </a:solidFill>
                <a:latin typeface="Arial"/>
                <a:ea typeface="Arial"/>
                <a:cs typeface="Arial"/>
              </a:defRPr>
            </a:lvl9pPr>
          </a:lstStyle>
          <a:p xmlns:a="http://schemas.openxmlformats.org/drawingml/2006/main">
            <a:pPr>
              <a:defRPr sz="2175">
                <a:solidFill>
                  <a:srgbClr val="175F96"/>
                </a:solidFill>
                <a:latin typeface="Arial"/>
                <a:ea typeface="Arial"/>
                <a:cs typeface="Arial"/>
              </a:defRPr>
            </a:pPr>
            <a:r>
              <a:rPr sz="2175">
                <a:solidFill>
                  <a:srgbClr val="175F96"/>
                </a:solidFill>
                <a:latin typeface="Arial"/>
                <a:ea typeface="Arial"/>
                <a:cs typeface="Arial"/>
              </a:rPr>
              <a:t>At 12k, only the split-2 four-run comparison survives correction.</a:t>
            </a:r>
          </a:p>
        </p:txBody>
      </p:sp>
      <p:sp>
        <p:nvSpPr>
          <p:cNvPr id="6" name="">
            <a:extLst xmlns:a="http://schemas.openxmlformats.org/drawingml/2006/main">
              <a:ext uri="{FF2B5EF4-FFF2-40B4-BE49-F238E27FC236}">
                <a16:creationId xmlns:a16="http://schemas.microsoft.com/office/drawing/2014/main" id="{AEE083F0-BF94-4F52-AFB8-A0F45C1DE1FF}"/>
              </a:ext>
            </a:extLst>
          </p:cNvPr>
          <p:cNvSpPr>
            <a:spLocks xmlns:a="http://schemas.openxmlformats.org/drawingml/2006/main" noGrp="1"/>
          </p:cNvSpPr>
          <p:nvPr/>
        </p:nvSpPr>
        <p:spPr>
          <a:xfrm xmlns:a="http://schemas.openxmlformats.org/drawingml/2006/main">
            <a:off x="666750" y="59721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a:solidFill>
                  <a:srgbClr val="172B3A"/>
                </a:solidFill>
                <a:latin typeface="Arial"/>
                <a:ea typeface="Arial"/>
                <a:cs typeface="Arial"/>
              </a:defRPr>
            </a:defPPr>
            <a:lvl1pPr>
              <a:defRPr sz="1875">
                <a:solidFill>
                  <a:srgbClr val="172B3A"/>
                </a:solidFill>
                <a:latin typeface="Arial"/>
                <a:ea typeface="Arial"/>
                <a:cs typeface="Arial"/>
              </a:defRPr>
            </a:lvl1pPr>
            <a:lvl2pPr>
              <a:defRPr sz="1875">
                <a:solidFill>
                  <a:srgbClr val="172B3A"/>
                </a:solidFill>
                <a:latin typeface="Arial"/>
                <a:ea typeface="Arial"/>
                <a:cs typeface="Arial"/>
              </a:defRPr>
            </a:lvl2pPr>
            <a:lvl3pPr>
              <a:defRPr sz="1875">
                <a:solidFill>
                  <a:srgbClr val="172B3A"/>
                </a:solidFill>
                <a:latin typeface="Arial"/>
                <a:ea typeface="Arial"/>
                <a:cs typeface="Arial"/>
              </a:defRPr>
            </a:lvl3pPr>
            <a:lvl4pPr>
              <a:defRPr sz="1875">
                <a:solidFill>
                  <a:srgbClr val="172B3A"/>
                </a:solidFill>
                <a:latin typeface="Arial"/>
                <a:ea typeface="Arial"/>
                <a:cs typeface="Arial"/>
              </a:defRPr>
            </a:lvl4pPr>
            <a:lvl5pPr>
              <a:defRPr sz="1875">
                <a:solidFill>
                  <a:srgbClr val="172B3A"/>
                </a:solidFill>
                <a:latin typeface="Arial"/>
                <a:ea typeface="Arial"/>
                <a:cs typeface="Arial"/>
              </a:defRPr>
            </a:lvl5pPr>
            <a:lvl6pPr>
              <a:defRPr sz="1875">
                <a:solidFill>
                  <a:srgbClr val="172B3A"/>
                </a:solidFill>
                <a:latin typeface="Arial"/>
                <a:ea typeface="Arial"/>
                <a:cs typeface="Arial"/>
              </a:defRPr>
            </a:lvl6pPr>
            <a:lvl7pPr>
              <a:defRPr sz="1875">
                <a:solidFill>
                  <a:srgbClr val="172B3A"/>
                </a:solidFill>
                <a:latin typeface="Arial"/>
                <a:ea typeface="Arial"/>
                <a:cs typeface="Arial"/>
              </a:defRPr>
            </a:lvl7pPr>
            <a:lvl8pPr>
              <a:defRPr sz="1875">
                <a:solidFill>
                  <a:srgbClr val="172B3A"/>
                </a:solidFill>
                <a:latin typeface="Arial"/>
                <a:ea typeface="Arial"/>
                <a:cs typeface="Arial"/>
              </a:defRPr>
            </a:lvl8pPr>
            <a:lvl9pPr>
              <a:defRPr sz="1875">
                <a:solidFill>
                  <a:srgbClr val="172B3A"/>
                </a:solidFill>
                <a:latin typeface="Arial"/>
                <a:ea typeface="Arial"/>
                <a:cs typeface="Arial"/>
              </a:defRPr>
            </a:lvl9pPr>
          </a:lstStyle>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Example uncertainty: 28/30 = 93.3%, exact 95% interval 77.9% to 99.2%.</a:t>
            </a:r>
          </a:p>
        </p:txBody>
      </p:sp>
    </p:spTree>
    <p:extLst>
      <p:ext uri="{BB962C8B-B14F-4D97-AF65-F5344CB8AC3E}">
        <p14:creationId xmlns:p14="http://schemas.microsoft.com/office/powerpoint/2010/main" val="3705014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528F21E-BA8A-48B3-86DA-FB52B2A45A1D}"/>
              </a:ext>
            </a:extLst>
          </p:cNvPr>
          <p:cNvSpPr>
            <a:spLocks xmlns:a="http://schemas.openxmlformats.org/drawingml/2006/main" noGrp="1"/>
          </p:cNvSpPr>
          <p:nvPr/>
        </p:nvSpPr>
        <p:spPr>
          <a:xfrm xmlns:a="http://schemas.openxmlformats.org/drawingml/2006/main">
            <a:off x="666750" y="4095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B3A"/>
                </a:solidFill>
                <a:latin typeface="Arial"/>
                <a:ea typeface="Arial"/>
                <a:cs typeface="Arial"/>
              </a:defRPr>
            </a:defPPr>
            <a:lvl1pPr>
              <a:defRPr sz="3150" b="1">
                <a:solidFill>
                  <a:srgbClr val="172B3A"/>
                </a:solidFill>
                <a:latin typeface="Arial"/>
                <a:ea typeface="Arial"/>
                <a:cs typeface="Arial"/>
              </a:defRPr>
            </a:lvl1pPr>
            <a:lvl2pPr>
              <a:defRPr sz="3150" b="1">
                <a:solidFill>
                  <a:srgbClr val="172B3A"/>
                </a:solidFill>
                <a:latin typeface="Arial"/>
                <a:ea typeface="Arial"/>
                <a:cs typeface="Arial"/>
              </a:defRPr>
            </a:lvl2pPr>
            <a:lvl3pPr>
              <a:defRPr sz="3150" b="1">
                <a:solidFill>
                  <a:srgbClr val="172B3A"/>
                </a:solidFill>
                <a:latin typeface="Arial"/>
                <a:ea typeface="Arial"/>
                <a:cs typeface="Arial"/>
              </a:defRPr>
            </a:lvl3pPr>
            <a:lvl4pPr>
              <a:defRPr sz="3150" b="1">
                <a:solidFill>
                  <a:srgbClr val="172B3A"/>
                </a:solidFill>
                <a:latin typeface="Arial"/>
                <a:ea typeface="Arial"/>
                <a:cs typeface="Arial"/>
              </a:defRPr>
            </a:lvl4pPr>
            <a:lvl5pPr>
              <a:defRPr sz="3150" b="1">
                <a:solidFill>
                  <a:srgbClr val="172B3A"/>
                </a:solidFill>
                <a:latin typeface="Arial"/>
                <a:ea typeface="Arial"/>
                <a:cs typeface="Arial"/>
              </a:defRPr>
            </a:lvl5pPr>
            <a:lvl6pPr>
              <a:defRPr sz="3150" b="1">
                <a:solidFill>
                  <a:srgbClr val="172B3A"/>
                </a:solidFill>
                <a:latin typeface="Arial"/>
                <a:ea typeface="Arial"/>
                <a:cs typeface="Arial"/>
              </a:defRPr>
            </a:lvl6pPr>
            <a:lvl7pPr>
              <a:defRPr sz="3150" b="1">
                <a:solidFill>
                  <a:srgbClr val="172B3A"/>
                </a:solidFill>
                <a:latin typeface="Arial"/>
                <a:ea typeface="Arial"/>
                <a:cs typeface="Arial"/>
              </a:defRPr>
            </a:lvl7pPr>
            <a:lvl8pPr>
              <a:defRPr sz="3150" b="1">
                <a:solidFill>
                  <a:srgbClr val="172B3A"/>
                </a:solidFill>
                <a:latin typeface="Arial"/>
                <a:ea typeface="Arial"/>
                <a:cs typeface="Arial"/>
              </a:defRPr>
            </a:lvl8pPr>
            <a:lvl9pPr>
              <a:defRPr sz="3150" b="1">
                <a:solidFill>
                  <a:srgbClr val="172B3A"/>
                </a:solidFill>
                <a:latin typeface="Arial"/>
                <a:ea typeface="Arial"/>
                <a:cs typeface="Arial"/>
              </a:defRPr>
            </a:lvl9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First success and longer stability</a:t>
            </a:r>
          </a:p>
        </p:txBody>
      </p:sp>
      <p:sp>
        <p:nvSpPr>
          <p:cNvPr id="3" name="">
            <a:extLst xmlns:a="http://schemas.openxmlformats.org/drawingml/2006/main">
              <a:ext uri="{FF2B5EF4-FFF2-40B4-BE49-F238E27FC236}">
                <a16:creationId xmlns:a16="http://schemas.microsoft.com/office/drawing/2014/main" id="{644ED432-AE46-4F73-BE0C-74E550F04B49}"/>
              </a:ext>
            </a:extLst>
          </p:cNvPr>
          <p:cNvSpPr>
            <a:spLocks xmlns:a="http://schemas.openxmlformats.org/drawingml/2006/main" noGrp="1"/>
          </p:cNvSpPr>
          <p:nvPr/>
        </p:nvSpPr>
        <p:spPr>
          <a:xfrm xmlns:a="http://schemas.openxmlformats.org/drawingml/2006/main">
            <a:off x="666750" y="647700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a:solidFill>
                  <a:srgbClr val="637E8E"/>
                </a:solidFill>
                <a:latin typeface="Arial"/>
                <a:ea typeface="Arial"/>
                <a:cs typeface="Arial"/>
              </a:defRPr>
            </a:defPPr>
            <a:lvl1pPr>
              <a:defRPr sz="1350">
                <a:solidFill>
                  <a:srgbClr val="637E8E"/>
                </a:solidFill>
                <a:latin typeface="Arial"/>
                <a:ea typeface="Arial"/>
                <a:cs typeface="Arial"/>
              </a:defRPr>
            </a:lvl1pPr>
            <a:lvl2pPr>
              <a:defRPr sz="1350">
                <a:solidFill>
                  <a:srgbClr val="637E8E"/>
                </a:solidFill>
                <a:latin typeface="Arial"/>
                <a:ea typeface="Arial"/>
                <a:cs typeface="Arial"/>
              </a:defRPr>
            </a:lvl2pPr>
            <a:lvl3pPr>
              <a:defRPr sz="1350">
                <a:solidFill>
                  <a:srgbClr val="637E8E"/>
                </a:solidFill>
                <a:latin typeface="Arial"/>
                <a:ea typeface="Arial"/>
                <a:cs typeface="Arial"/>
              </a:defRPr>
            </a:lvl3pPr>
            <a:lvl4pPr>
              <a:defRPr sz="1350">
                <a:solidFill>
                  <a:srgbClr val="637E8E"/>
                </a:solidFill>
                <a:latin typeface="Arial"/>
                <a:ea typeface="Arial"/>
                <a:cs typeface="Arial"/>
              </a:defRPr>
            </a:lvl4pPr>
            <a:lvl5pPr>
              <a:defRPr sz="1350">
                <a:solidFill>
                  <a:srgbClr val="637E8E"/>
                </a:solidFill>
                <a:latin typeface="Arial"/>
                <a:ea typeface="Arial"/>
                <a:cs typeface="Arial"/>
              </a:defRPr>
            </a:lvl5pPr>
            <a:lvl6pPr>
              <a:defRPr sz="1350">
                <a:solidFill>
                  <a:srgbClr val="637E8E"/>
                </a:solidFill>
                <a:latin typeface="Arial"/>
                <a:ea typeface="Arial"/>
                <a:cs typeface="Arial"/>
              </a:defRPr>
            </a:lvl6pPr>
            <a:lvl7pPr>
              <a:defRPr sz="1350">
                <a:solidFill>
                  <a:srgbClr val="637E8E"/>
                </a:solidFill>
                <a:latin typeface="Arial"/>
                <a:ea typeface="Arial"/>
                <a:cs typeface="Arial"/>
              </a:defRPr>
            </a:lvl7pPr>
            <a:lvl8pPr>
              <a:defRPr sz="1350">
                <a:solidFill>
                  <a:srgbClr val="637E8E"/>
                </a:solidFill>
                <a:latin typeface="Arial"/>
                <a:ea typeface="Arial"/>
                <a:cs typeface="Arial"/>
              </a:defRPr>
            </a:lvl8pPr>
            <a:lvl9pPr>
              <a:defRPr sz="1350">
                <a:solidFill>
                  <a:srgbClr val="637E8E"/>
                </a:solidFill>
                <a:latin typeface="Arial"/>
                <a:ea typeface="Arial"/>
                <a:cs typeface="Arial"/>
              </a:defRPr>
            </a:lvl9pPr>
          </a:lstStyle>
          <a:p xmlns:a="http://schemas.openxmlformats.org/drawingml/2006/main">
            <a:pPr>
              <a:defRPr sz="1350">
                <a:solidFill>
                  <a:srgbClr val="637E8E"/>
                </a:solidFill>
                <a:latin typeface="Arial"/>
                <a:ea typeface="Arial"/>
                <a:cs typeface="Arial"/>
              </a:defRPr>
            </a:pPr>
            <a:r>
              <a:rPr sz="1350">
                <a:solidFill>
                  <a:srgbClr val="637E8E"/>
                </a:solidFill>
                <a:latin typeface="Arial"/>
                <a:ea typeface="Arial"/>
                <a:cs typeface="Arial"/>
              </a:rPr>
              <a:t>Assessment 10  /  9</a:t>
            </a:r>
          </a:p>
        </p:txBody>
      </p:sp>
      <p:sp>
        <p:nvSpPr>
          <p:cNvPr id="4" name="">
            <a:extLst xmlns:a="http://schemas.openxmlformats.org/drawingml/2006/main">
              <a:ext uri="{FF2B5EF4-FFF2-40B4-BE49-F238E27FC236}">
                <a16:creationId xmlns:a16="http://schemas.microsoft.com/office/drawing/2014/main" id="{E7DDBEC7-1A73-4E20-BB2F-25DBC7B014E8}"/>
              </a:ext>
            </a:extLst>
          </p:cNvPr>
          <p:cNvSpPr>
            <a:spLocks xmlns:a="http://schemas.openxmlformats.org/drawingml/2006/main" noGrp="1"/>
          </p:cNvSpPr>
          <p:nvPr/>
        </p:nvSpPr>
        <p:spPr>
          <a:xfrm xmlns:a="http://schemas.openxmlformats.org/drawingml/2006/main">
            <a:off x="666750" y="1657350"/>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a:solidFill>
                  <a:srgbClr val="172B3A"/>
                </a:solidFill>
                <a:latin typeface="Arial"/>
                <a:ea typeface="Arial"/>
                <a:cs typeface="Arial"/>
              </a:defRPr>
            </a:defPPr>
            <a:lvl1pPr>
              <a:defRPr sz="2250">
                <a:solidFill>
                  <a:srgbClr val="172B3A"/>
                </a:solidFill>
                <a:latin typeface="Arial"/>
                <a:ea typeface="Arial"/>
                <a:cs typeface="Arial"/>
              </a:defRPr>
            </a:lvl1pPr>
            <a:lvl2pPr>
              <a:defRPr sz="2250">
                <a:solidFill>
                  <a:srgbClr val="172B3A"/>
                </a:solidFill>
                <a:latin typeface="Arial"/>
                <a:ea typeface="Arial"/>
                <a:cs typeface="Arial"/>
              </a:defRPr>
            </a:lvl2pPr>
            <a:lvl3pPr>
              <a:defRPr sz="2250">
                <a:solidFill>
                  <a:srgbClr val="172B3A"/>
                </a:solidFill>
                <a:latin typeface="Arial"/>
                <a:ea typeface="Arial"/>
                <a:cs typeface="Arial"/>
              </a:defRPr>
            </a:lvl3pPr>
            <a:lvl4pPr>
              <a:defRPr sz="2250">
                <a:solidFill>
                  <a:srgbClr val="172B3A"/>
                </a:solidFill>
                <a:latin typeface="Arial"/>
                <a:ea typeface="Arial"/>
                <a:cs typeface="Arial"/>
              </a:defRPr>
            </a:lvl4pPr>
            <a:lvl5pPr>
              <a:defRPr sz="2250">
                <a:solidFill>
                  <a:srgbClr val="172B3A"/>
                </a:solidFill>
                <a:latin typeface="Arial"/>
                <a:ea typeface="Arial"/>
                <a:cs typeface="Arial"/>
              </a:defRPr>
            </a:lvl5pPr>
            <a:lvl6pPr>
              <a:defRPr sz="2250">
                <a:solidFill>
                  <a:srgbClr val="172B3A"/>
                </a:solidFill>
                <a:latin typeface="Arial"/>
                <a:ea typeface="Arial"/>
                <a:cs typeface="Arial"/>
              </a:defRPr>
            </a:lvl6pPr>
            <a:lvl7pPr>
              <a:defRPr sz="2250">
                <a:solidFill>
                  <a:srgbClr val="172B3A"/>
                </a:solidFill>
                <a:latin typeface="Arial"/>
                <a:ea typeface="Arial"/>
                <a:cs typeface="Arial"/>
              </a:defRPr>
            </a:lvl7pPr>
            <a:lvl8pPr>
              <a:defRPr sz="2250">
                <a:solidFill>
                  <a:srgbClr val="172B3A"/>
                </a:solidFill>
                <a:latin typeface="Arial"/>
                <a:ea typeface="Arial"/>
                <a:cs typeface="Arial"/>
              </a:defRPr>
            </a:lvl8pPr>
            <a:lvl9pPr>
              <a:defRPr sz="2250">
                <a:solidFill>
                  <a:srgbClr val="172B3A"/>
                </a:solidFill>
                <a:latin typeface="Arial"/>
                <a:ea typeface="Arial"/>
                <a:cs typeface="Arial"/>
              </a:defRPr>
            </a:lvl9pPr>
          </a:lstStyle>
          <a:p xmlns:a="http://schemas.openxmlformats.org/drawingml/2006/main">
            <a:pPr>
              <a:defRPr sz="2250">
                <a:solidFill>
                  <a:srgbClr val="172B3A"/>
                </a:solidFill>
                <a:latin typeface="Arial"/>
                <a:ea typeface="Arial"/>
                <a:cs typeface="Arial"/>
              </a:defRPr>
            </a:pPr>
            <a:r>
              <a:rPr sz="2250">
                <a:solidFill>
                  <a:srgbClr val="172B3A"/>
                </a:solidFill>
                <a:latin typeface="Arial"/>
                <a:ea typeface="Arial"/>
                <a:cs typeface="Arial"/>
              </a:rPr>
              <a:t>First confirmation needs 3 good checks.</a:t>
            </a:r>
          </a:p>
        </p:txBody>
      </p:sp>
      <p:sp>
        <p:nvSpPr>
          <p:cNvPr id="5" name="">
            <a:extLst xmlns:a="http://schemas.openxmlformats.org/drawingml/2006/main">
              <a:ext uri="{FF2B5EF4-FFF2-40B4-BE49-F238E27FC236}">
                <a16:creationId xmlns:a16="http://schemas.microsoft.com/office/drawing/2014/main" id="{38AEBD0E-632F-4D55-BCB1-D64DD51CB4E7}"/>
              </a:ext>
            </a:extLst>
          </p:cNvPr>
          <p:cNvSpPr>
            <a:spLocks xmlns:a="http://schemas.openxmlformats.org/drawingml/2006/main" noGrp="1"/>
          </p:cNvSpPr>
          <p:nvPr/>
        </p:nvSpPr>
        <p:spPr>
          <a:xfrm xmlns:a="http://schemas.openxmlformats.org/drawingml/2006/main">
            <a:off x="666750" y="2495550"/>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a:solidFill>
                  <a:srgbClr val="172B3A"/>
                </a:solidFill>
                <a:latin typeface="Arial"/>
                <a:ea typeface="Arial"/>
                <a:cs typeface="Arial"/>
              </a:defRPr>
            </a:defPPr>
            <a:lvl1pPr>
              <a:defRPr sz="2250">
                <a:solidFill>
                  <a:srgbClr val="172B3A"/>
                </a:solidFill>
                <a:latin typeface="Arial"/>
                <a:ea typeface="Arial"/>
                <a:cs typeface="Arial"/>
              </a:defRPr>
            </a:lvl1pPr>
            <a:lvl2pPr>
              <a:defRPr sz="2250">
                <a:solidFill>
                  <a:srgbClr val="172B3A"/>
                </a:solidFill>
                <a:latin typeface="Arial"/>
                <a:ea typeface="Arial"/>
                <a:cs typeface="Arial"/>
              </a:defRPr>
            </a:lvl2pPr>
            <a:lvl3pPr>
              <a:defRPr sz="2250">
                <a:solidFill>
                  <a:srgbClr val="172B3A"/>
                </a:solidFill>
                <a:latin typeface="Arial"/>
                <a:ea typeface="Arial"/>
                <a:cs typeface="Arial"/>
              </a:defRPr>
            </a:lvl3pPr>
            <a:lvl4pPr>
              <a:defRPr sz="2250">
                <a:solidFill>
                  <a:srgbClr val="172B3A"/>
                </a:solidFill>
                <a:latin typeface="Arial"/>
                <a:ea typeface="Arial"/>
                <a:cs typeface="Arial"/>
              </a:defRPr>
            </a:lvl4pPr>
            <a:lvl5pPr>
              <a:defRPr sz="2250">
                <a:solidFill>
                  <a:srgbClr val="172B3A"/>
                </a:solidFill>
                <a:latin typeface="Arial"/>
                <a:ea typeface="Arial"/>
                <a:cs typeface="Arial"/>
              </a:defRPr>
            </a:lvl5pPr>
            <a:lvl6pPr>
              <a:defRPr sz="2250">
                <a:solidFill>
                  <a:srgbClr val="172B3A"/>
                </a:solidFill>
                <a:latin typeface="Arial"/>
                <a:ea typeface="Arial"/>
                <a:cs typeface="Arial"/>
              </a:defRPr>
            </a:lvl6pPr>
            <a:lvl7pPr>
              <a:defRPr sz="2250">
                <a:solidFill>
                  <a:srgbClr val="172B3A"/>
                </a:solidFill>
                <a:latin typeface="Arial"/>
                <a:ea typeface="Arial"/>
                <a:cs typeface="Arial"/>
              </a:defRPr>
            </a:lvl7pPr>
            <a:lvl8pPr>
              <a:defRPr sz="2250">
                <a:solidFill>
                  <a:srgbClr val="172B3A"/>
                </a:solidFill>
                <a:latin typeface="Arial"/>
                <a:ea typeface="Arial"/>
                <a:cs typeface="Arial"/>
              </a:defRPr>
            </a:lvl8pPr>
            <a:lvl9pPr>
              <a:defRPr sz="2250">
                <a:solidFill>
                  <a:srgbClr val="172B3A"/>
                </a:solidFill>
                <a:latin typeface="Arial"/>
                <a:ea typeface="Arial"/>
                <a:cs typeface="Arial"/>
              </a:defRPr>
            </a:lvl9pPr>
          </a:lstStyle>
          <a:p xmlns:a="http://schemas.openxmlformats.org/drawingml/2006/main">
            <a:pPr>
              <a:defRPr sz="2250">
                <a:solidFill>
                  <a:srgbClr val="172B3A"/>
                </a:solidFill>
                <a:latin typeface="Arial"/>
                <a:ea typeface="Arial"/>
                <a:cs typeface="Arial"/>
              </a:defRPr>
            </a:pPr>
            <a:r>
              <a:rPr sz="2250">
                <a:solidFill>
                  <a:srgbClr val="172B3A"/>
                </a:solidFill>
                <a:latin typeface="Arial"/>
                <a:ea typeface="Arial"/>
                <a:cs typeface="Arial"/>
              </a:rPr>
              <a:t>The 500-update window needs 21 good checks within the budget.</a:t>
            </a:r>
          </a:p>
        </p:txBody>
      </p:sp>
      <p:sp>
        <p:nvSpPr>
          <p:cNvPr id="6" name="">
            <a:extLst xmlns:a="http://schemas.openxmlformats.org/drawingml/2006/main">
              <a:ext uri="{FF2B5EF4-FFF2-40B4-BE49-F238E27FC236}">
                <a16:creationId xmlns:a16="http://schemas.microsoft.com/office/drawing/2014/main" id="{FC83381D-8A14-4763-8B93-9859FC16AE2C}"/>
              </a:ext>
            </a:extLst>
          </p:cNvPr>
          <p:cNvSpPr>
            <a:spLocks xmlns:a="http://schemas.openxmlformats.org/drawingml/2006/main" noGrp="1"/>
          </p:cNvSpPr>
          <p:nvPr/>
        </p:nvSpPr>
        <p:spPr>
          <a:xfrm xmlns:a="http://schemas.openxmlformats.org/drawingml/2006/main">
            <a:off x="666750" y="3333750"/>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a:solidFill>
                  <a:srgbClr val="172B3A"/>
                </a:solidFill>
                <a:latin typeface="Arial"/>
                <a:ea typeface="Arial"/>
                <a:cs typeface="Arial"/>
              </a:defRPr>
            </a:defPPr>
            <a:lvl1pPr>
              <a:defRPr sz="2250">
                <a:solidFill>
                  <a:srgbClr val="172B3A"/>
                </a:solidFill>
                <a:latin typeface="Arial"/>
                <a:ea typeface="Arial"/>
                <a:cs typeface="Arial"/>
              </a:defRPr>
            </a:lvl1pPr>
            <a:lvl2pPr>
              <a:defRPr sz="2250">
                <a:solidFill>
                  <a:srgbClr val="172B3A"/>
                </a:solidFill>
                <a:latin typeface="Arial"/>
                <a:ea typeface="Arial"/>
                <a:cs typeface="Arial"/>
              </a:defRPr>
            </a:lvl2pPr>
            <a:lvl3pPr>
              <a:defRPr sz="2250">
                <a:solidFill>
                  <a:srgbClr val="172B3A"/>
                </a:solidFill>
                <a:latin typeface="Arial"/>
                <a:ea typeface="Arial"/>
                <a:cs typeface="Arial"/>
              </a:defRPr>
            </a:lvl3pPr>
            <a:lvl4pPr>
              <a:defRPr sz="2250">
                <a:solidFill>
                  <a:srgbClr val="172B3A"/>
                </a:solidFill>
                <a:latin typeface="Arial"/>
                <a:ea typeface="Arial"/>
                <a:cs typeface="Arial"/>
              </a:defRPr>
            </a:lvl4pPr>
            <a:lvl5pPr>
              <a:defRPr sz="2250">
                <a:solidFill>
                  <a:srgbClr val="172B3A"/>
                </a:solidFill>
                <a:latin typeface="Arial"/>
                <a:ea typeface="Arial"/>
                <a:cs typeface="Arial"/>
              </a:defRPr>
            </a:lvl5pPr>
            <a:lvl6pPr>
              <a:defRPr sz="2250">
                <a:solidFill>
                  <a:srgbClr val="172B3A"/>
                </a:solidFill>
                <a:latin typeface="Arial"/>
                <a:ea typeface="Arial"/>
                <a:cs typeface="Arial"/>
              </a:defRPr>
            </a:lvl6pPr>
            <a:lvl7pPr>
              <a:defRPr sz="2250">
                <a:solidFill>
                  <a:srgbClr val="172B3A"/>
                </a:solidFill>
                <a:latin typeface="Arial"/>
                <a:ea typeface="Arial"/>
                <a:cs typeface="Arial"/>
              </a:defRPr>
            </a:lvl7pPr>
            <a:lvl8pPr>
              <a:defRPr sz="2250">
                <a:solidFill>
                  <a:srgbClr val="172B3A"/>
                </a:solidFill>
                <a:latin typeface="Arial"/>
                <a:ea typeface="Arial"/>
                <a:cs typeface="Arial"/>
              </a:defRPr>
            </a:lvl8pPr>
            <a:lvl9pPr>
              <a:defRPr sz="2250">
                <a:solidFill>
                  <a:srgbClr val="172B3A"/>
                </a:solidFill>
                <a:latin typeface="Arial"/>
                <a:ea typeface="Arial"/>
                <a:cs typeface="Arial"/>
              </a:defRPr>
            </a:lvl9pPr>
          </a:lstStyle>
          <a:p xmlns:a="http://schemas.openxmlformats.org/drawingml/2006/main">
            <a:pPr>
              <a:defRPr sz="2250">
                <a:solidFill>
                  <a:srgbClr val="172B3A"/>
                </a:solidFill>
                <a:latin typeface="Arial"/>
                <a:ea typeface="Arial"/>
                <a:cs typeface="Arial"/>
              </a:defRPr>
            </a:pPr>
            <a:r>
              <a:rPr sz="2250">
                <a:solidFill>
                  <a:srgbClr val="172B3A"/>
                </a:solidFill>
                <a:latin typeface="Arial"/>
                <a:ea typeface="Arial"/>
                <a:cs typeface="Arial"/>
              </a:rPr>
              <a:t>Split 1 at 8k, four starts: 12/30 first, but 4/30 longer-window successes.</a:t>
            </a:r>
          </a:p>
        </p:txBody>
      </p:sp>
      <p:sp>
        <p:nvSpPr>
          <p:cNvPr id="7" name="">
            <a:extLst xmlns:a="http://schemas.openxmlformats.org/drawingml/2006/main">
              <a:ext uri="{FF2B5EF4-FFF2-40B4-BE49-F238E27FC236}">
                <a16:creationId xmlns:a16="http://schemas.microsoft.com/office/drawing/2014/main" id="{A6D2581F-4AF5-42FD-845D-1026FF79C0C0}"/>
              </a:ext>
            </a:extLst>
          </p:cNvPr>
          <p:cNvSpPr>
            <a:spLocks xmlns:a="http://schemas.openxmlformats.org/drawingml/2006/main" noGrp="1"/>
          </p:cNvSpPr>
          <p:nvPr/>
        </p:nvSpPr>
        <p:spPr>
          <a:xfrm xmlns:a="http://schemas.openxmlformats.org/drawingml/2006/main">
            <a:off x="666750" y="4171950"/>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a:solidFill>
                  <a:srgbClr val="172B3A"/>
                </a:solidFill>
                <a:latin typeface="Arial"/>
                <a:ea typeface="Arial"/>
                <a:cs typeface="Arial"/>
              </a:defRPr>
            </a:defPPr>
            <a:lvl1pPr>
              <a:defRPr sz="2250">
                <a:solidFill>
                  <a:srgbClr val="172B3A"/>
                </a:solidFill>
                <a:latin typeface="Arial"/>
                <a:ea typeface="Arial"/>
                <a:cs typeface="Arial"/>
              </a:defRPr>
            </a:lvl1pPr>
            <a:lvl2pPr>
              <a:defRPr sz="2250">
                <a:solidFill>
                  <a:srgbClr val="172B3A"/>
                </a:solidFill>
                <a:latin typeface="Arial"/>
                <a:ea typeface="Arial"/>
                <a:cs typeface="Arial"/>
              </a:defRPr>
            </a:lvl2pPr>
            <a:lvl3pPr>
              <a:defRPr sz="2250">
                <a:solidFill>
                  <a:srgbClr val="172B3A"/>
                </a:solidFill>
                <a:latin typeface="Arial"/>
                <a:ea typeface="Arial"/>
                <a:cs typeface="Arial"/>
              </a:defRPr>
            </a:lvl3pPr>
            <a:lvl4pPr>
              <a:defRPr sz="2250">
                <a:solidFill>
                  <a:srgbClr val="172B3A"/>
                </a:solidFill>
                <a:latin typeface="Arial"/>
                <a:ea typeface="Arial"/>
                <a:cs typeface="Arial"/>
              </a:defRPr>
            </a:lvl4pPr>
            <a:lvl5pPr>
              <a:defRPr sz="2250">
                <a:solidFill>
                  <a:srgbClr val="172B3A"/>
                </a:solidFill>
                <a:latin typeface="Arial"/>
                <a:ea typeface="Arial"/>
                <a:cs typeface="Arial"/>
              </a:defRPr>
            </a:lvl5pPr>
            <a:lvl6pPr>
              <a:defRPr sz="2250">
                <a:solidFill>
                  <a:srgbClr val="172B3A"/>
                </a:solidFill>
                <a:latin typeface="Arial"/>
                <a:ea typeface="Arial"/>
                <a:cs typeface="Arial"/>
              </a:defRPr>
            </a:lvl6pPr>
            <a:lvl7pPr>
              <a:defRPr sz="2250">
                <a:solidFill>
                  <a:srgbClr val="172B3A"/>
                </a:solidFill>
                <a:latin typeface="Arial"/>
                <a:ea typeface="Arial"/>
                <a:cs typeface="Arial"/>
              </a:defRPr>
            </a:lvl7pPr>
            <a:lvl8pPr>
              <a:defRPr sz="2250">
                <a:solidFill>
                  <a:srgbClr val="172B3A"/>
                </a:solidFill>
                <a:latin typeface="Arial"/>
                <a:ea typeface="Arial"/>
                <a:cs typeface="Arial"/>
              </a:defRPr>
            </a:lvl8pPr>
            <a:lvl9pPr>
              <a:defRPr sz="2250">
                <a:solidFill>
                  <a:srgbClr val="172B3A"/>
                </a:solidFill>
                <a:latin typeface="Arial"/>
                <a:ea typeface="Arial"/>
                <a:cs typeface="Arial"/>
              </a:defRPr>
            </a:lvl9pPr>
          </a:lstStyle>
          <a:p xmlns:a="http://schemas.openxmlformats.org/drawingml/2006/main">
            <a:pPr>
              <a:defRPr sz="2250">
                <a:solidFill>
                  <a:srgbClr val="172B3A"/>
                </a:solidFill>
                <a:latin typeface="Arial"/>
                <a:ea typeface="Arial"/>
                <a:cs typeface="Arial"/>
              </a:defRPr>
            </a:pPr>
            <a:r>
              <a:rPr sz="2250">
                <a:solidFill>
                  <a:srgbClr val="172B3A"/>
                </a:solidFill>
                <a:latin typeface="Arial"/>
                <a:ea typeface="Arial"/>
                <a:cs typeface="Arial"/>
              </a:rPr>
              <a:t>Neither endpoint guarantees that accuracy stays high forever.</a:t>
            </a:r>
          </a:p>
        </p:txBody>
      </p:sp>
      <p:sp>
        <p:nvSpPr>
          <p:cNvPr id="8" name="">
            <a:extLst xmlns:a="http://schemas.openxmlformats.org/drawingml/2006/main">
              <a:ext uri="{FF2B5EF4-FFF2-40B4-BE49-F238E27FC236}">
                <a16:creationId xmlns:a16="http://schemas.microsoft.com/office/drawing/2014/main" id="{62A9AB99-43FC-4A02-B5DD-4CD27E2EAAA1}"/>
              </a:ext>
            </a:extLst>
          </p:cNvPr>
          <p:cNvSpPr>
            <a:spLocks xmlns:a="http://schemas.openxmlformats.org/drawingml/2006/main" noGrp="1"/>
          </p:cNvSpPr>
          <p:nvPr/>
        </p:nvSpPr>
        <p:spPr>
          <a:xfrm xmlns:a="http://schemas.openxmlformats.org/drawingml/2006/main">
            <a:off x="666750" y="52387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a:solidFill>
                  <a:srgbClr val="175F96"/>
                </a:solidFill>
                <a:latin typeface="Arial"/>
                <a:ea typeface="Arial"/>
                <a:cs typeface="Arial"/>
              </a:defRPr>
            </a:defPPr>
            <a:lvl1pPr>
              <a:defRPr sz="2100">
                <a:solidFill>
                  <a:srgbClr val="175F96"/>
                </a:solidFill>
                <a:latin typeface="Arial"/>
                <a:ea typeface="Arial"/>
                <a:cs typeface="Arial"/>
              </a:defRPr>
            </a:lvl1pPr>
            <a:lvl2pPr>
              <a:defRPr sz="2100">
                <a:solidFill>
                  <a:srgbClr val="175F96"/>
                </a:solidFill>
                <a:latin typeface="Arial"/>
                <a:ea typeface="Arial"/>
                <a:cs typeface="Arial"/>
              </a:defRPr>
            </a:lvl2pPr>
            <a:lvl3pPr>
              <a:defRPr sz="2100">
                <a:solidFill>
                  <a:srgbClr val="175F96"/>
                </a:solidFill>
                <a:latin typeface="Arial"/>
                <a:ea typeface="Arial"/>
                <a:cs typeface="Arial"/>
              </a:defRPr>
            </a:lvl3pPr>
            <a:lvl4pPr>
              <a:defRPr sz="2100">
                <a:solidFill>
                  <a:srgbClr val="175F96"/>
                </a:solidFill>
                <a:latin typeface="Arial"/>
                <a:ea typeface="Arial"/>
                <a:cs typeface="Arial"/>
              </a:defRPr>
            </a:lvl4pPr>
            <a:lvl5pPr>
              <a:defRPr sz="2100">
                <a:solidFill>
                  <a:srgbClr val="175F96"/>
                </a:solidFill>
                <a:latin typeface="Arial"/>
                <a:ea typeface="Arial"/>
                <a:cs typeface="Arial"/>
              </a:defRPr>
            </a:lvl5pPr>
            <a:lvl6pPr>
              <a:defRPr sz="2100">
                <a:solidFill>
                  <a:srgbClr val="175F96"/>
                </a:solidFill>
                <a:latin typeface="Arial"/>
                <a:ea typeface="Arial"/>
                <a:cs typeface="Arial"/>
              </a:defRPr>
            </a:lvl6pPr>
            <a:lvl7pPr>
              <a:defRPr sz="2100">
                <a:solidFill>
                  <a:srgbClr val="175F96"/>
                </a:solidFill>
                <a:latin typeface="Arial"/>
                <a:ea typeface="Arial"/>
                <a:cs typeface="Arial"/>
              </a:defRPr>
            </a:lvl7pPr>
            <a:lvl8pPr>
              <a:defRPr sz="2100">
                <a:solidFill>
                  <a:srgbClr val="175F96"/>
                </a:solidFill>
                <a:latin typeface="Arial"/>
                <a:ea typeface="Arial"/>
                <a:cs typeface="Arial"/>
              </a:defRPr>
            </a:lvl8pPr>
            <a:lvl9pPr>
              <a:defRPr sz="2100">
                <a:solidFill>
                  <a:srgbClr val="175F96"/>
                </a:solidFill>
                <a:latin typeface="Arial"/>
                <a:ea typeface="Arial"/>
                <a:cs typeface="Arial"/>
              </a:defRPr>
            </a:lvl9pPr>
          </a:lstStyle>
          <a:p xmlns:a="http://schemas.openxmlformats.org/drawingml/2006/main">
            <a:pPr>
              <a:defRPr sz="2100">
                <a:solidFill>
                  <a:srgbClr val="175F96"/>
                </a:solidFill>
                <a:latin typeface="Arial"/>
                <a:ea typeface="Arial"/>
                <a:cs typeface="Arial"/>
              </a:defRPr>
            </a:pPr>
            <a:r>
              <a:rPr sz="2100">
                <a:solidFill>
                  <a:srgbClr val="175F96"/>
                </a:solidFill>
                <a:latin typeface="Arial"/>
                <a:ea typeface="Arial"/>
                <a:cs typeface="Arial"/>
              </a:rPr>
              <a:t>Limits: one task, one model and three splits. Small differences remain uncertain.</a:t>
            </a:r>
          </a:p>
        </p:txBody>
      </p:sp>
      <p:sp>
        <p:nvSpPr>
          <p:cNvPr id="9" name="">
            <a:extLst xmlns:a="http://schemas.openxmlformats.org/drawingml/2006/main">
              <a:ext uri="{FF2B5EF4-FFF2-40B4-BE49-F238E27FC236}">
                <a16:creationId xmlns:a16="http://schemas.microsoft.com/office/drawing/2014/main" id="{3C094ADE-D582-4965-9E11-00FCC15DE2F9}"/>
              </a:ext>
            </a:extLst>
          </p:cNvPr>
          <p:cNvSpPr>
            <a:spLocks xmlns:a="http://schemas.openxmlformats.org/drawingml/2006/main" noGrp="1"/>
          </p:cNvSpPr>
          <p:nvPr/>
        </p:nvSpPr>
        <p:spPr>
          <a:xfrm xmlns:a="http://schemas.openxmlformats.org/drawingml/2006/main">
            <a:off x="666750" y="5943600"/>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72B3A"/>
                </a:solidFill>
                <a:latin typeface="Arial"/>
                <a:ea typeface="Arial"/>
                <a:cs typeface="Arial"/>
              </a:defRPr>
            </a:defPPr>
            <a:lvl1pPr>
              <a:defRPr sz="2025">
                <a:solidFill>
                  <a:srgbClr val="172B3A"/>
                </a:solidFill>
                <a:latin typeface="Arial"/>
                <a:ea typeface="Arial"/>
                <a:cs typeface="Arial"/>
              </a:defRPr>
            </a:lvl1pPr>
            <a:lvl2pPr>
              <a:defRPr sz="2025">
                <a:solidFill>
                  <a:srgbClr val="172B3A"/>
                </a:solidFill>
                <a:latin typeface="Arial"/>
                <a:ea typeface="Arial"/>
                <a:cs typeface="Arial"/>
              </a:defRPr>
            </a:lvl2pPr>
            <a:lvl3pPr>
              <a:defRPr sz="2025">
                <a:solidFill>
                  <a:srgbClr val="172B3A"/>
                </a:solidFill>
                <a:latin typeface="Arial"/>
                <a:ea typeface="Arial"/>
                <a:cs typeface="Arial"/>
              </a:defRPr>
            </a:lvl3pPr>
            <a:lvl4pPr>
              <a:defRPr sz="2025">
                <a:solidFill>
                  <a:srgbClr val="172B3A"/>
                </a:solidFill>
                <a:latin typeface="Arial"/>
                <a:ea typeface="Arial"/>
                <a:cs typeface="Arial"/>
              </a:defRPr>
            </a:lvl4pPr>
            <a:lvl5pPr>
              <a:defRPr sz="2025">
                <a:solidFill>
                  <a:srgbClr val="172B3A"/>
                </a:solidFill>
                <a:latin typeface="Arial"/>
                <a:ea typeface="Arial"/>
                <a:cs typeface="Arial"/>
              </a:defRPr>
            </a:lvl5pPr>
            <a:lvl6pPr>
              <a:defRPr sz="2025">
                <a:solidFill>
                  <a:srgbClr val="172B3A"/>
                </a:solidFill>
                <a:latin typeface="Arial"/>
                <a:ea typeface="Arial"/>
                <a:cs typeface="Arial"/>
              </a:defRPr>
            </a:lvl6pPr>
            <a:lvl7pPr>
              <a:defRPr sz="2025">
                <a:solidFill>
                  <a:srgbClr val="172B3A"/>
                </a:solidFill>
                <a:latin typeface="Arial"/>
                <a:ea typeface="Arial"/>
                <a:cs typeface="Arial"/>
              </a:defRPr>
            </a:lvl7pPr>
            <a:lvl8pPr>
              <a:defRPr sz="2025">
                <a:solidFill>
                  <a:srgbClr val="172B3A"/>
                </a:solidFill>
                <a:latin typeface="Arial"/>
                <a:ea typeface="Arial"/>
                <a:cs typeface="Arial"/>
              </a:defRPr>
            </a:lvl8pPr>
            <a:lvl9pPr>
              <a:defRPr sz="2025">
                <a:solidFill>
                  <a:srgbClr val="172B3A"/>
                </a:solidFill>
                <a:latin typeface="Arial"/>
                <a:ea typeface="Arial"/>
                <a:cs typeface="Arial"/>
              </a:defRPr>
            </a:lvl9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Future work: other tasks, more splits and longer accuracy windows.</a:t>
            </a:r>
          </a:p>
        </p:txBody>
      </p:sp>
    </p:spTree>
    <p:extLst>
      <p:ext uri="{BB962C8B-B14F-4D97-AF65-F5344CB8AC3E}">
        <p14:creationId xmlns:p14="http://schemas.microsoft.com/office/powerpoint/2010/main" val="2163920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B1EAA4D-7403-4F24-BFF1-B26919355752}"/>
              </a:ext>
            </a:extLst>
          </p:cNvPr>
          <p:cNvSpPr>
            <a:spLocks xmlns:a="http://schemas.openxmlformats.org/drawingml/2006/main" noGrp="1"/>
          </p:cNvSpPr>
          <p:nvPr/>
        </p:nvSpPr>
        <p:spPr>
          <a:xfrm xmlns:a="http://schemas.openxmlformats.org/drawingml/2006/main">
            <a:off x="666750" y="4095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B3A"/>
                </a:solidFill>
                <a:latin typeface="Arial"/>
                <a:ea typeface="Arial"/>
                <a:cs typeface="Arial"/>
              </a:defRPr>
            </a:defPPr>
            <a:lvl1pPr>
              <a:defRPr sz="3150" b="1">
                <a:solidFill>
                  <a:srgbClr val="172B3A"/>
                </a:solidFill>
                <a:latin typeface="Arial"/>
                <a:ea typeface="Arial"/>
                <a:cs typeface="Arial"/>
              </a:defRPr>
            </a:lvl1pPr>
            <a:lvl2pPr>
              <a:defRPr sz="3150" b="1">
                <a:solidFill>
                  <a:srgbClr val="172B3A"/>
                </a:solidFill>
                <a:latin typeface="Arial"/>
                <a:ea typeface="Arial"/>
                <a:cs typeface="Arial"/>
              </a:defRPr>
            </a:lvl2pPr>
            <a:lvl3pPr>
              <a:defRPr sz="3150" b="1">
                <a:solidFill>
                  <a:srgbClr val="172B3A"/>
                </a:solidFill>
                <a:latin typeface="Arial"/>
                <a:ea typeface="Arial"/>
                <a:cs typeface="Arial"/>
              </a:defRPr>
            </a:lvl3pPr>
            <a:lvl4pPr>
              <a:defRPr sz="3150" b="1">
                <a:solidFill>
                  <a:srgbClr val="172B3A"/>
                </a:solidFill>
                <a:latin typeface="Arial"/>
                <a:ea typeface="Arial"/>
                <a:cs typeface="Arial"/>
              </a:defRPr>
            </a:lvl4pPr>
            <a:lvl5pPr>
              <a:defRPr sz="3150" b="1">
                <a:solidFill>
                  <a:srgbClr val="172B3A"/>
                </a:solidFill>
                <a:latin typeface="Arial"/>
                <a:ea typeface="Arial"/>
                <a:cs typeface="Arial"/>
              </a:defRPr>
            </a:lvl5pPr>
            <a:lvl6pPr>
              <a:defRPr sz="3150" b="1">
                <a:solidFill>
                  <a:srgbClr val="172B3A"/>
                </a:solidFill>
                <a:latin typeface="Arial"/>
                <a:ea typeface="Arial"/>
                <a:cs typeface="Arial"/>
              </a:defRPr>
            </a:lvl6pPr>
            <a:lvl7pPr>
              <a:defRPr sz="3150" b="1">
                <a:solidFill>
                  <a:srgbClr val="172B3A"/>
                </a:solidFill>
                <a:latin typeface="Arial"/>
                <a:ea typeface="Arial"/>
                <a:cs typeface="Arial"/>
              </a:defRPr>
            </a:lvl7pPr>
            <a:lvl8pPr>
              <a:defRPr sz="3150" b="1">
                <a:solidFill>
                  <a:srgbClr val="172B3A"/>
                </a:solidFill>
                <a:latin typeface="Arial"/>
                <a:ea typeface="Arial"/>
                <a:cs typeface="Arial"/>
              </a:defRPr>
            </a:lvl8pPr>
            <a:lvl9pPr>
              <a:defRPr sz="3150" b="1">
                <a:solidFill>
                  <a:srgbClr val="172B3A"/>
                </a:solidFill>
                <a:latin typeface="Arial"/>
                <a:ea typeface="Arial"/>
                <a:cs typeface="Arial"/>
              </a:defRPr>
            </a:lvl9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Conclusion</a:t>
            </a:r>
          </a:p>
        </p:txBody>
      </p:sp>
      <p:sp>
        <p:nvSpPr>
          <p:cNvPr id="3" name="">
            <a:extLst xmlns:a="http://schemas.openxmlformats.org/drawingml/2006/main">
              <a:ext uri="{FF2B5EF4-FFF2-40B4-BE49-F238E27FC236}">
                <a16:creationId xmlns:a16="http://schemas.microsoft.com/office/drawing/2014/main" id="{6C14ED43-F569-44EF-9E0E-F1C9FFCDC8B9}"/>
              </a:ext>
            </a:extLst>
          </p:cNvPr>
          <p:cNvSpPr>
            <a:spLocks xmlns:a="http://schemas.openxmlformats.org/drawingml/2006/main" noGrp="1"/>
          </p:cNvSpPr>
          <p:nvPr/>
        </p:nvSpPr>
        <p:spPr>
          <a:xfrm xmlns:a="http://schemas.openxmlformats.org/drawingml/2006/main">
            <a:off x="666750" y="647700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a:solidFill>
                  <a:srgbClr val="637E8E"/>
                </a:solidFill>
                <a:latin typeface="Arial"/>
                <a:ea typeface="Arial"/>
                <a:cs typeface="Arial"/>
              </a:defRPr>
            </a:defPPr>
            <a:lvl1pPr>
              <a:defRPr sz="1350">
                <a:solidFill>
                  <a:srgbClr val="637E8E"/>
                </a:solidFill>
                <a:latin typeface="Arial"/>
                <a:ea typeface="Arial"/>
                <a:cs typeface="Arial"/>
              </a:defRPr>
            </a:lvl1pPr>
            <a:lvl2pPr>
              <a:defRPr sz="1350">
                <a:solidFill>
                  <a:srgbClr val="637E8E"/>
                </a:solidFill>
                <a:latin typeface="Arial"/>
                <a:ea typeface="Arial"/>
                <a:cs typeface="Arial"/>
              </a:defRPr>
            </a:lvl2pPr>
            <a:lvl3pPr>
              <a:defRPr sz="1350">
                <a:solidFill>
                  <a:srgbClr val="637E8E"/>
                </a:solidFill>
                <a:latin typeface="Arial"/>
                <a:ea typeface="Arial"/>
                <a:cs typeface="Arial"/>
              </a:defRPr>
            </a:lvl3pPr>
            <a:lvl4pPr>
              <a:defRPr sz="1350">
                <a:solidFill>
                  <a:srgbClr val="637E8E"/>
                </a:solidFill>
                <a:latin typeface="Arial"/>
                <a:ea typeface="Arial"/>
                <a:cs typeface="Arial"/>
              </a:defRPr>
            </a:lvl4pPr>
            <a:lvl5pPr>
              <a:defRPr sz="1350">
                <a:solidFill>
                  <a:srgbClr val="637E8E"/>
                </a:solidFill>
                <a:latin typeface="Arial"/>
                <a:ea typeface="Arial"/>
                <a:cs typeface="Arial"/>
              </a:defRPr>
            </a:lvl5pPr>
            <a:lvl6pPr>
              <a:defRPr sz="1350">
                <a:solidFill>
                  <a:srgbClr val="637E8E"/>
                </a:solidFill>
                <a:latin typeface="Arial"/>
                <a:ea typeface="Arial"/>
                <a:cs typeface="Arial"/>
              </a:defRPr>
            </a:lvl6pPr>
            <a:lvl7pPr>
              <a:defRPr sz="1350">
                <a:solidFill>
                  <a:srgbClr val="637E8E"/>
                </a:solidFill>
                <a:latin typeface="Arial"/>
                <a:ea typeface="Arial"/>
                <a:cs typeface="Arial"/>
              </a:defRPr>
            </a:lvl7pPr>
            <a:lvl8pPr>
              <a:defRPr sz="1350">
                <a:solidFill>
                  <a:srgbClr val="637E8E"/>
                </a:solidFill>
                <a:latin typeface="Arial"/>
                <a:ea typeface="Arial"/>
                <a:cs typeface="Arial"/>
              </a:defRPr>
            </a:lvl8pPr>
            <a:lvl9pPr>
              <a:defRPr sz="1350">
                <a:solidFill>
                  <a:srgbClr val="637E8E"/>
                </a:solidFill>
                <a:latin typeface="Arial"/>
                <a:ea typeface="Arial"/>
                <a:cs typeface="Arial"/>
              </a:defRPr>
            </a:lvl9pPr>
          </a:lstStyle>
          <a:p xmlns:a="http://schemas.openxmlformats.org/drawingml/2006/main">
            <a:pPr>
              <a:defRPr sz="1350">
                <a:solidFill>
                  <a:srgbClr val="637E8E"/>
                </a:solidFill>
                <a:latin typeface="Arial"/>
                <a:ea typeface="Arial"/>
                <a:cs typeface="Arial"/>
              </a:defRPr>
            </a:pPr>
            <a:r>
              <a:rPr sz="1350">
                <a:solidFill>
                  <a:srgbClr val="637E8E"/>
                </a:solidFill>
                <a:latin typeface="Arial"/>
                <a:ea typeface="Arial"/>
                <a:cs typeface="Arial"/>
              </a:rPr>
              <a:t>Assessment 10  /  10</a:t>
            </a:r>
          </a:p>
        </p:txBody>
      </p:sp>
      <p:sp>
        <p:nvSpPr>
          <p:cNvPr id="4" name="">
            <a:extLst xmlns:a="http://schemas.openxmlformats.org/drawingml/2006/main">
              <a:ext uri="{FF2B5EF4-FFF2-40B4-BE49-F238E27FC236}">
                <a16:creationId xmlns:a16="http://schemas.microsoft.com/office/drawing/2014/main" id="{F277174F-2790-43C0-8829-F2B680C2BE49}"/>
              </a:ext>
            </a:extLst>
          </p:cNvPr>
          <p:cNvSpPr>
            <a:spLocks xmlns:a="http://schemas.openxmlformats.org/drawingml/2006/main" noGrp="1"/>
          </p:cNvSpPr>
          <p:nvPr/>
        </p:nvSpPr>
        <p:spPr>
          <a:xfrm xmlns:a="http://schemas.openxmlformats.org/drawingml/2006/main">
            <a:off x="666750" y="1609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75F96"/>
                </a:solidFill>
                <a:latin typeface="Arial"/>
                <a:ea typeface="Arial"/>
                <a:cs typeface="Arial"/>
              </a:defRPr>
            </a:defPPr>
            <a:lvl1pPr>
              <a:defRPr sz="2925" b="1">
                <a:solidFill>
                  <a:srgbClr val="175F96"/>
                </a:solidFill>
                <a:latin typeface="Arial"/>
                <a:ea typeface="Arial"/>
                <a:cs typeface="Arial"/>
              </a:defRPr>
            </a:lvl1pPr>
            <a:lvl2pPr>
              <a:defRPr sz="2925" b="1">
                <a:solidFill>
                  <a:srgbClr val="175F96"/>
                </a:solidFill>
                <a:latin typeface="Arial"/>
                <a:ea typeface="Arial"/>
                <a:cs typeface="Arial"/>
              </a:defRPr>
            </a:lvl2pPr>
            <a:lvl3pPr>
              <a:defRPr sz="2925" b="1">
                <a:solidFill>
                  <a:srgbClr val="175F96"/>
                </a:solidFill>
                <a:latin typeface="Arial"/>
                <a:ea typeface="Arial"/>
                <a:cs typeface="Arial"/>
              </a:defRPr>
            </a:lvl3pPr>
            <a:lvl4pPr>
              <a:defRPr sz="2925" b="1">
                <a:solidFill>
                  <a:srgbClr val="175F96"/>
                </a:solidFill>
                <a:latin typeface="Arial"/>
                <a:ea typeface="Arial"/>
                <a:cs typeface="Arial"/>
              </a:defRPr>
            </a:lvl4pPr>
            <a:lvl5pPr>
              <a:defRPr sz="2925" b="1">
                <a:solidFill>
                  <a:srgbClr val="175F96"/>
                </a:solidFill>
                <a:latin typeface="Arial"/>
                <a:ea typeface="Arial"/>
                <a:cs typeface="Arial"/>
              </a:defRPr>
            </a:lvl5pPr>
            <a:lvl6pPr>
              <a:defRPr sz="2925" b="1">
                <a:solidFill>
                  <a:srgbClr val="175F96"/>
                </a:solidFill>
                <a:latin typeface="Arial"/>
                <a:ea typeface="Arial"/>
                <a:cs typeface="Arial"/>
              </a:defRPr>
            </a:lvl6pPr>
            <a:lvl7pPr>
              <a:defRPr sz="2925" b="1">
                <a:solidFill>
                  <a:srgbClr val="175F96"/>
                </a:solidFill>
                <a:latin typeface="Arial"/>
                <a:ea typeface="Arial"/>
                <a:cs typeface="Arial"/>
              </a:defRPr>
            </a:lvl7pPr>
            <a:lvl8pPr>
              <a:defRPr sz="2925" b="1">
                <a:solidFill>
                  <a:srgbClr val="175F96"/>
                </a:solidFill>
                <a:latin typeface="Arial"/>
                <a:ea typeface="Arial"/>
                <a:cs typeface="Arial"/>
              </a:defRPr>
            </a:lvl8pPr>
            <a:lvl9pPr>
              <a:defRPr sz="2925" b="1">
                <a:solidFill>
                  <a:srgbClr val="175F96"/>
                </a:solidFill>
                <a:latin typeface="Arial"/>
                <a:ea typeface="Arial"/>
                <a:cs typeface="Arial"/>
              </a:defRPr>
            </a:lvl9pPr>
          </a:lstStyle>
          <a:p xmlns:a="http://schemas.openxmlformats.org/drawingml/2006/main">
            <a:pPr>
              <a:defRPr sz="2925" b="1">
                <a:solidFill>
                  <a:srgbClr val="175F96"/>
                </a:solidFill>
                <a:latin typeface="Arial"/>
                <a:ea typeface="Arial"/>
                <a:cs typeface="Arial"/>
              </a:defRPr>
            </a:pPr>
            <a:r>
              <a:rPr sz="2925" b="1">
                <a:solidFill>
                  <a:srgbClr val="175F96"/>
                </a:solidFill>
                <a:latin typeface="Arial"/>
                <a:ea typeface="Arial"/>
                <a:cs typeface="Arial"/>
              </a:rPr>
              <a:t>At 8,000 total updates, one long run was more reliable than four short runs on all three splits.</a:t>
            </a:r>
          </a:p>
        </p:txBody>
      </p:sp>
      <p:sp>
        <p:nvSpPr>
          <p:cNvPr id="5" name="">
            <a:extLst xmlns:a="http://schemas.openxmlformats.org/drawingml/2006/main">
              <a:ext uri="{FF2B5EF4-FFF2-40B4-BE49-F238E27FC236}">
                <a16:creationId xmlns:a16="http://schemas.microsoft.com/office/drawing/2014/main" id="{84454B46-15E0-4A94-BBBB-5D5B57AB4718}"/>
              </a:ext>
            </a:extLst>
          </p:cNvPr>
          <p:cNvSpPr>
            <a:spLocks xmlns:a="http://schemas.openxmlformats.org/drawingml/2006/main" noGrp="1"/>
          </p:cNvSpPr>
          <p:nvPr/>
        </p:nvSpPr>
        <p:spPr>
          <a:xfrm xmlns:a="http://schemas.openxmlformats.org/drawingml/2006/main">
            <a:off x="666750" y="32004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a:solidFill>
                  <a:srgbClr val="172B3A"/>
                </a:solidFill>
                <a:latin typeface="Arial"/>
                <a:ea typeface="Arial"/>
                <a:cs typeface="Arial"/>
              </a:defRPr>
            </a:defPPr>
            <a:lvl1pPr>
              <a:defRPr sz="2325">
                <a:solidFill>
                  <a:srgbClr val="172B3A"/>
                </a:solidFill>
                <a:latin typeface="Arial"/>
                <a:ea typeface="Arial"/>
                <a:cs typeface="Arial"/>
              </a:defRPr>
            </a:lvl1pPr>
            <a:lvl2pPr>
              <a:defRPr sz="2325">
                <a:solidFill>
                  <a:srgbClr val="172B3A"/>
                </a:solidFill>
                <a:latin typeface="Arial"/>
                <a:ea typeface="Arial"/>
                <a:cs typeface="Arial"/>
              </a:defRPr>
            </a:lvl2pPr>
            <a:lvl3pPr>
              <a:defRPr sz="2325">
                <a:solidFill>
                  <a:srgbClr val="172B3A"/>
                </a:solidFill>
                <a:latin typeface="Arial"/>
                <a:ea typeface="Arial"/>
                <a:cs typeface="Arial"/>
              </a:defRPr>
            </a:lvl3pPr>
            <a:lvl4pPr>
              <a:defRPr sz="2325">
                <a:solidFill>
                  <a:srgbClr val="172B3A"/>
                </a:solidFill>
                <a:latin typeface="Arial"/>
                <a:ea typeface="Arial"/>
                <a:cs typeface="Arial"/>
              </a:defRPr>
            </a:lvl4pPr>
            <a:lvl5pPr>
              <a:defRPr sz="2325">
                <a:solidFill>
                  <a:srgbClr val="172B3A"/>
                </a:solidFill>
                <a:latin typeface="Arial"/>
                <a:ea typeface="Arial"/>
                <a:cs typeface="Arial"/>
              </a:defRPr>
            </a:lvl5pPr>
            <a:lvl6pPr>
              <a:defRPr sz="2325">
                <a:solidFill>
                  <a:srgbClr val="172B3A"/>
                </a:solidFill>
                <a:latin typeface="Arial"/>
                <a:ea typeface="Arial"/>
                <a:cs typeface="Arial"/>
              </a:defRPr>
            </a:lvl6pPr>
            <a:lvl7pPr>
              <a:defRPr sz="2325">
                <a:solidFill>
                  <a:srgbClr val="172B3A"/>
                </a:solidFill>
                <a:latin typeface="Arial"/>
                <a:ea typeface="Arial"/>
                <a:cs typeface="Arial"/>
              </a:defRPr>
            </a:lvl7pPr>
            <a:lvl8pPr>
              <a:defRPr sz="2325">
                <a:solidFill>
                  <a:srgbClr val="172B3A"/>
                </a:solidFill>
                <a:latin typeface="Arial"/>
                <a:ea typeface="Arial"/>
                <a:cs typeface="Arial"/>
              </a:defRPr>
            </a:lvl8pPr>
            <a:lvl9pPr>
              <a:defRPr sz="2325">
                <a:solidFill>
                  <a:srgbClr val="172B3A"/>
                </a:solidFill>
                <a:latin typeface="Arial"/>
                <a:ea typeface="Arial"/>
                <a:cs typeface="Arial"/>
              </a:defRPr>
            </a:lvl9pPr>
          </a:lstStyle>
          <a:p xmlns:a="http://schemas.openxmlformats.org/drawingml/2006/main">
            <a:pPr>
              <a:defRPr sz="2325">
                <a:solidFill>
                  <a:srgbClr val="172B3A"/>
                </a:solidFill>
                <a:latin typeface="Arial"/>
                <a:ea typeface="Arial"/>
                <a:cs typeface="Arial"/>
              </a:defRPr>
            </a:pPr>
            <a:r>
              <a:rPr sz="2325">
                <a:solidFill>
                  <a:srgbClr val="172B3A"/>
                </a:solidFill>
                <a:latin typeface="Arial"/>
                <a:ea typeface="Arial"/>
                <a:cs typeface="Arial"/>
              </a:rPr>
              <a:t>Two-run comparisons remain inconclusive. Nonsignificance does not prove equality.</a:t>
            </a:r>
          </a:p>
        </p:txBody>
      </p:sp>
      <p:sp>
        <p:nvSpPr>
          <p:cNvPr id="6" name="">
            <a:extLst xmlns:a="http://schemas.openxmlformats.org/drawingml/2006/main">
              <a:ext uri="{FF2B5EF4-FFF2-40B4-BE49-F238E27FC236}">
                <a16:creationId xmlns:a16="http://schemas.microsoft.com/office/drawing/2014/main" id="{909F6562-E82E-4CD3-A99F-5CB4F03CF78D}"/>
              </a:ext>
            </a:extLst>
          </p:cNvPr>
          <p:cNvSpPr>
            <a:spLocks xmlns:a="http://schemas.openxmlformats.org/drawingml/2006/main" noGrp="1"/>
          </p:cNvSpPr>
          <p:nvPr/>
        </p:nvSpPr>
        <p:spPr>
          <a:xfrm xmlns:a="http://schemas.openxmlformats.org/drawingml/2006/main">
            <a:off x="666750" y="43624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a:solidFill>
                  <a:srgbClr val="172B3A"/>
                </a:solidFill>
                <a:latin typeface="Arial"/>
                <a:ea typeface="Arial"/>
                <a:cs typeface="Arial"/>
              </a:defRPr>
            </a:defPPr>
            <a:lvl1pPr>
              <a:defRPr sz="2100">
                <a:solidFill>
                  <a:srgbClr val="172B3A"/>
                </a:solidFill>
                <a:latin typeface="Arial"/>
                <a:ea typeface="Arial"/>
                <a:cs typeface="Arial"/>
              </a:defRPr>
            </a:lvl1pPr>
            <a:lvl2pPr>
              <a:defRPr sz="2100">
                <a:solidFill>
                  <a:srgbClr val="172B3A"/>
                </a:solidFill>
                <a:latin typeface="Arial"/>
                <a:ea typeface="Arial"/>
                <a:cs typeface="Arial"/>
              </a:defRPr>
            </a:lvl2pPr>
            <a:lvl3pPr>
              <a:defRPr sz="2100">
                <a:solidFill>
                  <a:srgbClr val="172B3A"/>
                </a:solidFill>
                <a:latin typeface="Arial"/>
                <a:ea typeface="Arial"/>
                <a:cs typeface="Arial"/>
              </a:defRPr>
            </a:lvl3pPr>
            <a:lvl4pPr>
              <a:defRPr sz="2100">
                <a:solidFill>
                  <a:srgbClr val="172B3A"/>
                </a:solidFill>
                <a:latin typeface="Arial"/>
                <a:ea typeface="Arial"/>
                <a:cs typeface="Arial"/>
              </a:defRPr>
            </a:lvl4pPr>
            <a:lvl5pPr>
              <a:defRPr sz="2100">
                <a:solidFill>
                  <a:srgbClr val="172B3A"/>
                </a:solidFill>
                <a:latin typeface="Arial"/>
                <a:ea typeface="Arial"/>
                <a:cs typeface="Arial"/>
              </a:defRPr>
            </a:lvl5pPr>
            <a:lvl6pPr>
              <a:defRPr sz="2100">
                <a:solidFill>
                  <a:srgbClr val="172B3A"/>
                </a:solidFill>
                <a:latin typeface="Arial"/>
                <a:ea typeface="Arial"/>
                <a:cs typeface="Arial"/>
              </a:defRPr>
            </a:lvl6pPr>
            <a:lvl7pPr>
              <a:defRPr sz="2100">
                <a:solidFill>
                  <a:srgbClr val="172B3A"/>
                </a:solidFill>
                <a:latin typeface="Arial"/>
                <a:ea typeface="Arial"/>
                <a:cs typeface="Arial"/>
              </a:defRPr>
            </a:lvl7pPr>
            <a:lvl8pPr>
              <a:defRPr sz="2100">
                <a:solidFill>
                  <a:srgbClr val="172B3A"/>
                </a:solidFill>
                <a:latin typeface="Arial"/>
                <a:ea typeface="Arial"/>
                <a:cs typeface="Arial"/>
              </a:defRPr>
            </a:lvl8pPr>
            <a:lvl9pPr>
              <a:defRPr sz="2100">
                <a:solidFill>
                  <a:srgbClr val="172B3A"/>
                </a:solidFill>
                <a:latin typeface="Arial"/>
                <a:ea typeface="Arial"/>
                <a:cs typeface="Arial"/>
              </a:defRPr>
            </a:lvl9pPr>
          </a:lstStyle>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Established ideas credited. Our contribution is the recorded empirical comparison.</a:t>
            </a:r>
          </a:p>
        </p:txBody>
      </p:sp>
      <p:sp>
        <p:nvSpPr>
          <p:cNvPr id="7" name="">
            <a:extLst xmlns:a="http://schemas.openxmlformats.org/drawingml/2006/main">
              <a:ext uri="{FF2B5EF4-FFF2-40B4-BE49-F238E27FC236}">
                <a16:creationId xmlns:a16="http://schemas.microsoft.com/office/drawing/2014/main" id="{37BF8F49-C9BA-4F58-8B23-83CDA3A2DED6}"/>
              </a:ext>
            </a:extLst>
          </p:cNvPr>
          <p:cNvSpPr>
            <a:spLocks xmlns:a="http://schemas.openxmlformats.org/drawingml/2006/main" noGrp="1"/>
          </p:cNvSpPr>
          <p:nvPr/>
        </p:nvSpPr>
        <p:spPr>
          <a:xfrm xmlns:a="http://schemas.openxmlformats.org/drawingml/2006/main">
            <a:off x="666750" y="53911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a:solidFill>
                  <a:srgbClr val="637E8E"/>
                </a:solidFill>
                <a:latin typeface="Arial"/>
                <a:ea typeface="Arial"/>
                <a:cs typeface="Arial"/>
              </a:defRPr>
            </a:defPPr>
            <a:lvl1pPr>
              <a:defRPr sz="1650">
                <a:solidFill>
                  <a:srgbClr val="637E8E"/>
                </a:solidFill>
                <a:latin typeface="Arial"/>
                <a:ea typeface="Arial"/>
                <a:cs typeface="Arial"/>
              </a:defRPr>
            </a:lvl1pPr>
            <a:lvl2pPr>
              <a:defRPr sz="1650">
                <a:solidFill>
                  <a:srgbClr val="637E8E"/>
                </a:solidFill>
                <a:latin typeface="Arial"/>
                <a:ea typeface="Arial"/>
                <a:cs typeface="Arial"/>
              </a:defRPr>
            </a:lvl2pPr>
            <a:lvl3pPr>
              <a:defRPr sz="1650">
                <a:solidFill>
                  <a:srgbClr val="637E8E"/>
                </a:solidFill>
                <a:latin typeface="Arial"/>
                <a:ea typeface="Arial"/>
                <a:cs typeface="Arial"/>
              </a:defRPr>
            </a:lvl3pPr>
            <a:lvl4pPr>
              <a:defRPr sz="1650">
                <a:solidFill>
                  <a:srgbClr val="637E8E"/>
                </a:solidFill>
                <a:latin typeface="Arial"/>
                <a:ea typeface="Arial"/>
                <a:cs typeface="Arial"/>
              </a:defRPr>
            </a:lvl4pPr>
            <a:lvl5pPr>
              <a:defRPr sz="1650">
                <a:solidFill>
                  <a:srgbClr val="637E8E"/>
                </a:solidFill>
                <a:latin typeface="Arial"/>
                <a:ea typeface="Arial"/>
                <a:cs typeface="Arial"/>
              </a:defRPr>
            </a:lvl5pPr>
            <a:lvl6pPr>
              <a:defRPr sz="1650">
                <a:solidFill>
                  <a:srgbClr val="637E8E"/>
                </a:solidFill>
                <a:latin typeface="Arial"/>
                <a:ea typeface="Arial"/>
                <a:cs typeface="Arial"/>
              </a:defRPr>
            </a:lvl6pPr>
            <a:lvl7pPr>
              <a:defRPr sz="1650">
                <a:solidFill>
                  <a:srgbClr val="637E8E"/>
                </a:solidFill>
                <a:latin typeface="Arial"/>
                <a:ea typeface="Arial"/>
                <a:cs typeface="Arial"/>
              </a:defRPr>
            </a:lvl7pPr>
            <a:lvl8pPr>
              <a:defRPr sz="1650">
                <a:solidFill>
                  <a:srgbClr val="637E8E"/>
                </a:solidFill>
                <a:latin typeface="Arial"/>
                <a:ea typeface="Arial"/>
                <a:cs typeface="Arial"/>
              </a:defRPr>
            </a:lvl8pPr>
            <a:lvl9pPr>
              <a:defRPr sz="1650">
                <a:solidFill>
                  <a:srgbClr val="637E8E"/>
                </a:solidFill>
                <a:latin typeface="Arial"/>
                <a:ea typeface="Arial"/>
                <a:cs typeface="Arial"/>
              </a:defRPr>
            </a:lvl9pPr>
          </a:lstStyle>
          <a:p xmlns:a="http://schemas.openxmlformats.org/drawingml/2006/main">
            <a:pPr>
              <a:defRPr sz="1650">
                <a:solidFill>
                  <a:srgbClr val="637E8E"/>
                </a:solidFill>
                <a:latin typeface="Arial"/>
                <a:ea typeface="Arial"/>
                <a:cs typeface="Arial"/>
              </a:defRPr>
            </a:pPr>
            <a:r>
              <a:rPr sz="1650">
                <a:solidFill>
                  <a:srgbClr val="637E8E"/>
                </a:solidFill>
                <a:latin typeface="Arial"/>
                <a:ea typeface="Arial"/>
                <a:cs typeface="Arial"/>
              </a:rPr>
              <a:t>Power et al., Grokking, arXiv:2201.02177 (2022).</a:t>
            </a:r>
          </a:p>
          <a:p xmlns:a="http://schemas.openxmlformats.org/drawingml/2006/main">
            <a:pPr>
              <a:defRPr sz="1650">
                <a:solidFill>
                  <a:srgbClr val="637E8E"/>
                </a:solidFill>
                <a:latin typeface="Arial"/>
                <a:ea typeface="Arial"/>
                <a:cs typeface="Arial"/>
              </a:defRPr>
            </a:pPr>
            <a:r>
              <a:rPr sz="1650">
                <a:solidFill>
                  <a:srgbClr val="637E8E"/>
                </a:solidFill>
                <a:latin typeface="Arial"/>
                <a:ea typeface="Arial"/>
                <a:cs typeface="Arial"/>
              </a:rPr>
              <a:t>Streeter, Golovin and Smith, Restart Schedules for Ensembles of Problem Instances (2007).</a:t>
            </a:r>
          </a:p>
          <a:p xmlns:a="http://schemas.openxmlformats.org/drawingml/2006/main">
            <a:pPr>
              <a:defRPr sz="1650">
                <a:solidFill>
                  <a:srgbClr val="637E8E"/>
                </a:solidFill>
                <a:latin typeface="Arial"/>
                <a:ea typeface="Arial"/>
                <a:cs typeface="Arial"/>
              </a:defRPr>
            </a:pPr>
            <a:r>
              <a:rPr sz="1650">
                <a:solidFill>
                  <a:srgbClr val="637E8E"/>
                </a:solidFill>
                <a:latin typeface="Arial"/>
                <a:ea typeface="Arial"/>
                <a:cs typeface="Arial"/>
              </a:rPr>
              <a:t>Full references and all uncertainty intervals: Assessment 9 report.</a:t>
            </a:r>
          </a:p>
        </p:txBody>
      </p:sp>
    </p:spTree>
    <p:extLst>
      <p:ext uri="{BB962C8B-B14F-4D97-AF65-F5344CB8AC3E}">
        <p14:creationId xmlns:p14="http://schemas.microsoft.com/office/powerpoint/2010/main" val="21111170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2026-10-21T19:34:20.9990000Z</dcterms:created>
  <dcterms:modified xsi:type="dcterms:W3CDTF">2026-10-21T19:34:20.9990000Z</dcterms:modified>
</coreProperties>
</file>