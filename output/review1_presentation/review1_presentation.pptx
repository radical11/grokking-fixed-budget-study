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70d500e8dd4131" /><Relationship Type="http://schemas.openxmlformats.org/officeDocument/2006/relationships/extended-properties" Target="/docProps/app.xml" Id="Rda7d747fc7b343fc" /><Relationship Type="http://schemas.openxmlformats.org/officeDocument/2006/relationships/officeDocument" Target="/ppt/presentation.xml" Id="R95d8b980ccc94dbe" /></Relationships>
</file>

<file path=ppt/presentation.xml><?xml version="1.0" encoding="utf-8"?>
<p:presentation xmlns:p="http://schemas.openxmlformats.org/presentationml/2006/main">
  <p:sldMasterIdLst>
    <p:sldMasterId xmlns:r="http://schemas.openxmlformats.org/officeDocument/2006/relationships" id="2147483648" r:id="R6d1cb7295480443e"/>
  </p:sldMasterIdLst>
  <p:notesMasterIdLst>
    <p:notesMasterId xmlns:r="http://schemas.openxmlformats.org/officeDocument/2006/relationships" r:id="R15ef265d09db48ed"/>
  </p:notesMasterIdLst>
  <p:sldIdLst>
    <p:sldId xmlns:r="http://schemas.openxmlformats.org/officeDocument/2006/relationships" id="256" r:id="Re5197098ded8405d"/>
    <p:sldId xmlns:r="http://schemas.openxmlformats.org/officeDocument/2006/relationships" id="257" r:id="R33e015a65b6c4442"/>
    <p:sldId xmlns:r="http://schemas.openxmlformats.org/officeDocument/2006/relationships" id="258" r:id="Rab7ffa1ceed6481f"/>
    <p:sldId xmlns:r="http://schemas.openxmlformats.org/officeDocument/2006/relationships" id="259" r:id="R19ae37635d07422e"/>
    <p:sldId xmlns:r="http://schemas.openxmlformats.org/officeDocument/2006/relationships" id="260" r:id="R1f87a159ebab45d6"/>
    <p:sldId xmlns:r="http://schemas.openxmlformats.org/officeDocument/2006/relationships" id="261" r:id="Ra9f44e168fd84ae2"/>
    <p:sldId xmlns:r="http://schemas.openxmlformats.org/officeDocument/2006/relationships" id="262" r:id="Ra9c9b481b7364874"/>
    <p:sldId xmlns:r="http://schemas.openxmlformats.org/officeDocument/2006/relationships" id="263" r:id="R4d484b0623ca4c78"/>
    <p:sldId xmlns:r="http://schemas.openxmlformats.org/officeDocument/2006/relationships" id="264" r:id="R32f4c826d0964620"/>
    <p:sldId xmlns:r="http://schemas.openxmlformats.org/officeDocument/2006/relationships" id="265" r:id="Reb26bb38c4134724"/>
    <p:sldId xmlns:r="http://schemas.openxmlformats.org/officeDocument/2006/relationships" id="266" r:id="Rac2f07b3383f44ae"/>
    <p:sldId xmlns:r="http://schemas.openxmlformats.org/officeDocument/2006/relationships" id="267" r:id="Rc66616401a784276"/>
    <p:sldId xmlns:r="http://schemas.openxmlformats.org/officeDocument/2006/relationships" id="268" r:id="R320f3ca1af8247d5"/>
    <p:sldId xmlns:r="http://schemas.openxmlformats.org/officeDocument/2006/relationships" id="269" r:id="Rc26624acac20425d"/>
    <p:sldId xmlns:r="http://schemas.openxmlformats.org/officeDocument/2006/relationships" id="270" r:id="R41ae4d0f1f2c4f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0c83d02c4744d4" /><Relationship Type="http://schemas.openxmlformats.org/officeDocument/2006/relationships/slideMaster" Target="/ppt/slideMasters/slideMaster1.xml" Id="R6d1cb7295480443e" /><Relationship Type="http://schemas.openxmlformats.org/officeDocument/2006/relationships/notesMaster" Target="/ppt/notesMasters/notesMaster1.xml" Id="R15ef265d09db48ed" /><Relationship Type="http://schemas.openxmlformats.org/officeDocument/2006/relationships/presProps" Target="/ppt/presProps.xml" Id="Rf332346924d142a3" /><Relationship Type="http://schemas.openxmlformats.org/officeDocument/2006/relationships/tableStyles" Target="/ppt/tableStyles.xml" Id="R58f9087e44454171" /><Relationship Type="http://schemas.openxmlformats.org/officeDocument/2006/relationships/slide" Target="/ppt/slides/slide1.xml" Id="Re5197098ded8405d" /><Relationship Type="http://schemas.openxmlformats.org/officeDocument/2006/relationships/slide" Target="/ppt/slides/slide2.xml" Id="R33e015a65b6c4442" /><Relationship Type="http://schemas.openxmlformats.org/officeDocument/2006/relationships/slide" Target="/ppt/slides/slide3.xml" Id="Rab7ffa1ceed6481f" /><Relationship Type="http://schemas.openxmlformats.org/officeDocument/2006/relationships/slide" Target="/ppt/slides/slide4.xml" Id="R19ae37635d07422e" /><Relationship Type="http://schemas.openxmlformats.org/officeDocument/2006/relationships/slide" Target="/ppt/slides/slide5.xml" Id="R1f87a159ebab45d6" /><Relationship Type="http://schemas.openxmlformats.org/officeDocument/2006/relationships/slide" Target="/ppt/slides/slide6.xml" Id="Ra9f44e168fd84ae2" /><Relationship Type="http://schemas.openxmlformats.org/officeDocument/2006/relationships/slide" Target="/ppt/slides/slide7.xml" Id="Ra9c9b481b7364874" /><Relationship Type="http://schemas.openxmlformats.org/officeDocument/2006/relationships/slide" Target="/ppt/slides/slide8.xml" Id="R4d484b0623ca4c78" /><Relationship Type="http://schemas.openxmlformats.org/officeDocument/2006/relationships/slide" Target="/ppt/slides/slide9.xml" Id="R32f4c826d0964620" /><Relationship Type="http://schemas.openxmlformats.org/officeDocument/2006/relationships/slide" Target="/ppt/slides/slide10.xml" Id="Reb26bb38c4134724" /><Relationship Type="http://schemas.openxmlformats.org/officeDocument/2006/relationships/slide" Target="/ppt/slides/slide11.xml" Id="Rac2f07b3383f44ae" /><Relationship Type="http://schemas.openxmlformats.org/officeDocument/2006/relationships/slide" Target="/ppt/slides/slide12.xml" Id="Rc66616401a784276" /><Relationship Type="http://schemas.openxmlformats.org/officeDocument/2006/relationships/slide" Target="/ppt/slides/slide13.xml" Id="R320f3ca1af8247d5" /><Relationship Type="http://schemas.openxmlformats.org/officeDocument/2006/relationships/slide" Target="/ppt/slides/slide14.xml" Id="Rc26624acac20425d" /><Relationship Type="http://schemas.openxmlformats.org/officeDocument/2006/relationships/slide" Target="/ppt/slides/slide15.xml" Id="R41ae4d0f1f2c4f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ce20a5bca4c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2695a59a654134" /><Relationship Type="http://schemas.openxmlformats.org/officeDocument/2006/relationships/notesMaster" Target="/ppt/notesMasters/notesMaster1.xml" Id="Rcec5f211ae7541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2371d17368494a" /><Relationship Type="http://schemas.openxmlformats.org/officeDocument/2006/relationships/notesMaster" Target="/ppt/notesMasters/notesMaster1.xml" Id="R6ee84e71980545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3eebc7d5134975" /><Relationship Type="http://schemas.openxmlformats.org/officeDocument/2006/relationships/notesMaster" Target="/ppt/notesMasters/notesMaster1.xml" Id="Rbcb12f22c5864e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9ab6b7193b4b88" /><Relationship Type="http://schemas.openxmlformats.org/officeDocument/2006/relationships/notesMaster" Target="/ppt/notesMasters/notesMaster1.xml" Id="R1cef93c3e57240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840b2166f04326" /><Relationship Type="http://schemas.openxmlformats.org/officeDocument/2006/relationships/notesMaster" Target="/ppt/notesMasters/notesMaster1.xml" Id="Rbe802b108a6947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a3cf524a674f61" /><Relationship Type="http://schemas.openxmlformats.org/officeDocument/2006/relationships/notesMaster" Target="/ppt/notesMasters/notesMaster1.xml" Id="Ra1c6e9842d6e43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4aa20ad09d4504" /><Relationship Type="http://schemas.openxmlformats.org/officeDocument/2006/relationships/notesMaster" Target="/ppt/notesMasters/notesMaster1.xml" Id="R74bb6ba64e4441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fbf83556294d93" /><Relationship Type="http://schemas.openxmlformats.org/officeDocument/2006/relationships/notesMaster" Target="/ppt/notesMasters/notesMaster1.xml" Id="R2de461caf8894c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8959a7ee9c48d8" /><Relationship Type="http://schemas.openxmlformats.org/officeDocument/2006/relationships/notesMaster" Target="/ppt/notesMasters/notesMaster1.xml" Id="Rfb8953758ae940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f720a0720d4aee" /><Relationship Type="http://schemas.openxmlformats.org/officeDocument/2006/relationships/notesMaster" Target="/ppt/notesMasters/notesMaster1.xml" Id="Rabb85fa49e944b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abe2ea7bb84b3e" /><Relationship Type="http://schemas.openxmlformats.org/officeDocument/2006/relationships/notesMaster" Target="/ppt/notesMasters/notesMaster1.xml" Id="R7b9b9674ce764b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ffa3be345b4ac5" /><Relationship Type="http://schemas.openxmlformats.org/officeDocument/2006/relationships/notesMaster" Target="/ppt/notesMasters/notesMaster1.xml" Id="Rb0d29192cc954c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03f248bcff4f42" /><Relationship Type="http://schemas.openxmlformats.org/officeDocument/2006/relationships/notesMaster" Target="/ppt/notesMasters/notesMaster1.xml" Id="R5ce08ec6e0254a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47389397c74bbf" /><Relationship Type="http://schemas.openxmlformats.org/officeDocument/2006/relationships/notesMaster" Target="/ppt/notesMasters/notesMaster1.xml" Id="R264f5b99ec9545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e4d3dd06054b76" /><Relationship Type="http://schemas.openxmlformats.org/officeDocument/2006/relationships/notesMaster" Target="/ppt/notesMasters/notesMaster1.xml" Id="R23797722a0c249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The project asks how long a small learning program takes to do well on new questions. We repeat the training and compare the waiting times. We then ask whether a fixed amount of training is better spent on one long attempt or several fresh starts. These are the Review 1 results.</a:t>
            </a:r>
          </a:p>
          <a:p xmlns:a="http://schemas.openxmlformats.org/drawingml/2006/main">
            <a:r>
              <a:t/>
            </a:r>
          </a:p>
          <a:p xmlns:a="http://schemas.openxmlformats.org/drawingml/2006/main">
            <a:r>
              <a:t>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 neural network is a computer program that improves its answers by adjusting numbers inside it. We give it practice examples, then check questions that it did not practise on. Doing well on these new questions is called generalization. Two training attempts can take different amounts of time because their starting numbers differ. We want to measure how much these times vary, compare three weight-decay settings, and estimate the chance of learning within a limit. Finally, we use those chances to predict whether restarting might help. A training budget here means a fixed number of learning steps.</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Think of a student practising a set of maths questions. The student may remember those answers but struggle when the numbers change. Later, the student can apply the rule to new questions. This is an analogy for the pattern we measure in the computer. Memorization means doing well on the practice examples. Generalization means doing well on questions excluded from practice. Grokking is the delayed improvement on these new questions after the model already does well on the practice set. The delay is the key idea. It does not mean every model will grok or that we have proved human-like understanding. Accuracy means the percentage of answers that are correct. Power and colleagues introduced this research phenomenon; our project studies its timing and budget implications.</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Our task is modular addition. Mod means keep the remainder after division. For example, 30 plus 4 is 34, and dividing 34 by 31 leaves remainder 3. We generate all 961 pairs of numbers from zero to 30. The computer practises on 576 pairs, and we test it on 385 different pairs. The same split is used in every attempt. A random seed is a number that lets us repeat a random starting point. Changing the seed gives a new set of starting weights; weights are the adjustable numbers inside the model. An update is one learning step using all practice examples. Python runs the experiment and records the answers; R calculates the statistics. The fixed model is a small transformer, a type of neural network. Its detailed architecture is in the report. There are 24 main attempts; nine setup attempts are excluded from the results.</a:t>
            </a:r>
          </a:p>
          <a:p xmlns:a="http://schemas.openxmlformats.org/drawingml/2006/main">
            <a:r>
              <a:t/>
            </a:r>
          </a:p>
          <a:p xmlns:a="http://schemas.openxmlformats.org/drawingml/2006/main">
            <a:r>
              <a:t>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We need one clear rule for when to count success. We check the model every 25 updates, where an update is one learning step. It must get at least 99 percent of practice answers and 95 percent of new answers correct at three checks in a row. We record T at the third check. If the qualifying checks are at 2000, 2025 and 2050, T is 2050. A random variable is a measured quantity that can change across repeated attempts; T is our example. Every attempt continues to the limit C of 30000 updates. If it has not succeeded, we do not know its eventual T. For average comparisons, U is the smaller of T and the limit. This is called capped time. Three successful checks give a clear first-success measure, but performance can still fall later.</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baseline is the setting chosen as our reference: weight decay 1. Its twelve attempts are shown in the histogram, which groups waiting times into intervals. The mean is the average: 6475 updates. The median is the middle of the sorted times, averaging the two middle values here: 4275. Standard deviation, or SD, measures how spread out the times are around the average; it is about 7041 updates. One slow attempt takes much longer than most, so the average is higher than the median. The range runs from 1875 to 27175. Point to the last bar and explain that one attempt can give a very different impression from the whole sample. These are statistics from twelve observed attempts, not a guarantee about future attempts.</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curve answers how likely an attempt is to succeed before a chosen limit. F of t is the chance of success by update t. We estimate it by counting successes and dividing by all twelve baseline attempts. By 2400 updates, three of twelve succeeded: 25 percent. A Bernoulli outcome is one yes-or-no result: did this attempt succeed in time? A binomial count is how many successes occur across independent attempts with the same chance. By 30000, all twelve succeeded. That does not guarantee that the next attempt will succeed. The 95 percent confidence interval is 73.5 to 100 percent. It shows the uncertainty from a small sample. In repeated studies, this interval-making method covers the true probability at least 95 percent of the time; it is not the probability that a particular next run will succeed.</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We choose a statistic to match the question. Welch's t-test compares two group averages. ANOVA means analysis of variance: it compares all three averages together. Correlation measures how two quantities vary together. Regression fits a line describing their relationship. The ANOVA p-value is 0.0077. A p-value measures how surprising this result would be if the underlying group averages were equal, assuming the test's conditions. It is not the probability that our conclusion is correct. Our model's errors do not have the bell-shaped pattern assumed by the usual test, so we treat this as early evidence. Shuffling group labels gives a further check, but that also has assumptions. Detailed results are in the written report.</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blue line is the percentage of practice questions answered correctly. The grey line is the percentage of new questions answered correctly. The blue line reaches high accuracy first. The grey line improves later, showing the delay we call grokking. This example reached the practice threshold at 150 updates and the new-question success rule at 3150. We chose a run near the baseline middle, not just the fastest example. The graph shows the first 6000 updates; the full attempt continues to 30000. Across the 24 main attempts, 18 later had a drop below 95 percent on new questions. Our waiting time therefore records the first confirmed success; staying successful is a further question.</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Weight decay is a training control that gently shrinks the adjustable numbers, or weights, inside the model. We vary this control while keeping the model and practice/test split the same. Each dot is one training attempt. The groups have 6, 12 and 6 attempts. Their average waiting times are about 13138, 6475 and 1888 updates. In these results, larger weight decay goes with shorter waiting times. All 24 attempts succeeded within 30000 updates. This is useful early evidence, but the groups are small and use one fixed set of questions. We cannot assume that the same setting is best for every model or task. The baseline was selected through separate setup runs before these comparisons.</a:t>
            </a:r>
          </a:p>
          <a:p xmlns:a="http://schemas.openxmlformats.org/drawingml/2006/main">
            <a:r>
              <a:t/>
            </a:r>
          </a:p>
          <a:p xmlns:a="http://schemas.openxmlformats.org/drawingml/2006/main">
            <a:r>
              <a:t>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A restart means beginning again with fresh starting weights. We do not continue from the previous attempt. Suppose B is the total training budget and k is the number of attempts; each receives B divided by k updates. F of that smaller limit is the chance that one attempt succeeds. The chance that it fails is one minus that chance. If the attempts are independent, multiply their failure chances to find the chance that all fail. Subtracting that from one gives the chance that at least one works. With a total budget of 30000, our predictions are 100 percent, 99.3 percent and 99.6 percent for one, two and four attempts. These are predictions from twelve baseline runs and are unvalidated in this Review 1 cohort. At a smaller budget of 2400, the predictions are 25 percent, zero and zero; zero observed successes does not prove the true chance is zero.</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first-review milestone includes code to train the model, record results, continue saved training, run repeat attempts and calculate preliminary statistics. It represents the planned 65 percent of implementation. Review 2 will cover more settings and attempts, fresh-seed restart comparisons, and statistical descriptions of the timing distribution. Candidate distributions are mathematical shapes that may describe how waiting times are spread. Multiple regression considers more than one explanatory factor; two-factor ANOVA compares two experimental controls together. Further questions are whether smaller budgets reveal clearer differences, whether changing the practice/test split changes the findings, and whether success stays high for a longer period. These questions help us judge how widely the initial result applies.</a:t>
            </a:r>
          </a:p>
          <a:p xmlns:a="http://schemas.openxmlformats.org/drawingml/2006/main">
            <a:r>
              <a:t/>
            </a:r>
          </a:p>
          <a:p xmlns:a="http://schemas.openxmlformats.org/drawingml/2006/main">
            <a:r>
              <a:t>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The background ideas have earlier research. Power and colleagues studied grokking; Truong and colleagues studied timing prediction; Streeter and colleagues studied restart schedules. Our proposed contribution is the controlled experiment connecting learning-time variation with budget allocation. The displayed measurements come from this project's recorded attempts. The references also include the official syllabus.</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[2] Truong et al. (2026), preprint. First-Passage Prediction of Grokking Delay: A Calibrated Law under AdamW with Causal Validation. https://arxiv.org/abs/2605.18845</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This example uses invented numbers to explain the calculation, not a measured project result. Suppose the total budget is 12000 and we make two independent attempts of 6000 updates each. Assume each has a 60 percent success chance, so each has a 40 percent failure chance. Both fail with chance 0.4 times 0.4, which is 0.16. At least one succeeds with chance one minus 0.16, which is 0.84 or 84 percent. To compare with one long attempt, we also need its success chance by 12000. Independent means one attempt's outcome does not change the other's chance, conditional on the same settings and split. We use fresh starting weights for each. The estimated policy predictions share the same reference sample, so their estimation errors can still be related.</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A model is the program learning from examples. A seed chooses a repeatable random starting point. An update is one adjustment of the model's internal numbers. Generalization means doing well on questions excluded from practice. Standard deviation measures spread. A confidence interval expresses uncertainty using a method with a stated long-run coverage rate. If asked why this is a statistics project, explain that repeated random starts produce different waiting times and that the sample estimates their spread and success chances. If asked about an unfinished attempt, explain that its eventual time remains unknown. If asked about originality, cite the existing ideas and describe the project's recorded experiment. If asked about permanence, point out the later accuracy drops. An official plagiarism score still requires the college's checker. For detailed statistical questions: Pearson correlation uses a straight-line relationship and Spearman uses ranks. The fitted regression uses log weight decay, which changes the scale of the input. Residuals are observed values minus the fitted values; their normality diagnostic fails. The permutation sensitivity p-value is about 0.013. Shuffling requires observations to be interchangeable under the equal-means assumption. Holm adjustment controls the risk from making several pairwise comparisons.</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[2] Truong et al. (2026), preprint. First-Passage Prediction of Grokking Delay: A Calibrated Law under AdamW with Causal Validation. https://arxiv.org/abs/2605.18845</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a:p xmlns:a="http://schemas.openxmlformats.org/drawingml/2006/main">
            <a:r>
              <a:t>[5] Project Review 1 evidence. Frozen cohort, run traces and base-R outputs. data/review1_summary.csv; output/review1/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148d4dbff74e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bbd45676d14b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83e21d850648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e119205f0c42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c29b29b1e048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2b0c05a3fa41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151F7A-9F9B-4FD3-88E8-A493AEB162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D69F95-64F9-4795-A2A3-4C34D79F12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B5FDBF-F1D5-41F9-A1CC-47F08632EA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CBFFAE-7B26-42BD-8B1A-A95829119C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DF1C26-3E04-41EB-BDD2-D22686C7B6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E56613-E58E-4E62-BDEB-FA7028F7A9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A3C5D1-5990-437C-9741-E3C513A648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BE5A87-FF66-4890-9239-5A29DBDCD3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E0EE2D-FB28-4403-8564-356749A293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2A8618-8EA7-401D-B4FB-4266C2CF38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61e3a2d57b43f0" /><Relationship Type="http://schemas.openxmlformats.org/officeDocument/2006/relationships/slideLayout" Target="/ppt/slideLayouts/slideLayout1.xml" Id="R98037c09993747ba" /><Relationship Type="http://schemas.openxmlformats.org/officeDocument/2006/relationships/slideLayout" Target="/ppt/slideLayouts/slideLayout2.xml" Id="Rc8a3354e7a9e4210" /><Relationship Type="http://schemas.openxmlformats.org/officeDocument/2006/relationships/slideLayout" Target="/ppt/slideLayouts/slideLayout3.xml" Id="R5c881e63aad54e86" /><Relationship Type="http://schemas.openxmlformats.org/officeDocument/2006/relationships/slideLayout" Target="/ppt/slideLayouts/slideLayout4.xml" Id="R9a4bf84f2eb64c27" /><Relationship Type="http://schemas.openxmlformats.org/officeDocument/2006/relationships/slideLayout" Target="/ppt/slideLayouts/slideLayout5.xml" Id="R11997887d35a4e6a" /><Relationship Type="http://schemas.openxmlformats.org/officeDocument/2006/relationships/slideLayout" Target="/ppt/slideLayouts/slideLayout6.xml" Id="Rd9f0f8e8b6ef4c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037c09993747ba"/>
    <p:sldLayoutId xmlns:r="http://schemas.openxmlformats.org/officeDocument/2006/relationships" id="2147483650" r:id="Rc8a3354e7a9e4210"/>
    <p:sldLayoutId xmlns:r="http://schemas.openxmlformats.org/officeDocument/2006/relationships" id="2147483651" r:id="R5c881e63aad54e86"/>
    <p:sldLayoutId xmlns:r="http://schemas.openxmlformats.org/officeDocument/2006/relationships" id="2147483652" r:id="R9a4bf84f2eb64c27"/>
    <p:sldLayoutId xmlns:r="http://schemas.openxmlformats.org/officeDocument/2006/relationships" id="2147483653" r:id="R11997887d35a4e6a"/>
    <p:sldLayoutId xmlns:r="http://schemas.openxmlformats.org/officeDocument/2006/relationships" id="2147483654" r:id="Rd9f0f8e8b6ef4c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41faa7ea8d4c43" /><Relationship Type="http://schemas.openxmlformats.org/officeDocument/2006/relationships/notesSlide" Target="/ppt/notesSlides/notesSlide1.xml" Id="Rbba1f22c8aa648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a9d2c9a9704c19" /><Relationship Type="http://schemas.openxmlformats.org/officeDocument/2006/relationships/notesSlide" Target="/ppt/notesSlides/notesSlide2.xml" Id="R6203b5c598cf41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ee5c023cc4409e" /><Relationship Type="http://schemas.openxmlformats.org/officeDocument/2006/relationships/notesSlide" Target="/ppt/notesSlides/notesSlide3.xml" Id="R381f5ffdae784e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a2e3ceb31048ac" /><Relationship Type="http://schemas.openxmlformats.org/officeDocument/2006/relationships/notesSlide" Target="/ppt/notesSlides/notesSlide4.xml" Id="R2f41fa7b83d541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ee229a2ff942f9" /><Relationship Type="http://schemas.openxmlformats.org/officeDocument/2006/relationships/notesSlide" Target="/ppt/notesSlides/notesSlide5.xml" Id="Rff42a5ae758e44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4f9617c5214c48" /><Relationship Type="http://schemas.openxmlformats.org/officeDocument/2006/relationships/chart" Target="/ppt/slides/charts/chart1.xml" Id="Rab85ebd81ed0434b" /><Relationship Type="http://schemas.openxmlformats.org/officeDocument/2006/relationships/notesSlide" Target="/ppt/notesSlides/notesSlide6.xml" Id="R185e19cd2221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88f38c8c284d29" /><Relationship Type="http://schemas.openxmlformats.org/officeDocument/2006/relationships/chart" Target="/ppt/slides/charts/chart2.xml" Id="Ra978b5e34d6d4794" /><Relationship Type="http://schemas.openxmlformats.org/officeDocument/2006/relationships/notesSlide" Target="/ppt/notesSlides/notesSlide7.xml" Id="Red3e530a047746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7fb128cb494cbc" /><Relationship Type="http://schemas.openxmlformats.org/officeDocument/2006/relationships/notesSlide" Target="/ppt/notesSlides/notesSlide8.xml" Id="R78139c6cfcae44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da1651be934c2a" /><Relationship Type="http://schemas.openxmlformats.org/officeDocument/2006/relationships/chart" Target="/ppt/slides/charts/chart3.xml" Id="Rda29ccfa411a4997" /><Relationship Type="http://schemas.openxmlformats.org/officeDocument/2006/relationships/notesSlide" Target="/ppt/notesSlides/notesSlide9.xml" Id="Rcc3ac7594aaf44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175e5b11b3447f6" /><Relationship Type="http://schemas.openxmlformats.org/officeDocument/2006/relationships/chart" Target="/ppt/slides/charts/chart4.xml" Id="R3b4edcd400fe4b3d" /><Relationship Type="http://schemas.openxmlformats.org/officeDocument/2006/relationships/notesSlide" Target="/ppt/notesSlides/notesSlide10.xml" Id="R9265b5a0611742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51d082ea8a48aa" /><Relationship Type="http://schemas.openxmlformats.org/officeDocument/2006/relationships/notesSlide" Target="/ppt/notesSlides/notesSlide11.xml" Id="Re55a8596d72b47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35d2bb7c014138" /><Relationship Type="http://schemas.openxmlformats.org/officeDocument/2006/relationships/notesSlide" Target="/ppt/notesSlides/notesSlide12.xml" Id="R9f5c67593d1f43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42ab58ea9244cdc" /><Relationship Type="http://schemas.openxmlformats.org/officeDocument/2006/relationships/notesSlide" Target="/ppt/notesSlides/notesSlide13.xml" Id="R46f84fcbf9d241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991a34b77c840c6" /><Relationship Type="http://schemas.openxmlformats.org/officeDocument/2006/relationships/notesSlide" Target="/ppt/notesSlides/notesSlide14.xml" Id="Rc247bce7243d4e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1f5088de104e03" /><Relationship Type="http://schemas.openxmlformats.org/officeDocument/2006/relationships/notesSlide" Target="/ppt/notesSlides/notesSlide15.xml" Id="R615d2d9262ca40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Reference setting: 12 attempts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Attempts</c:v>
          </c:tx>
          <c:spPr>
            <a:solidFill xmlns:a="http://schemas.openxmlformats.org/drawingml/2006/main">
              <a:srgbClr val="175F96"/>
            </a:solidFill>
          </c:spPr>
          <c:invertIfNegative val="0"/>
          <c:cat>
            <c:strRef>
              <c:f>'Chart Data'!$A$2:$A$7</c:f>
              <c:strCache>
                <c:ptCount val="6"/>
                <c:pt idx="0">
                  <c:v>0-5k</c:v>
                </c:pt>
                <c:pt idx="1">
                  <c:v>5-10k</c:v>
                </c:pt>
                <c:pt idx="2">
                  <c:v>10-15k</c:v>
                </c:pt>
                <c:pt idx="3">
                  <c:v>15-20k</c:v>
                </c:pt>
                <c:pt idx="4">
                  <c:v>20-25k</c:v>
                </c:pt>
                <c:pt idx="5">
                  <c:v>25-30k</c:v>
                </c:pt>
              </c:strCache>
            </c:strRef>
          </c:cat>
          <c:val>
            <c:numRef>
              <c:f>'Chart Data'!$B$2:$B$7</c:f>
              <c:numCache>
                <c:formatCode>0</c:formatCode>
                <c:ptCount val="6"/>
                <c:pt idx="0">
                  <c:v>6</c:v>
                </c:pt>
                <c:pt idx="1">
                  <c:v>4</c:v>
                </c:pt>
                <c:pt idx="2">
                  <c:v>1</c:v>
                </c:pt>
                <c:pt idx="3">
                  <c:v>0</c:v>
                </c:pt>
                <c:pt idx="4">
                  <c:v>0</c:v>
                </c:pt>
                <c:pt idx="5">
                  <c:v>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Waiting time (learning steps)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Arial"/>
                <a:ea typeface="Arial"/>
                <a:cs typeface="Arial"/>
              </a:defRPr>
            </a:pPr>
          </a:p>
        </c:txPr>
        <c:crossAx val="48672768"/>
      </c:catAx>
      <c:valAx>
        <c:axId val="48672768"/>
        <c:scaling>
          <c:orientation val="minMax"/>
          <c:max val="10"/>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Number of attempts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F(t) = chance of success by time 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Success by t</c:v>
          </c:tx>
          <c:spPr>
            <a:ln xmlns:a="http://schemas.openxmlformats.org/drawingml/2006/main" w="28575">
              <a:solidFill>
                <a:srgbClr val="175F96"/>
              </a:solidFill>
            </a:ln>
          </c:spPr>
          <c:marker>
            <c:symbol val="none"/>
          </c:marker>
          <c:xVal>
            <c:numRef>
              <c:f>'Chart Data'!$A$2:$A$27</c:f>
              <c:numCache>
                <c:formatCode>General</c:formatCode>
                <c:ptCount val="26"/>
                <c:pt idx="0">
                  <c:v>0</c:v>
                </c:pt>
                <c:pt idx="1">
                  <c:v>1875</c:v>
                </c:pt>
                <c:pt idx="2">
                  <c:v>1875</c:v>
                </c:pt>
                <c:pt idx="3">
                  <c:v>1925</c:v>
                </c:pt>
                <c:pt idx="4">
                  <c:v>1925</c:v>
                </c:pt>
                <c:pt idx="5">
                  <c:v>2125</c:v>
                </c:pt>
                <c:pt idx="6">
                  <c:v>2125</c:v>
                </c:pt>
                <c:pt idx="7">
                  <c:v>2650</c:v>
                </c:pt>
                <c:pt idx="8">
                  <c:v>2650</c:v>
                </c:pt>
                <c:pt idx="9">
                  <c:v>2950</c:v>
                </c:pt>
                <c:pt idx="10">
                  <c:v>2950</c:v>
                </c:pt>
                <c:pt idx="11">
                  <c:v>3150</c:v>
                </c:pt>
                <c:pt idx="12">
                  <c:v>3150</c:v>
                </c:pt>
                <c:pt idx="13">
                  <c:v>5400</c:v>
                </c:pt>
                <c:pt idx="14">
                  <c:v>5400</c:v>
                </c:pt>
                <c:pt idx="15">
                  <c:v>5725</c:v>
                </c:pt>
                <c:pt idx="16">
                  <c:v>5725</c:v>
                </c:pt>
                <c:pt idx="17">
                  <c:v>6825</c:v>
                </c:pt>
                <c:pt idx="18">
                  <c:v>6825</c:v>
                </c:pt>
                <c:pt idx="19">
                  <c:v>7550</c:v>
                </c:pt>
                <c:pt idx="20">
                  <c:v>7550</c:v>
                </c:pt>
                <c:pt idx="21">
                  <c:v>10350</c:v>
                </c:pt>
                <c:pt idx="22">
                  <c:v>10350</c:v>
                </c:pt>
                <c:pt idx="23">
                  <c:v>27175</c:v>
                </c:pt>
                <c:pt idx="24">
                  <c:v>27175</c:v>
                </c:pt>
                <c:pt idx="25">
                  <c:v>30000</c:v>
                </c:pt>
              </c:numCache>
            </c:numRef>
          </c:xVal>
          <c:yVal>
            <c:numRef>
              <c:f>'Chart Data'!$B$2:$B$27</c:f>
              <c:numCache>
                <c:formatCode>0%</c:formatCode>
                <c:ptCount val="26"/>
                <c:pt idx="0">
                  <c:v>0</c:v>
                </c:pt>
                <c:pt idx="1">
                  <c:v>0</c:v>
                </c:pt>
                <c:pt idx="2">
                  <c:v>0.08333333</c:v>
                </c:pt>
                <c:pt idx="3">
                  <c:v>0.08333333</c:v>
                </c:pt>
                <c:pt idx="4">
                  <c:v>0.16666667</c:v>
                </c:pt>
                <c:pt idx="5">
                  <c:v>0.16666667</c:v>
                </c:pt>
                <c:pt idx="6">
                  <c:v>0.25</c:v>
                </c:pt>
                <c:pt idx="7">
                  <c:v>0.25</c:v>
                </c:pt>
                <c:pt idx="8">
                  <c:v>0.33333333</c:v>
                </c:pt>
                <c:pt idx="9">
                  <c:v>0.33333333</c:v>
                </c:pt>
                <c:pt idx="10">
                  <c:v>0.41666667</c:v>
                </c:pt>
                <c:pt idx="11">
                  <c:v>0.41666667</c:v>
                </c:pt>
                <c:pt idx="12">
                  <c:v>0.5</c:v>
                </c:pt>
                <c:pt idx="13">
                  <c:v>0.5</c:v>
                </c:pt>
                <c:pt idx="14">
                  <c:v>0.58333333</c:v>
                </c:pt>
                <c:pt idx="15">
                  <c:v>0.58333333</c:v>
                </c:pt>
                <c:pt idx="16">
                  <c:v>0.66666667</c:v>
                </c:pt>
                <c:pt idx="17">
                  <c:v>0.66666667</c:v>
                </c:pt>
                <c:pt idx="18">
                  <c:v>0.75</c:v>
                </c:pt>
                <c:pt idx="19">
                  <c:v>0.75</c:v>
                </c:pt>
                <c:pt idx="20">
                  <c:v>0.83333333</c:v>
                </c:pt>
                <c:pt idx="21">
                  <c:v>0.83333333</c:v>
                </c:pt>
                <c:pt idx="22">
                  <c:v>0.91666667</c:v>
                </c:pt>
                <c:pt idx="23">
                  <c:v>0.91666667</c:v>
                </c:pt>
                <c:pt idx="24">
                  <c:v>1</c:v>
                </c:pt>
                <c:pt idx="25">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Chance of success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30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Time limit (learning steps)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One example attempt (seed 11105)</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Practice questions</c:v>
          </c:tx>
          <c:spPr>
            <a:ln xmlns:a="http://schemas.openxmlformats.org/drawingml/2006/main" w="28575">
              <a:solidFill>
                <a:srgbClr val="175F96"/>
              </a:solidFill>
            </a:ln>
          </c:spPr>
          <c:marker>
            <c:symbol val="none"/>
          </c:marker>
          <c:xVal>
            <c:numRef>
              <c:f>'Chart Data'!$A$2:$A$242</c:f>
              <c:numCache>
                <c:formatCode>General</c:formatCode>
                <c:ptCount val="2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numCache>
            </c:numRef>
          </c:xVal>
          <c:yVal>
            <c:numRef>
              <c:f>'Chart Data'!$B$2:$B$242</c:f>
              <c:numCache>
                <c:formatCode>0%</c:formatCode>
                <c:ptCount val="241"/>
                <c:pt idx="0">
                  <c:v>0.03125</c:v>
                </c:pt>
                <c:pt idx="1">
                  <c:v>0.25868055</c:v>
                </c:pt>
                <c:pt idx="2">
                  <c:v>0.7638889</c:v>
                </c:pt>
                <c:pt idx="3">
                  <c:v>0.9826389</c:v>
                </c:pt>
                <c:pt idx="4">
                  <c:v>0.99131942</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0.9513889</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0.97222221</c:v>
                </c:pt>
                <c:pt idx="236">
                  <c:v>1</c:v>
                </c:pt>
                <c:pt idx="237">
                  <c:v>1</c:v>
                </c:pt>
                <c:pt idx="238">
                  <c:v>1</c:v>
                </c:pt>
                <c:pt idx="239">
                  <c:v>1</c:v>
                </c:pt>
                <c:pt idx="240">
                  <c:v>1</c:v>
                </c:pt>
              </c:numCache>
            </c:numRef>
          </c:yVal>
        </c:ser>
        <c:ser>
          <c:idx val="1"/>
          <c:order val="1"/>
          <c:tx>
            <c:v>New questions</c:v>
          </c:tx>
          <c:spPr>
            <a:ln xmlns:a="http://schemas.openxmlformats.org/drawingml/2006/main" w="28575">
              <a:solidFill>
                <a:srgbClr val="667784"/>
              </a:solidFill>
            </a:ln>
          </c:spPr>
          <c:marker>
            <c:symbol val="none"/>
          </c:marker>
          <c:xVal>
            <c:numRef>
              <c:f>'Chart Data'!$C$2:$C$242</c:f>
              <c:numCache>
                <c:formatCode>General</c:formatCode>
                <c:ptCount val="2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numCache>
            </c:numRef>
          </c:xVal>
          <c:yVal>
            <c:numRef>
              <c:f>'Chart Data'!$D$2:$D$242</c:f>
              <c:numCache>
                <c:formatCode>0%</c:formatCode>
                <c:ptCount val="241"/>
                <c:pt idx="0">
                  <c:v>0.04155844</c:v>
                </c:pt>
                <c:pt idx="1">
                  <c:v>0.00519481</c:v>
                </c:pt>
                <c:pt idx="2">
                  <c:v>0.22857143</c:v>
                </c:pt>
                <c:pt idx="3">
                  <c:v>0.54285717</c:v>
                </c:pt>
                <c:pt idx="4">
                  <c:v>0.53246754</c:v>
                </c:pt>
                <c:pt idx="5">
                  <c:v>0.53506494</c:v>
                </c:pt>
                <c:pt idx="6">
                  <c:v>0.51688313</c:v>
                </c:pt>
                <c:pt idx="7">
                  <c:v>0.51948053</c:v>
                </c:pt>
                <c:pt idx="8">
                  <c:v>0.51428574</c:v>
                </c:pt>
                <c:pt idx="9">
                  <c:v>0.5090909</c:v>
                </c:pt>
                <c:pt idx="10">
                  <c:v>0.51948053</c:v>
                </c:pt>
                <c:pt idx="11">
                  <c:v>0.52987015</c:v>
                </c:pt>
                <c:pt idx="12">
                  <c:v>0.53766233</c:v>
                </c:pt>
                <c:pt idx="13">
                  <c:v>0.53766233</c:v>
                </c:pt>
                <c:pt idx="14">
                  <c:v>0.54025972</c:v>
                </c:pt>
                <c:pt idx="15">
                  <c:v>0.54545456</c:v>
                </c:pt>
                <c:pt idx="16">
                  <c:v>0.54805195</c:v>
                </c:pt>
                <c:pt idx="17">
                  <c:v>0.54805195</c:v>
                </c:pt>
                <c:pt idx="18">
                  <c:v>0.54805195</c:v>
                </c:pt>
                <c:pt idx="19">
                  <c:v>0.55324674</c:v>
                </c:pt>
                <c:pt idx="20">
                  <c:v>0.55324674</c:v>
                </c:pt>
                <c:pt idx="21">
                  <c:v>0.55324674</c:v>
                </c:pt>
                <c:pt idx="22">
                  <c:v>0.55324674</c:v>
                </c:pt>
                <c:pt idx="23">
                  <c:v>0.55324674</c:v>
                </c:pt>
                <c:pt idx="24">
                  <c:v>0.55584413</c:v>
                </c:pt>
                <c:pt idx="25">
                  <c:v>0.55584413</c:v>
                </c:pt>
                <c:pt idx="26">
                  <c:v>0.55844158</c:v>
                </c:pt>
                <c:pt idx="27">
                  <c:v>0.55844158</c:v>
                </c:pt>
                <c:pt idx="28">
                  <c:v>0.55844158</c:v>
                </c:pt>
                <c:pt idx="29">
                  <c:v>0.55844158</c:v>
                </c:pt>
                <c:pt idx="30">
                  <c:v>0.56103897</c:v>
                </c:pt>
                <c:pt idx="31">
                  <c:v>0.56103897</c:v>
                </c:pt>
                <c:pt idx="32">
                  <c:v>0.56103897</c:v>
                </c:pt>
                <c:pt idx="33">
                  <c:v>0.56363636</c:v>
                </c:pt>
                <c:pt idx="34">
                  <c:v>0.56363636</c:v>
                </c:pt>
                <c:pt idx="35">
                  <c:v>0.56363636</c:v>
                </c:pt>
                <c:pt idx="36">
                  <c:v>0.56363636</c:v>
                </c:pt>
                <c:pt idx="37">
                  <c:v>0.56363636</c:v>
                </c:pt>
                <c:pt idx="38">
                  <c:v>0.56363636</c:v>
                </c:pt>
                <c:pt idx="39">
                  <c:v>0.56363636</c:v>
                </c:pt>
                <c:pt idx="40">
                  <c:v>0.56623375</c:v>
                </c:pt>
                <c:pt idx="41">
                  <c:v>0.56623375</c:v>
                </c:pt>
                <c:pt idx="42">
                  <c:v>0.56623375</c:v>
                </c:pt>
                <c:pt idx="43">
                  <c:v>0.56883115</c:v>
                </c:pt>
                <c:pt idx="44">
                  <c:v>0.56883115</c:v>
                </c:pt>
                <c:pt idx="45">
                  <c:v>0.56883115</c:v>
                </c:pt>
                <c:pt idx="46">
                  <c:v>0.56883115</c:v>
                </c:pt>
                <c:pt idx="47">
                  <c:v>0.56883115</c:v>
                </c:pt>
                <c:pt idx="48">
                  <c:v>0.56883115</c:v>
                </c:pt>
                <c:pt idx="49">
                  <c:v>0.56883115</c:v>
                </c:pt>
                <c:pt idx="50">
                  <c:v>0.56883115</c:v>
                </c:pt>
                <c:pt idx="51">
                  <c:v>0.56883115</c:v>
                </c:pt>
                <c:pt idx="52">
                  <c:v>0.56883115</c:v>
                </c:pt>
                <c:pt idx="53">
                  <c:v>0.56883115</c:v>
                </c:pt>
                <c:pt idx="54">
                  <c:v>0.56883115</c:v>
                </c:pt>
                <c:pt idx="55">
                  <c:v>0.56883115</c:v>
                </c:pt>
                <c:pt idx="56">
                  <c:v>0.5714286</c:v>
                </c:pt>
                <c:pt idx="57">
                  <c:v>0.57402599</c:v>
                </c:pt>
                <c:pt idx="58">
                  <c:v>0.57402599</c:v>
                </c:pt>
                <c:pt idx="59">
                  <c:v>0.57402599</c:v>
                </c:pt>
                <c:pt idx="60">
                  <c:v>0.57402599</c:v>
                </c:pt>
                <c:pt idx="61">
                  <c:v>0.57402599</c:v>
                </c:pt>
                <c:pt idx="62">
                  <c:v>0.57402599</c:v>
                </c:pt>
                <c:pt idx="63">
                  <c:v>0.5272727</c:v>
                </c:pt>
                <c:pt idx="64">
                  <c:v>0.57402599</c:v>
                </c:pt>
                <c:pt idx="65">
                  <c:v>0.57402599</c:v>
                </c:pt>
                <c:pt idx="66">
                  <c:v>0.57662338</c:v>
                </c:pt>
                <c:pt idx="67">
                  <c:v>0.57662338</c:v>
                </c:pt>
                <c:pt idx="68">
                  <c:v>0.57662338</c:v>
                </c:pt>
                <c:pt idx="69">
                  <c:v>0.57662338</c:v>
                </c:pt>
                <c:pt idx="70">
                  <c:v>0.57662338</c:v>
                </c:pt>
                <c:pt idx="71">
                  <c:v>0.57662338</c:v>
                </c:pt>
                <c:pt idx="72">
                  <c:v>0.58181816</c:v>
                </c:pt>
                <c:pt idx="73">
                  <c:v>0.58181816</c:v>
                </c:pt>
                <c:pt idx="74">
                  <c:v>0.58181816</c:v>
                </c:pt>
                <c:pt idx="75">
                  <c:v>0.58181816</c:v>
                </c:pt>
                <c:pt idx="76">
                  <c:v>0.58181816</c:v>
                </c:pt>
                <c:pt idx="77">
                  <c:v>0.58181816</c:v>
                </c:pt>
                <c:pt idx="78">
                  <c:v>0.58701301</c:v>
                </c:pt>
                <c:pt idx="79">
                  <c:v>0.5896104</c:v>
                </c:pt>
                <c:pt idx="80">
                  <c:v>0.60000002</c:v>
                </c:pt>
                <c:pt idx="81">
                  <c:v>0.60519481</c:v>
                </c:pt>
                <c:pt idx="82">
                  <c:v>0.61038959</c:v>
                </c:pt>
                <c:pt idx="83">
                  <c:v>0.62077922</c:v>
                </c:pt>
                <c:pt idx="84">
                  <c:v>0.625974</c:v>
                </c:pt>
                <c:pt idx="85">
                  <c:v>0.625974</c:v>
                </c:pt>
                <c:pt idx="86">
                  <c:v>0.63116884</c:v>
                </c:pt>
                <c:pt idx="87">
                  <c:v>0.63896102</c:v>
                </c:pt>
                <c:pt idx="88">
                  <c:v>0.64415586</c:v>
                </c:pt>
                <c:pt idx="89">
                  <c:v>0.64675325</c:v>
                </c:pt>
                <c:pt idx="90">
                  <c:v>0.64935064</c:v>
                </c:pt>
                <c:pt idx="91">
                  <c:v>0.65194803</c:v>
                </c:pt>
                <c:pt idx="92">
                  <c:v>0.65454543</c:v>
                </c:pt>
                <c:pt idx="93">
                  <c:v>0.66233766</c:v>
                </c:pt>
                <c:pt idx="94">
                  <c:v>0.66753244</c:v>
                </c:pt>
                <c:pt idx="95">
                  <c:v>0.67792207</c:v>
                </c:pt>
                <c:pt idx="96">
                  <c:v>0.6857143</c:v>
                </c:pt>
                <c:pt idx="97">
                  <c:v>0.69870132</c:v>
                </c:pt>
                <c:pt idx="98">
                  <c:v>0.72207791</c:v>
                </c:pt>
                <c:pt idx="99">
                  <c:v>0.72727275</c:v>
                </c:pt>
                <c:pt idx="100">
                  <c:v>0.72727275</c:v>
                </c:pt>
                <c:pt idx="101">
                  <c:v>0.72727275</c:v>
                </c:pt>
                <c:pt idx="102">
                  <c:v>0.73246753</c:v>
                </c:pt>
                <c:pt idx="103">
                  <c:v>0.73246753</c:v>
                </c:pt>
                <c:pt idx="104">
                  <c:v>0.73766232</c:v>
                </c:pt>
                <c:pt idx="105">
                  <c:v>0.73506492</c:v>
                </c:pt>
                <c:pt idx="106">
                  <c:v>0.73506492</c:v>
                </c:pt>
                <c:pt idx="107">
                  <c:v>0.76103896</c:v>
                </c:pt>
                <c:pt idx="108">
                  <c:v>0.77402598</c:v>
                </c:pt>
                <c:pt idx="109">
                  <c:v>0.78181821</c:v>
                </c:pt>
                <c:pt idx="110">
                  <c:v>0.78701299</c:v>
                </c:pt>
                <c:pt idx="111">
                  <c:v>0.78961039</c:v>
                </c:pt>
                <c:pt idx="112">
                  <c:v>0.80779219</c:v>
                </c:pt>
                <c:pt idx="113">
                  <c:v>0.8207792</c:v>
                </c:pt>
                <c:pt idx="114">
                  <c:v>0.82597405</c:v>
                </c:pt>
                <c:pt idx="115">
                  <c:v>0.82857144</c:v>
                </c:pt>
                <c:pt idx="116">
                  <c:v>0.84415585</c:v>
                </c:pt>
                <c:pt idx="117">
                  <c:v>0.85454547</c:v>
                </c:pt>
                <c:pt idx="118">
                  <c:v>0.85974026</c:v>
                </c:pt>
                <c:pt idx="119">
                  <c:v>0.88831168</c:v>
                </c:pt>
                <c:pt idx="120">
                  <c:v>0.9012987</c:v>
                </c:pt>
                <c:pt idx="121">
                  <c:v>0.90909094</c:v>
                </c:pt>
                <c:pt idx="122">
                  <c:v>0.93766236</c:v>
                </c:pt>
                <c:pt idx="123">
                  <c:v>0.94285715</c:v>
                </c:pt>
                <c:pt idx="124">
                  <c:v>0.96103895</c:v>
                </c:pt>
                <c:pt idx="125">
                  <c:v>0.96883118</c:v>
                </c:pt>
                <c:pt idx="126">
                  <c:v>0.97922081</c:v>
                </c:pt>
                <c:pt idx="127">
                  <c:v>0.9818182</c:v>
                </c:pt>
                <c:pt idx="128">
                  <c:v>0.97662336</c:v>
                </c:pt>
                <c:pt idx="129">
                  <c:v>0.90389609</c:v>
                </c:pt>
                <c:pt idx="130">
                  <c:v>0.92727274</c:v>
                </c:pt>
                <c:pt idx="131">
                  <c:v>0.97662336</c:v>
                </c:pt>
                <c:pt idx="132">
                  <c:v>0.99480522</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0.98701298</c:v>
                </c:pt>
                <c:pt idx="187">
                  <c:v>0.99480522</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0.95064932</c:v>
                </c:pt>
                <c:pt idx="236">
                  <c:v>0.98961037</c:v>
                </c:pt>
                <c:pt idx="237">
                  <c:v>1</c:v>
                </c:pt>
                <c:pt idx="238">
                  <c:v>1</c:v>
                </c:pt>
                <c:pt idx="239">
                  <c:v>1</c:v>
                </c:pt>
                <c:pt idx="24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Correct answers (%)</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6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Learning steps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20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Each dot is one training attempt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marker"/>
        <c:varyColors val="0"/>
        <c:ser>
          <c:idx val="0"/>
          <c:order val="0"/>
          <c:tx>
            <c:v>Waiting time</c:v>
          </c:tx>
          <c:spPr>
            <a:ln xmlns:a="http://schemas.openxmlformats.org/drawingml/2006/main" w="0">
              <a:noFill/>
            </a:ln>
          </c:spPr>
          <c:marker>
            <c:symbol val="circle"/>
            <c:size val="8"/>
            <c:spPr>
              <a:solidFill xmlns:a="http://schemas.openxmlformats.org/drawingml/2006/main">
                <a:srgbClr val="175F96"/>
              </a:solidFill>
            </c:spPr>
          </c:marker>
          <c:xVal>
            <c:numRef>
              <c:f>'Chart Data'!$A$2:$A$25</c:f>
              <c:numCache>
                <c:formatCode>General</c:formatCode>
                <c:ptCount val="24"/>
                <c:pt idx="0">
                  <c:v>0.3</c:v>
                </c:pt>
                <c:pt idx="1">
                  <c:v>0.3</c:v>
                </c:pt>
                <c:pt idx="2">
                  <c:v>0.3</c:v>
                </c:pt>
                <c:pt idx="3">
                  <c:v>0.3</c:v>
                </c:pt>
                <c:pt idx="4">
                  <c:v>0.3</c:v>
                </c:pt>
                <c:pt idx="5">
                  <c:v>0.3</c:v>
                </c:pt>
                <c:pt idx="6">
                  <c:v>1</c:v>
                </c:pt>
                <c:pt idx="7">
                  <c:v>1</c:v>
                </c:pt>
                <c:pt idx="8">
                  <c:v>1</c:v>
                </c:pt>
                <c:pt idx="9">
                  <c:v>1</c:v>
                </c:pt>
                <c:pt idx="10">
                  <c:v>1</c:v>
                </c:pt>
                <c:pt idx="11">
                  <c:v>1</c:v>
                </c:pt>
                <c:pt idx="12">
                  <c:v>1</c:v>
                </c:pt>
                <c:pt idx="13">
                  <c:v>1</c:v>
                </c:pt>
                <c:pt idx="14">
                  <c:v>1</c:v>
                </c:pt>
                <c:pt idx="15">
                  <c:v>1</c:v>
                </c:pt>
                <c:pt idx="16">
                  <c:v>1</c:v>
                </c:pt>
                <c:pt idx="17">
                  <c:v>1</c:v>
                </c:pt>
                <c:pt idx="18">
                  <c:v>3</c:v>
                </c:pt>
                <c:pt idx="19">
                  <c:v>3</c:v>
                </c:pt>
                <c:pt idx="20">
                  <c:v>3</c:v>
                </c:pt>
                <c:pt idx="21">
                  <c:v>3</c:v>
                </c:pt>
                <c:pt idx="22">
                  <c:v>3</c:v>
                </c:pt>
                <c:pt idx="23">
                  <c:v>3</c:v>
                </c:pt>
              </c:numCache>
            </c:numRef>
          </c:xVal>
          <c:yVal>
            <c:numRef>
              <c:f>'Chart Data'!$B$2:$B$25</c:f>
              <c:numCache>
                <c:formatCode>0</c:formatCode>
                <c:ptCount val="24"/>
                <c:pt idx="0">
                  <c:v>16700</c:v>
                </c:pt>
                <c:pt idx="1">
                  <c:v>9900</c:v>
                </c:pt>
                <c:pt idx="2">
                  <c:v>18225</c:v>
                </c:pt>
                <c:pt idx="3">
                  <c:v>15575</c:v>
                </c:pt>
                <c:pt idx="4">
                  <c:v>6075</c:v>
                </c:pt>
                <c:pt idx="5">
                  <c:v>12350</c:v>
                </c:pt>
                <c:pt idx="6">
                  <c:v>2125</c:v>
                </c:pt>
                <c:pt idx="7">
                  <c:v>2950</c:v>
                </c:pt>
                <c:pt idx="8">
                  <c:v>10350</c:v>
                </c:pt>
                <c:pt idx="9">
                  <c:v>2650</c:v>
                </c:pt>
                <c:pt idx="10">
                  <c:v>1925</c:v>
                </c:pt>
                <c:pt idx="11">
                  <c:v>3150</c:v>
                </c:pt>
                <c:pt idx="12">
                  <c:v>6825</c:v>
                </c:pt>
                <c:pt idx="13">
                  <c:v>5725</c:v>
                </c:pt>
                <c:pt idx="14">
                  <c:v>7550</c:v>
                </c:pt>
                <c:pt idx="15">
                  <c:v>1875</c:v>
                </c:pt>
                <c:pt idx="16">
                  <c:v>27175</c:v>
                </c:pt>
                <c:pt idx="17">
                  <c:v>5400</c:v>
                </c:pt>
                <c:pt idx="18">
                  <c:v>3250</c:v>
                </c:pt>
                <c:pt idx="19">
                  <c:v>1825</c:v>
                </c:pt>
                <c:pt idx="20">
                  <c:v>1375</c:v>
                </c:pt>
                <c:pt idx="21">
                  <c:v>2300</c:v>
                </c:pt>
                <c:pt idx="22">
                  <c:v>600</c:v>
                </c:pt>
                <c:pt idx="23">
                  <c:v>1975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000"/>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Waiting time (steps)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10000"/>
      </c:valAx>
      <c:valAx>
        <c:axId val="48650112"/>
        <c:scaling>
          <c:orientation val="minMax"/>
          <c:max val="3.3"/>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Weight-decay setting</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09CEDDD-5F24-43A8-90EB-76AD5A889C7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75F96"/>
                </a:solidFill>
                <a:latin typeface="Arial"/>
                <a:ea typeface="Arial"/>
                <a:cs typeface="Arial"/>
              </a:defRPr>
            </a:defPPr>
          </a:lstStyle>
          <a:p xmlns:a="http://schemas.openxmlformats.org/drawingml/2006/main">
            <a:pPr>
              <a:defRPr sz="4200" b="1">
                <a:solidFill>
                  <a:srgbClr val="175F96"/>
                </a:solidFill>
                <a:latin typeface="Arial"/>
                <a:ea typeface="Arial"/>
                <a:cs typeface="Arial"/>
              </a:defRPr>
            </a:pPr>
            <a:r>
              <a:rPr sz="4200" b="1">
                <a:solidFill>
                  <a:srgbClr val="175F96"/>
                </a:solidFill>
                <a:latin typeface="Arial"/>
                <a:ea typeface="Arial"/>
                <a:cs typeface="Arial"/>
              </a:rPr>
              <a:t>Grokking Under a Fixed Budget</a:t>
            </a:r>
          </a:p>
        </p:txBody>
      </p:sp>
      <p:sp>
        <p:nvSpPr>
          <p:cNvPr id="2" name="text-1">
            <a:extLst xmlns:a="http://schemas.openxmlformats.org/drawingml/2006/main">
              <a:ext uri="{FF2B5EF4-FFF2-40B4-BE49-F238E27FC236}">
                <a16:creationId xmlns:a16="http://schemas.microsoft.com/office/drawing/2014/main" id="{8920645E-97DC-4AA7-B94C-98142EE57CFF}"/>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8A5E3588-342A-4EFB-89B0-20BE43DE6395}"/>
              </a:ext>
            </a:extLst>
          </p:cNvPr>
          <p:cNvSpPr>
            <a:spLocks xmlns:a="http://schemas.openxmlformats.org/drawingml/2006/main" noGrp="1"/>
          </p:cNvSpPr>
          <p:nvPr/>
        </p:nvSpPr>
        <p:spPr>
          <a:xfrm xmlns:a="http://schemas.openxmlformats.org/drawingml/2006/main">
            <a:off x="685800" y="190500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a:solidFill>
                  <a:srgbClr val="172B3A"/>
                </a:solidFill>
                <a:latin typeface="Arial"/>
                <a:ea typeface="Arial"/>
                <a:cs typeface="Arial"/>
              </a:defRPr>
            </a:defPPr>
          </a:lstStyle>
          <a:p xmlns:a="http://schemas.openxmlformats.org/drawingml/2006/main">
            <a:pPr>
              <a:defRPr sz="3450">
                <a:solidFill>
                  <a:srgbClr val="172B3A"/>
                </a:solidFill>
                <a:latin typeface="Arial"/>
                <a:ea typeface="Arial"/>
                <a:cs typeface="Arial"/>
              </a:defRPr>
            </a:pPr>
            <a:r>
              <a:rPr sz="3450">
                <a:solidFill>
                  <a:srgbClr val="172B3A"/>
                </a:solidFill>
                <a:latin typeface="Arial"/>
                <a:ea typeface="Arial"/>
                <a:cs typeface="Arial"/>
              </a:rPr>
              <a:t>One Long Run or Several Restarts?</a:t>
            </a:r>
          </a:p>
        </p:txBody>
      </p:sp>
      <p:sp>
        <p:nvSpPr>
          <p:cNvPr id="4" name="text-3">
            <a:extLst xmlns:a="http://schemas.openxmlformats.org/drawingml/2006/main">
              <a:ext uri="{FF2B5EF4-FFF2-40B4-BE49-F238E27FC236}">
                <a16:creationId xmlns:a16="http://schemas.microsoft.com/office/drawing/2014/main" id="{CBC3191A-7414-4D1F-B4EE-2232C184827A}"/>
              </a:ext>
            </a:extLst>
          </p:cNvPr>
          <p:cNvSpPr>
            <a:spLocks xmlns:a="http://schemas.openxmlformats.org/drawingml/2006/main" noGrp="1"/>
          </p:cNvSpPr>
          <p:nvPr/>
        </p:nvSpPr>
        <p:spPr>
          <a:xfrm xmlns:a="http://schemas.openxmlformats.org/drawingml/2006/main">
            <a:off x="685800" y="35052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667784"/>
                </a:solidFill>
                <a:latin typeface="Arial"/>
                <a:ea typeface="Arial"/>
                <a:cs typeface="Arial"/>
              </a:defRPr>
            </a:defPPr>
          </a:lstStyle>
          <a:p xmlns:a="http://schemas.openxmlformats.org/drawingml/2006/main">
            <a:pPr>
              <a:defRPr sz="2250">
                <a:solidFill>
                  <a:srgbClr val="667784"/>
                </a:solidFill>
                <a:latin typeface="Arial"/>
                <a:ea typeface="Arial"/>
                <a:cs typeface="Arial"/>
              </a:defRPr>
            </a:pPr>
            <a:r>
              <a:rPr sz="2250">
                <a:solidFill>
                  <a:srgbClr val="667784"/>
                </a:solidFill>
                <a:latin typeface="Arial"/>
                <a:ea typeface="Arial"/>
                <a:cs typeface="Arial"/>
              </a:rPr>
              <a:t>Probability and Statistics | BAMAT207</a:t>
            </a:r>
          </a:p>
          <a:p xmlns:a="http://schemas.openxmlformats.org/drawingml/2006/main">
            <a:pPr>
              <a:defRPr sz="2250">
                <a:solidFill>
                  <a:srgbClr val="667784"/>
                </a:solidFill>
                <a:latin typeface="Arial"/>
                <a:ea typeface="Arial"/>
                <a:cs typeface="Arial"/>
              </a:defRPr>
            </a:pPr>
            <a:r>
              <a:rPr sz="2250">
                <a:solidFill>
                  <a:srgbClr val="667784"/>
                </a:solidFill>
                <a:latin typeface="Arial"/>
                <a:ea typeface="Arial"/>
                <a:cs typeface="Arial"/>
              </a:rPr>
              <a:t>Review 1 | 15 October 2026</a:t>
            </a:r>
          </a:p>
        </p:txBody>
      </p:sp>
      <p:sp>
        <p:nvSpPr>
          <p:cNvPr id="5" name="text-4">
            <a:extLst xmlns:a="http://schemas.openxmlformats.org/drawingml/2006/main">
              <a:ext uri="{FF2B5EF4-FFF2-40B4-BE49-F238E27FC236}">
                <a16:creationId xmlns:a16="http://schemas.microsoft.com/office/drawing/2014/main" id="{E10BEC9C-1202-4B8A-B456-8DEF5A5347DC}"/>
              </a:ext>
            </a:extLst>
          </p:cNvPr>
          <p:cNvSpPr>
            <a:spLocks xmlns:a="http://schemas.openxmlformats.org/drawingml/2006/main" noGrp="1"/>
          </p:cNvSpPr>
          <p:nvPr/>
        </p:nvSpPr>
        <p:spPr>
          <a:xfrm xmlns:a="http://schemas.openxmlformats.org/drawingml/2006/main">
            <a:off x="685800" y="50958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Name: [Your name]</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Registration number: [Your registration number]</a:t>
            </a:r>
          </a:p>
        </p:txBody>
      </p:sp>
    </p:spTree>
    <p:extLst>
      <p:ext uri="{BB962C8B-B14F-4D97-AF65-F5344CB8AC3E}">
        <p14:creationId xmlns:p14="http://schemas.microsoft.com/office/powerpoint/2010/main" val="930232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CC5C311-B23A-4F4E-819E-13FFECE6C004}"/>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Our problem and objectives</a:t>
            </a:r>
          </a:p>
        </p:txBody>
      </p:sp>
      <p:sp>
        <p:nvSpPr>
          <p:cNvPr id="2" name="text-1">
            <a:extLst xmlns:a="http://schemas.openxmlformats.org/drawingml/2006/main">
              <a:ext uri="{FF2B5EF4-FFF2-40B4-BE49-F238E27FC236}">
                <a16:creationId xmlns:a16="http://schemas.microsoft.com/office/drawing/2014/main" id="{DFE0377E-FE28-4C11-AE5D-62C0FFF8BAE3}"/>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1272B246-9E7D-4B33-94A8-7CC9F21EF5BB}"/>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15DCB1E9-4174-45A5-BF34-C1FCDC90C2FA}"/>
              </a:ext>
            </a:extLst>
          </p:cNvPr>
          <p:cNvSpPr>
            <a:spLocks xmlns:a="http://schemas.openxmlformats.org/drawingml/2006/main" noGrp="1"/>
          </p:cNvSpPr>
          <p:nvPr/>
        </p:nvSpPr>
        <p:spPr>
          <a:xfrm xmlns:a="http://schemas.openxmlformats.org/drawingml/2006/main">
            <a:off x="685800" y="15525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a:solidFill>
                  <a:srgbClr val="175F96"/>
                </a:solidFill>
                <a:latin typeface="Arial"/>
                <a:ea typeface="Arial"/>
                <a:cs typeface="Arial"/>
              </a:defRPr>
            </a:def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How much training does a model need to answer new questions?</a:t>
            </a:r>
          </a:p>
        </p:txBody>
      </p:sp>
      <p:sp>
        <p:nvSpPr>
          <p:cNvPr id="5" name="text-4">
            <a:extLst xmlns:a="http://schemas.openxmlformats.org/drawingml/2006/main">
              <a:ext uri="{FF2B5EF4-FFF2-40B4-BE49-F238E27FC236}">
                <a16:creationId xmlns:a16="http://schemas.microsoft.com/office/drawing/2014/main" id="{753BFDCC-030E-48D5-BDF1-084C5706CFC8}"/>
              </a:ext>
            </a:extLst>
          </p:cNvPr>
          <p:cNvSpPr>
            <a:spLocks xmlns:a="http://schemas.openxmlformats.org/drawingml/2006/main" noGrp="1"/>
          </p:cNvSpPr>
          <p:nvPr/>
        </p:nvSpPr>
        <p:spPr>
          <a:xfrm xmlns:a="http://schemas.openxmlformats.org/drawingml/2006/main">
            <a:off x="685800" y="28575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Model = a learning program; here, a small neural network.</a:t>
            </a:r>
          </a:p>
        </p:txBody>
      </p:sp>
      <p:sp>
        <p:nvSpPr>
          <p:cNvPr id="6" name="text-5">
            <a:extLst xmlns:a="http://schemas.openxmlformats.org/drawingml/2006/main">
              <a:ext uri="{FF2B5EF4-FFF2-40B4-BE49-F238E27FC236}">
                <a16:creationId xmlns:a16="http://schemas.microsoft.com/office/drawing/2014/main" id="{524F60CB-E146-4929-82DC-B1462819691F}"/>
              </a:ext>
            </a:extLst>
          </p:cNvPr>
          <p:cNvSpPr>
            <a:spLocks xmlns:a="http://schemas.openxmlformats.org/drawingml/2006/main" noGrp="1"/>
          </p:cNvSpPr>
          <p:nvPr/>
        </p:nvSpPr>
        <p:spPr>
          <a:xfrm xmlns:a="http://schemas.openxmlformats.org/drawingml/2006/main">
            <a:off x="685800" y="36290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Measure how much the waiting time changes between attempts.</a:t>
            </a:r>
          </a:p>
        </p:txBody>
      </p:sp>
      <p:sp>
        <p:nvSpPr>
          <p:cNvPr id="7" name="text-6">
            <a:extLst xmlns:a="http://schemas.openxmlformats.org/drawingml/2006/main">
              <a:ext uri="{FF2B5EF4-FFF2-40B4-BE49-F238E27FC236}">
                <a16:creationId xmlns:a16="http://schemas.microsoft.com/office/drawing/2014/main" id="{FEA18F2B-0895-4F43-B4F2-FC74C79AC65A}"/>
              </a:ext>
            </a:extLst>
          </p:cNvPr>
          <p:cNvSpPr>
            <a:spLocks xmlns:a="http://schemas.openxmlformats.org/drawingml/2006/main" noGrp="1"/>
          </p:cNvSpPr>
          <p:nvPr/>
        </p:nvSpPr>
        <p:spPr>
          <a:xfrm xmlns:a="http://schemas.openxmlformats.org/drawingml/2006/main">
            <a:off x="685800" y="44005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Compare training settings and the chance of success within a limit.</a:t>
            </a:r>
          </a:p>
        </p:txBody>
      </p:sp>
      <p:sp>
        <p:nvSpPr>
          <p:cNvPr id="8" name="text-7">
            <a:extLst xmlns:a="http://schemas.openxmlformats.org/drawingml/2006/main">
              <a:ext uri="{FF2B5EF4-FFF2-40B4-BE49-F238E27FC236}">
                <a16:creationId xmlns:a16="http://schemas.microsoft.com/office/drawing/2014/main" id="{1B5211BA-D73C-4C7F-BE38-F4F6FB9F1F9A}"/>
              </a:ext>
            </a:extLst>
          </p:cNvPr>
          <p:cNvSpPr>
            <a:spLocks xmlns:a="http://schemas.openxmlformats.org/drawingml/2006/main" noGrp="1"/>
          </p:cNvSpPr>
          <p:nvPr/>
        </p:nvSpPr>
        <p:spPr>
          <a:xfrm xmlns:a="http://schemas.openxmlformats.org/drawingml/2006/main">
            <a:off x="685800" y="517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Budget = total learning steps; restart = begin again from a fresh start.</a:t>
            </a:r>
          </a:p>
        </p:txBody>
      </p:sp>
    </p:spTree>
    <p:extLst>
      <p:ext uri="{BB962C8B-B14F-4D97-AF65-F5344CB8AC3E}">
        <p14:creationId xmlns:p14="http://schemas.microsoft.com/office/powerpoint/2010/main" val="20799302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AFB5B38-B227-4813-B7AB-3BFF92C8B63E}"/>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What is grokking?</a:t>
            </a:r>
          </a:p>
        </p:txBody>
      </p:sp>
      <p:sp>
        <p:nvSpPr>
          <p:cNvPr id="2" name="text-1">
            <a:extLst xmlns:a="http://schemas.openxmlformats.org/drawingml/2006/main">
              <a:ext uri="{FF2B5EF4-FFF2-40B4-BE49-F238E27FC236}">
                <a16:creationId xmlns:a16="http://schemas.microsoft.com/office/drawing/2014/main" id="{3F1650C4-42FE-4974-84FF-538B8717BBFF}"/>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A11D1E8C-C786-4D0E-B86A-AFF1EF24EC28}"/>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408D3AA8-ED84-43DD-A259-84F652149944}"/>
              </a:ext>
            </a:extLst>
          </p:cNvPr>
          <p:cNvSpPr>
            <a:spLocks xmlns:a="http://schemas.openxmlformats.org/drawingml/2006/main" noGrp="1"/>
          </p:cNvSpPr>
          <p:nvPr/>
        </p:nvSpPr>
        <p:spPr>
          <a:xfrm xmlns:a="http://schemas.openxmlformats.org/drawingml/2006/main">
            <a:off x="685800" y="15811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175F96"/>
                </a:solidFill>
                <a:latin typeface="Arial"/>
                <a:ea typeface="Arial"/>
                <a:cs typeface="Arial"/>
              </a:defRPr>
            </a:defPPr>
          </a:lstStyle>
          <a:p xmlns:a="http://schemas.openxmlformats.org/drawingml/2006/main">
            <a:pPr>
              <a:defRPr sz="2625">
                <a:solidFill>
                  <a:srgbClr val="175F96"/>
                </a:solidFill>
                <a:latin typeface="Arial"/>
                <a:ea typeface="Arial"/>
                <a:cs typeface="Arial"/>
              </a:defRPr>
            </a:pPr>
            <a:r>
              <a:rPr sz="2625">
                <a:solidFill>
                  <a:srgbClr val="175F96"/>
                </a:solidFill>
                <a:latin typeface="Arial"/>
                <a:ea typeface="Arial"/>
                <a:cs typeface="Arial"/>
              </a:rPr>
              <a:t>The model gets practice questions right first.</a:t>
            </a:r>
          </a:p>
          <a:p xmlns:a="http://schemas.openxmlformats.org/drawingml/2006/main">
            <a:pPr>
              <a:defRPr sz="2625">
                <a:solidFill>
                  <a:srgbClr val="175F96"/>
                </a:solidFill>
                <a:latin typeface="Arial"/>
                <a:ea typeface="Arial"/>
                <a:cs typeface="Arial"/>
              </a:defRPr>
            </a:pPr>
            <a:r>
              <a:rPr sz="2625">
                <a:solidFill>
                  <a:srgbClr val="175F96"/>
                </a:solidFill>
                <a:latin typeface="Arial"/>
                <a:ea typeface="Arial"/>
                <a:cs typeface="Arial"/>
              </a:rPr>
              <a:t>After more training, it improves on new questions.</a:t>
            </a:r>
          </a:p>
        </p:txBody>
      </p:sp>
      <p:sp>
        <p:nvSpPr>
          <p:cNvPr id="5" name="text-4">
            <a:extLst xmlns:a="http://schemas.openxmlformats.org/drawingml/2006/main">
              <a:ext uri="{FF2B5EF4-FFF2-40B4-BE49-F238E27FC236}">
                <a16:creationId xmlns:a16="http://schemas.microsoft.com/office/drawing/2014/main" id="{38687B28-D551-47B0-B5F6-EDFFD619E05C}"/>
              </a:ext>
            </a:extLst>
          </p:cNvPr>
          <p:cNvSpPr>
            <a:spLocks xmlns:a="http://schemas.openxmlformats.org/drawingml/2006/main" noGrp="1"/>
          </p:cNvSpPr>
          <p:nvPr/>
        </p:nvSpPr>
        <p:spPr>
          <a:xfrm xmlns:a="http://schemas.openxmlformats.org/drawingml/2006/main">
            <a:off x="685800" y="29432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2B3A"/>
                </a:solidFill>
                <a:latin typeface="Arial"/>
                <a:ea typeface="Arial"/>
                <a:cs typeface="Arial"/>
              </a:defRPr>
            </a:defPPr>
          </a:lstStyle>
          <a:p xmlns:a="http://schemas.openxmlformats.org/drawingml/2006/main">
            <a:pPr>
              <a:defRPr sz="2625" b="1">
                <a:solidFill>
                  <a:srgbClr val="172B3A"/>
                </a:solidFill>
                <a:latin typeface="Arial"/>
                <a:ea typeface="Arial"/>
                <a:cs typeface="Arial"/>
              </a:defRPr>
            </a:pPr>
            <a:r>
              <a:rPr sz="2625" b="1">
                <a:solidFill>
                  <a:srgbClr val="172B3A"/>
                </a:solidFill>
                <a:latin typeface="Arial"/>
                <a:ea typeface="Arial"/>
                <a:cs typeface="Arial"/>
              </a:rPr>
              <a:t>That delayed improvement is called grokking.</a:t>
            </a:r>
          </a:p>
        </p:txBody>
      </p:sp>
      <p:sp>
        <p:nvSpPr>
          <p:cNvPr id="6" name="text-5">
            <a:extLst xmlns:a="http://schemas.openxmlformats.org/drawingml/2006/main">
              <a:ext uri="{FF2B5EF4-FFF2-40B4-BE49-F238E27FC236}">
                <a16:creationId xmlns:a16="http://schemas.microsoft.com/office/drawing/2014/main" id="{10BD5BCA-B6CE-4F85-9D04-13E217D332CB}"/>
              </a:ext>
            </a:extLst>
          </p:cNvPr>
          <p:cNvSpPr>
            <a:spLocks xmlns:a="http://schemas.openxmlformats.org/drawingml/2006/main" noGrp="1"/>
          </p:cNvSpPr>
          <p:nvPr/>
        </p:nvSpPr>
        <p:spPr>
          <a:xfrm xmlns:a="http://schemas.openxmlformats.org/drawingml/2006/main">
            <a:off x="685800" y="39433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Memorization = doing well on the practice examples.</a:t>
            </a:r>
          </a:p>
        </p:txBody>
      </p:sp>
      <p:sp>
        <p:nvSpPr>
          <p:cNvPr id="7" name="text-6">
            <a:extLst xmlns:a="http://schemas.openxmlformats.org/drawingml/2006/main">
              <a:ext uri="{FF2B5EF4-FFF2-40B4-BE49-F238E27FC236}">
                <a16:creationId xmlns:a16="http://schemas.microsoft.com/office/drawing/2014/main" id="{995441B4-EAFC-450B-8A4F-712B3C00DFCD}"/>
              </a:ext>
            </a:extLst>
          </p:cNvPr>
          <p:cNvSpPr>
            <a:spLocks xmlns:a="http://schemas.openxmlformats.org/drawingml/2006/main" noGrp="1"/>
          </p:cNvSpPr>
          <p:nvPr/>
        </p:nvSpPr>
        <p:spPr>
          <a:xfrm xmlns:a="http://schemas.openxmlformats.org/drawingml/2006/main">
            <a:off x="685800" y="46005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Generalization = doing well on questions excluded from practice.</a:t>
            </a:r>
          </a:p>
        </p:txBody>
      </p:sp>
      <p:sp>
        <p:nvSpPr>
          <p:cNvPr id="8" name="text-7">
            <a:extLst xmlns:a="http://schemas.openxmlformats.org/drawingml/2006/main">
              <a:ext uri="{FF2B5EF4-FFF2-40B4-BE49-F238E27FC236}">
                <a16:creationId xmlns:a16="http://schemas.microsoft.com/office/drawing/2014/main" id="{6FCAC699-F910-404E-9EA4-8CF2C5703B6A}"/>
              </a:ext>
            </a:extLst>
          </p:cNvPr>
          <p:cNvSpPr>
            <a:spLocks xmlns:a="http://schemas.openxmlformats.org/drawingml/2006/main" noGrp="1"/>
          </p:cNvSpPr>
          <p:nvPr/>
        </p:nvSpPr>
        <p:spPr>
          <a:xfrm xmlns:a="http://schemas.openxmlformats.org/drawingml/2006/main">
            <a:off x="685800" y="52578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Accuracy = the percentage of answers that are correct.</a:t>
            </a:r>
          </a:p>
        </p:txBody>
      </p:sp>
      <p:sp>
        <p:nvSpPr>
          <p:cNvPr id="9" name="text-8">
            <a:extLst xmlns:a="http://schemas.openxmlformats.org/drawingml/2006/main">
              <a:ext uri="{FF2B5EF4-FFF2-40B4-BE49-F238E27FC236}">
                <a16:creationId xmlns:a16="http://schemas.microsoft.com/office/drawing/2014/main" id="{8E851E38-2721-44DA-8735-08DEC5657FB2}"/>
              </a:ext>
            </a:extLst>
          </p:cNvPr>
          <p:cNvSpPr>
            <a:spLocks xmlns:a="http://schemas.openxmlformats.org/drawingml/2006/main" noGrp="1"/>
          </p:cNvSpPr>
          <p:nvPr/>
        </p:nvSpPr>
        <p:spPr>
          <a:xfrm xmlns:a="http://schemas.openxmlformats.org/drawingml/2006/main">
            <a:off x="685800" y="60579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Think of learning a maths rule after practising examples. Background: Power et al. [1]</a:t>
            </a:r>
          </a:p>
        </p:txBody>
      </p:sp>
    </p:spTree>
    <p:extLst>
      <p:ext uri="{BB962C8B-B14F-4D97-AF65-F5344CB8AC3E}">
        <p14:creationId xmlns:p14="http://schemas.microsoft.com/office/powerpoint/2010/main" val="3577304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95745A8-52D9-49EE-A54F-ECBBB193EDD1}"/>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How we run the experiment</a:t>
            </a:r>
          </a:p>
        </p:txBody>
      </p:sp>
      <p:sp>
        <p:nvSpPr>
          <p:cNvPr id="2" name="text-1">
            <a:extLst xmlns:a="http://schemas.openxmlformats.org/drawingml/2006/main">
              <a:ext uri="{FF2B5EF4-FFF2-40B4-BE49-F238E27FC236}">
                <a16:creationId xmlns:a16="http://schemas.microsoft.com/office/drawing/2014/main" id="{1B8E5351-213A-404F-BBB2-24DED4FDBE17}"/>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3558B01D-32DB-461C-8A58-7E53C02D88BE}"/>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020ECE7B-FC30-4AEE-B7C0-5F0B29EE885D}"/>
              </a:ext>
            </a:extLst>
          </p:cNvPr>
          <p:cNvSpPr>
            <a:spLocks xmlns:a="http://schemas.openxmlformats.org/drawingml/2006/main" noGrp="1"/>
          </p:cNvSpPr>
          <p:nvPr/>
        </p:nvSpPr>
        <p:spPr>
          <a:xfrm xmlns:a="http://schemas.openxmlformats.org/drawingml/2006/main">
            <a:off x="685800" y="15811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5F96"/>
                </a:solidFill>
                <a:latin typeface="Arial"/>
                <a:ea typeface="Arial"/>
                <a:cs typeface="Arial"/>
              </a:defRPr>
            </a:def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Task: add two numbers, then keep the remainder after dividing by 31.</a:t>
            </a:r>
          </a:p>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(30 + 4) mod 31 = 3   because 34 = 31 + 3.</a:t>
            </a:r>
          </a:p>
        </p:txBody>
      </p:sp>
      <p:sp>
        <p:nvSpPr>
          <p:cNvPr id="5" name="text-4">
            <a:extLst xmlns:a="http://schemas.openxmlformats.org/drawingml/2006/main">
              <a:ext uri="{FF2B5EF4-FFF2-40B4-BE49-F238E27FC236}">
                <a16:creationId xmlns:a16="http://schemas.microsoft.com/office/drawing/2014/main" id="{856819DE-BE1B-4765-9A1B-CE7A1FE7DB95}"/>
              </a:ext>
            </a:extLst>
          </p:cNvPr>
          <p:cNvSpPr>
            <a:spLocks xmlns:a="http://schemas.openxmlformats.org/drawingml/2006/main" noGrp="1"/>
          </p:cNvSpPr>
          <p:nvPr/>
        </p:nvSpPr>
        <p:spPr>
          <a:xfrm xmlns:a="http://schemas.openxmlformats.org/drawingml/2006/main">
            <a:off x="685800" y="29051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961 number pairs → 576 practice questions + 385 new questions.</a:t>
            </a:r>
          </a:p>
        </p:txBody>
      </p:sp>
      <p:sp>
        <p:nvSpPr>
          <p:cNvPr id="6" name="text-5">
            <a:extLst xmlns:a="http://schemas.openxmlformats.org/drawingml/2006/main">
              <a:ext uri="{FF2B5EF4-FFF2-40B4-BE49-F238E27FC236}">
                <a16:creationId xmlns:a16="http://schemas.microsoft.com/office/drawing/2014/main" id="{1945B466-3B00-4DB6-B936-9406C8D91263}"/>
              </a:ext>
            </a:extLst>
          </p:cNvPr>
          <p:cNvSpPr>
            <a:spLocks xmlns:a="http://schemas.openxmlformats.org/drawingml/2006/main" noGrp="1"/>
          </p:cNvSpPr>
          <p:nvPr/>
        </p:nvSpPr>
        <p:spPr>
          <a:xfrm xmlns:a="http://schemas.openxmlformats.org/drawingml/2006/main">
            <a:off x="685800" y="35909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Random seed = a number that chooses a repeatable starting point.</a:t>
            </a:r>
          </a:p>
        </p:txBody>
      </p:sp>
      <p:sp>
        <p:nvSpPr>
          <p:cNvPr id="7" name="text-6">
            <a:extLst xmlns:a="http://schemas.openxmlformats.org/drawingml/2006/main">
              <a:ext uri="{FF2B5EF4-FFF2-40B4-BE49-F238E27FC236}">
                <a16:creationId xmlns:a16="http://schemas.microsoft.com/office/drawing/2014/main" id="{9E7E4F6B-A3B2-4332-961B-475C7ED4FE96}"/>
              </a:ext>
            </a:extLst>
          </p:cNvPr>
          <p:cNvSpPr>
            <a:spLocks xmlns:a="http://schemas.openxmlformats.org/drawingml/2006/main" noGrp="1"/>
          </p:cNvSpPr>
          <p:nvPr/>
        </p:nvSpPr>
        <p:spPr>
          <a:xfrm xmlns:a="http://schemas.openxmlformats.org/drawingml/2006/main">
            <a:off x="685800" y="42767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Training update = one learning step that adjusts the model.</a:t>
            </a:r>
          </a:p>
        </p:txBody>
      </p:sp>
      <p:sp>
        <p:nvSpPr>
          <p:cNvPr id="8" name="text-7">
            <a:extLst xmlns:a="http://schemas.openxmlformats.org/drawingml/2006/main">
              <a:ext uri="{FF2B5EF4-FFF2-40B4-BE49-F238E27FC236}">
                <a16:creationId xmlns:a16="http://schemas.microsoft.com/office/drawing/2014/main" id="{A37D486B-0461-45C5-8B16-9CC50BE77624}"/>
              </a:ext>
            </a:extLst>
          </p:cNvPr>
          <p:cNvSpPr>
            <a:spLocks xmlns:a="http://schemas.openxmlformats.org/drawingml/2006/main" noGrp="1"/>
          </p:cNvSpPr>
          <p:nvPr/>
        </p:nvSpPr>
        <p:spPr>
          <a:xfrm xmlns:a="http://schemas.openxmlformats.org/drawingml/2006/main">
            <a:off x="685800" y="4962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Python runs and records the experiment; R analyses the results.</a:t>
            </a:r>
          </a:p>
        </p:txBody>
      </p:sp>
      <p:sp>
        <p:nvSpPr>
          <p:cNvPr id="9" name="text-8">
            <a:extLst xmlns:a="http://schemas.openxmlformats.org/drawingml/2006/main">
              <a:ext uri="{FF2B5EF4-FFF2-40B4-BE49-F238E27FC236}">
                <a16:creationId xmlns:a16="http://schemas.microsoft.com/office/drawing/2014/main" id="{982F03CC-05AC-458A-8B1F-9BA6E6FF87BA}"/>
              </a:ext>
            </a:extLst>
          </p:cNvPr>
          <p:cNvSpPr>
            <a:spLocks xmlns:a="http://schemas.openxmlformats.org/drawingml/2006/main" noGrp="1"/>
          </p:cNvSpPr>
          <p:nvPr/>
        </p:nvSpPr>
        <p:spPr>
          <a:xfrm xmlns:a="http://schemas.openxmlformats.org/drawingml/2006/main">
            <a:off x="685800" y="5715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784"/>
                </a:solidFill>
                <a:latin typeface="Arial"/>
                <a:ea typeface="Arial"/>
                <a:cs typeface="Arial"/>
              </a:defRPr>
            </a:defPPr>
          </a:lstStyle>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Weight decay gently shrinks the model’s internal numbers; compare 0.3, 1 and 3.</a:t>
            </a:r>
          </a:p>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24 main attempts; 9 setup attempts are excluded from these comparisons.</a:t>
            </a:r>
          </a:p>
        </p:txBody>
      </p:sp>
    </p:spTree>
    <p:extLst>
      <p:ext uri="{BB962C8B-B14F-4D97-AF65-F5344CB8AC3E}">
        <p14:creationId xmlns:p14="http://schemas.microsoft.com/office/powerpoint/2010/main" val="14994394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AC8E0CF-B8DB-4E55-90C4-E408B17EE40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How we measure learning time</a:t>
            </a:r>
          </a:p>
        </p:txBody>
      </p:sp>
      <p:sp>
        <p:nvSpPr>
          <p:cNvPr id="2" name="text-1">
            <a:extLst xmlns:a="http://schemas.openxmlformats.org/drawingml/2006/main">
              <a:ext uri="{FF2B5EF4-FFF2-40B4-BE49-F238E27FC236}">
                <a16:creationId xmlns:a16="http://schemas.microsoft.com/office/drawing/2014/main" id="{ACE02445-8FA5-45AD-8FEB-BBC5A4F2C2C8}"/>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FDAE130A-EB85-4467-A428-162A34FDF5FB}"/>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D189AA08-2292-47B1-A6FC-FB49B2AD4894}"/>
              </a:ext>
            </a:extLst>
          </p:cNvPr>
          <p:cNvSpPr>
            <a:spLocks xmlns:a="http://schemas.openxmlformats.org/drawingml/2006/main" noGrp="1"/>
          </p:cNvSpPr>
          <p:nvPr/>
        </p:nvSpPr>
        <p:spPr>
          <a:xfrm xmlns:a="http://schemas.openxmlformats.org/drawingml/2006/main">
            <a:off x="685800" y="1581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a:solidFill>
                  <a:srgbClr val="175F96"/>
                </a:solidFill>
                <a:latin typeface="Arial"/>
                <a:ea typeface="Arial"/>
                <a:cs typeface="Arial"/>
              </a:defRPr>
            </a:def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T = learning steps needed to pass our success rule</a:t>
            </a:r>
          </a:p>
        </p:txBody>
      </p:sp>
      <p:sp>
        <p:nvSpPr>
          <p:cNvPr id="5" name="text-4">
            <a:extLst xmlns:a="http://schemas.openxmlformats.org/drawingml/2006/main">
              <a:ext uri="{FF2B5EF4-FFF2-40B4-BE49-F238E27FC236}">
                <a16:creationId xmlns:a16="http://schemas.microsoft.com/office/drawing/2014/main" id="{B2F31196-81E4-4DE5-A88A-CFBDC7196C8E}"/>
              </a:ext>
            </a:extLst>
          </p:cNvPr>
          <p:cNvSpPr>
            <a:spLocks xmlns:a="http://schemas.openxmlformats.org/drawingml/2006/main" noGrp="1"/>
          </p:cNvSpPr>
          <p:nvPr/>
        </p:nvSpPr>
        <p:spPr>
          <a:xfrm xmlns:a="http://schemas.openxmlformats.org/drawingml/2006/main">
            <a:off x="685800" y="23431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Get ≥ 99% of practice answers and ≥ 95% of new answers correct</a:t>
            </a:r>
          </a:p>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at three checks in a row. Check every 25 updates.</a:t>
            </a:r>
          </a:p>
        </p:txBody>
      </p:sp>
      <p:sp>
        <p:nvSpPr>
          <p:cNvPr id="6" name="text-5">
            <a:extLst xmlns:a="http://schemas.openxmlformats.org/drawingml/2006/main">
              <a:ext uri="{FF2B5EF4-FFF2-40B4-BE49-F238E27FC236}">
                <a16:creationId xmlns:a16="http://schemas.microsoft.com/office/drawing/2014/main" id="{2E4F1A40-3201-4206-A0A8-17B9E7B9F028}"/>
              </a:ext>
            </a:extLst>
          </p:cNvPr>
          <p:cNvSpPr>
            <a:spLocks xmlns:a="http://schemas.openxmlformats.org/drawingml/2006/main" noGrp="1"/>
          </p:cNvSpPr>
          <p:nvPr/>
        </p:nvSpPr>
        <p:spPr>
          <a:xfrm xmlns:a="http://schemas.openxmlformats.org/drawingml/2006/main">
            <a:off x="685800" y="35052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2B3A"/>
                </a:solidFill>
                <a:latin typeface="Arial"/>
                <a:ea typeface="Arial"/>
                <a:cs typeface="Arial"/>
              </a:defRPr>
            </a:def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Pass at 2,000, 2,025 and 2,050 → record T = 2,050.</a:t>
            </a:r>
          </a:p>
        </p:txBody>
      </p:sp>
      <p:sp>
        <p:nvSpPr>
          <p:cNvPr id="7" name="text-6">
            <a:extLst xmlns:a="http://schemas.openxmlformats.org/drawingml/2006/main">
              <a:ext uri="{FF2B5EF4-FFF2-40B4-BE49-F238E27FC236}">
                <a16:creationId xmlns:a16="http://schemas.microsoft.com/office/drawing/2014/main" id="{42D14D23-C541-476B-9CFD-A15FD7C1D809}"/>
              </a:ext>
            </a:extLst>
          </p:cNvPr>
          <p:cNvSpPr>
            <a:spLocks xmlns:a="http://schemas.openxmlformats.org/drawingml/2006/main" noGrp="1"/>
          </p:cNvSpPr>
          <p:nvPr/>
        </p:nvSpPr>
        <p:spPr>
          <a:xfrm xmlns:a="http://schemas.openxmlformats.org/drawingml/2006/main">
            <a:off x="685800" y="4314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T changes between attempts: it is a random variable.</a:t>
            </a:r>
          </a:p>
        </p:txBody>
      </p:sp>
      <p:sp>
        <p:nvSpPr>
          <p:cNvPr id="8" name="text-7">
            <a:extLst xmlns:a="http://schemas.openxmlformats.org/drawingml/2006/main">
              <a:ext uri="{FF2B5EF4-FFF2-40B4-BE49-F238E27FC236}">
                <a16:creationId xmlns:a16="http://schemas.microsoft.com/office/drawing/2014/main" id="{9A134A3D-3157-4587-A29A-954564D15084}"/>
              </a:ext>
            </a:extLst>
          </p:cNvPr>
          <p:cNvSpPr>
            <a:spLocks xmlns:a="http://schemas.openxmlformats.org/drawingml/2006/main" noGrp="1"/>
          </p:cNvSpPr>
          <p:nvPr/>
        </p:nvSpPr>
        <p:spPr>
          <a:xfrm xmlns:a="http://schemas.openxmlformats.org/drawingml/2006/main">
            <a:off x="685800" y="5124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5F96"/>
                </a:solidFill>
                <a:latin typeface="Arial"/>
                <a:ea typeface="Arial"/>
                <a:cs typeface="Arial"/>
              </a:defRPr>
            </a:def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Limit C = 30,000. Capped time U = min(T, C).</a:t>
            </a:r>
          </a:p>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If unfinished, eventual T is unknown; U records the limit.</a:t>
            </a:r>
          </a:p>
        </p:txBody>
      </p:sp>
      <p:sp>
        <p:nvSpPr>
          <p:cNvPr id="9" name="text-8">
            <a:extLst xmlns:a="http://schemas.openxmlformats.org/drawingml/2006/main">
              <a:ext uri="{FF2B5EF4-FFF2-40B4-BE49-F238E27FC236}">
                <a16:creationId xmlns:a16="http://schemas.microsoft.com/office/drawing/2014/main" id="{2E5C565C-9DF2-4D08-90F2-45C05DA27D44}"/>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784"/>
                </a:solidFill>
                <a:latin typeface="Arial"/>
                <a:ea typeface="Arial"/>
                <a:cs typeface="Arial"/>
              </a:defRPr>
            </a:defPPr>
          </a:lstStyle>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Three successful checks do not guarantee that accuracy stays high forever.</a:t>
            </a:r>
          </a:p>
        </p:txBody>
      </p:sp>
    </p:spTree>
    <p:extLst>
      <p:ext uri="{BB962C8B-B14F-4D97-AF65-F5344CB8AC3E}">
        <p14:creationId xmlns:p14="http://schemas.microsoft.com/office/powerpoint/2010/main" val="15116866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5AD8828-48E4-4BD2-AD3E-C39780B0D34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How much do learning times vary?</a:t>
            </a:r>
          </a:p>
        </p:txBody>
      </p:sp>
      <p:sp>
        <p:nvSpPr>
          <p:cNvPr id="2" name="text-1">
            <a:extLst xmlns:a="http://schemas.openxmlformats.org/drawingml/2006/main">
              <a:ext uri="{FF2B5EF4-FFF2-40B4-BE49-F238E27FC236}">
                <a16:creationId xmlns:a16="http://schemas.microsoft.com/office/drawing/2014/main" id="{9207E20B-E056-412E-94AD-CFB3F12BD6AA}"/>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FE0C8ECE-82F0-4CBC-99E5-5C6913F5DDD3}"/>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70253770-3F3D-4C2A-8EDF-1F2CB4A1D862}"/>
              </a:ext>
            </a:extLst>
          </p:cNvPr>
          <p:cNvGraphicFramePr/>
          <p:nvPr/>
        </p:nvGraphicFramePr>
        <p:xfrm>
          <a:off xmlns:a="http://schemas.openxmlformats.org/drawingml/2006/main" x="552450" y="1581150"/>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ab85ebd81ed0434b"/>
          </a:graphicData>
        </a:graphic>
      </p:graphicFrame>
      <p:sp>
        <p:nvSpPr>
          <p:cNvPr id="5" name="text-3">
            <a:extLst xmlns:a="http://schemas.openxmlformats.org/drawingml/2006/main">
              <a:ext uri="{FF2B5EF4-FFF2-40B4-BE49-F238E27FC236}">
                <a16:creationId xmlns:a16="http://schemas.microsoft.com/office/drawing/2014/main" id="{22C2FD20-D7EE-4012-928C-2024FBA261B5}"/>
              </a:ext>
            </a:extLst>
          </p:cNvPr>
          <p:cNvSpPr>
            <a:spLocks xmlns:a="http://schemas.openxmlformats.org/drawingml/2006/main" noGrp="1"/>
          </p:cNvSpPr>
          <p:nvPr/>
        </p:nvSpPr>
        <p:spPr>
          <a:xfrm xmlns:a="http://schemas.openxmlformats.org/drawingml/2006/main">
            <a:off x="8239125" y="1876425"/>
            <a:ext cx="32670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Mean (average): 6,475</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Median (middle): 4,275</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SD (spread): 7,041</a:t>
            </a:r>
          </a:p>
          <a:p xmlns:a="http://schemas.openxmlformats.org/drawingml/2006/main">
            <a:r>
              <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Range:</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1,875–27,175</a:t>
            </a:r>
          </a:p>
        </p:txBody>
      </p:sp>
      <p:sp>
        <p:nvSpPr>
          <p:cNvPr id="6" name="text-4">
            <a:extLst xmlns:a="http://schemas.openxmlformats.org/drawingml/2006/main">
              <a:ext uri="{FF2B5EF4-FFF2-40B4-BE49-F238E27FC236}">
                <a16:creationId xmlns:a16="http://schemas.microsoft.com/office/drawing/2014/main" id="{5708EFF0-E552-45B2-A34C-F4DE04B4E04B}"/>
              </a:ext>
            </a:extLst>
          </p:cNvPr>
          <p:cNvSpPr>
            <a:spLocks xmlns:a="http://schemas.openxmlformats.org/drawingml/2006/main" noGrp="1"/>
          </p:cNvSpPr>
          <p:nvPr/>
        </p:nvSpPr>
        <p:spPr>
          <a:xfrm xmlns:a="http://schemas.openxmlformats.org/drawingml/2006/main">
            <a:off x="685800" y="59817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SD = standard deviation: spread around the average. One slow run raises the mean.</a:t>
            </a:r>
          </a:p>
        </p:txBody>
      </p:sp>
    </p:spTree>
    <p:extLst>
      <p:ext uri="{BB962C8B-B14F-4D97-AF65-F5344CB8AC3E}">
        <p14:creationId xmlns:p14="http://schemas.microsoft.com/office/powerpoint/2010/main" val="5410025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48014BC-7C00-45B4-9C74-FD5D286B852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What is the chance of learning in time?</a:t>
            </a:r>
          </a:p>
        </p:txBody>
      </p:sp>
      <p:sp>
        <p:nvSpPr>
          <p:cNvPr id="2" name="text-1">
            <a:extLst xmlns:a="http://schemas.openxmlformats.org/drawingml/2006/main">
              <a:ext uri="{FF2B5EF4-FFF2-40B4-BE49-F238E27FC236}">
                <a16:creationId xmlns:a16="http://schemas.microsoft.com/office/drawing/2014/main" id="{DF324208-C7D2-4BEB-948C-41F41B5AA33C}"/>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24282C34-393D-4724-8C12-422A51C65AA6}"/>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81F8A037-36D1-4877-A8F2-869B706AD784}"/>
              </a:ext>
            </a:extLst>
          </p:cNvPr>
          <p:cNvGraphicFramePr/>
          <p:nvPr/>
        </p:nvGraphicFramePr>
        <p:xfrm>
          <a:off xmlns:a="http://schemas.openxmlformats.org/drawingml/2006/main" x="523875" y="1543050"/>
          <a:ext xmlns:a="http://schemas.openxmlformats.org/drawingml/2006/main" cx="7239000" cy="4314825"/>
        </p:xfrm>
        <a:graphic xmlns:a="http://schemas.openxmlformats.org/drawingml/2006/main">
          <a:graphicData uri="http://schemas.openxmlformats.org/drawingml/2006/chart">
            <c:chart xmlns:r="http://schemas.openxmlformats.org/officeDocument/2006/relationships" xmlns:c="http://schemas.openxmlformats.org/drawingml/2006/chart" r:id="Ra978b5e34d6d4794"/>
          </a:graphicData>
        </a:graphic>
      </p:graphicFrame>
      <p:sp>
        <p:nvSpPr>
          <p:cNvPr id="5" name="text-3">
            <a:extLst xmlns:a="http://schemas.openxmlformats.org/drawingml/2006/main">
              <a:ext uri="{FF2B5EF4-FFF2-40B4-BE49-F238E27FC236}">
                <a16:creationId xmlns:a16="http://schemas.microsoft.com/office/drawing/2014/main" id="{935493EF-18F8-4882-A648-16FE1E49D7F1}"/>
              </a:ext>
            </a:extLst>
          </p:cNvPr>
          <p:cNvSpPr>
            <a:spLocks xmlns:a="http://schemas.openxmlformats.org/drawingml/2006/main" noGrp="1"/>
          </p:cNvSpPr>
          <p:nvPr/>
        </p:nvSpPr>
        <p:spPr>
          <a:xfrm xmlns:a="http://schemas.openxmlformats.org/drawingml/2006/main">
            <a:off x="8001000" y="1828800"/>
            <a:ext cx="350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By 2,400: 3/12 = 25%</a:t>
            </a:r>
          </a:p>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By 30,000: 12/12 succeed</a:t>
            </a:r>
          </a:p>
        </p:txBody>
      </p:sp>
      <p:sp>
        <p:nvSpPr>
          <p:cNvPr id="6" name="text-4">
            <a:extLst xmlns:a="http://schemas.openxmlformats.org/drawingml/2006/main">
              <a:ext uri="{FF2B5EF4-FFF2-40B4-BE49-F238E27FC236}">
                <a16:creationId xmlns:a16="http://schemas.microsoft.com/office/drawing/2014/main" id="{C1E315DC-014C-442D-B4AF-85CFBAA89A85}"/>
              </a:ext>
            </a:extLst>
          </p:cNvPr>
          <p:cNvSpPr>
            <a:spLocks xmlns:a="http://schemas.openxmlformats.org/drawingml/2006/main" noGrp="1"/>
          </p:cNvSpPr>
          <p:nvPr/>
        </p:nvSpPr>
        <p:spPr>
          <a:xfrm xmlns:a="http://schemas.openxmlformats.org/drawingml/2006/main">
            <a:off x="8001000" y="3105150"/>
            <a:ext cx="35052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95% confidence interval:</a:t>
            </a:r>
          </a:p>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73.5%–100%</a:t>
            </a:r>
          </a:p>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Shows uncertainty from</a:t>
            </a:r>
          </a:p>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a small sample.</a:t>
            </a:r>
          </a:p>
        </p:txBody>
      </p:sp>
      <p:sp>
        <p:nvSpPr>
          <p:cNvPr id="7" name="text-5">
            <a:extLst xmlns:a="http://schemas.openxmlformats.org/drawingml/2006/main">
              <a:ext uri="{FF2B5EF4-FFF2-40B4-BE49-F238E27FC236}">
                <a16:creationId xmlns:a16="http://schemas.microsoft.com/office/drawing/2014/main" id="{E56ED67F-258B-498B-8662-34B71A0EE0EA}"/>
              </a:ext>
            </a:extLst>
          </p:cNvPr>
          <p:cNvSpPr>
            <a:spLocks xmlns:a="http://schemas.openxmlformats.org/drawingml/2006/main" noGrp="1"/>
          </p:cNvSpPr>
          <p:nvPr/>
        </p:nvSpPr>
        <p:spPr>
          <a:xfrm xmlns:a="http://schemas.openxmlformats.org/drawingml/2006/main">
            <a:off x="8001000" y="5048250"/>
            <a:ext cx="3505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Bernoulli = one yes/no result.</a:t>
            </a:r>
          </a:p>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Binomial = number of successes.</a:t>
            </a:r>
          </a:p>
        </p:txBody>
      </p:sp>
      <p:sp>
        <p:nvSpPr>
          <p:cNvPr id="8" name="text-6">
            <a:extLst xmlns:a="http://schemas.openxmlformats.org/drawingml/2006/main">
              <a:ext uri="{FF2B5EF4-FFF2-40B4-BE49-F238E27FC236}">
                <a16:creationId xmlns:a16="http://schemas.microsoft.com/office/drawing/2014/main" id="{8D03C0EF-CA1F-410D-978F-141D70CAEDCF}"/>
              </a:ext>
            </a:extLst>
          </p:cNvPr>
          <p:cNvSpPr>
            <a:spLocks xmlns:a="http://schemas.openxmlformats.org/drawingml/2006/main" noGrp="1"/>
          </p:cNvSpPr>
          <p:nvPr/>
        </p:nvSpPr>
        <p:spPr>
          <a:xfrm xmlns:a="http://schemas.openxmlformats.org/drawingml/2006/main">
            <a:off x="685800" y="59817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5F96"/>
                </a:solidFill>
                <a:latin typeface="Arial"/>
                <a:ea typeface="Arial"/>
                <a:cs typeface="Arial"/>
              </a:defRPr>
            </a:def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All 12 worked by the limit. Another attempt could still fail.</a:t>
            </a:r>
          </a:p>
        </p:txBody>
      </p:sp>
    </p:spTree>
    <p:extLst>
      <p:ext uri="{BB962C8B-B14F-4D97-AF65-F5344CB8AC3E}">
        <p14:creationId xmlns:p14="http://schemas.microsoft.com/office/powerpoint/2010/main" val="15998354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A4F240C-B938-4F66-935A-87A5E0C858A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How we compare the results</a:t>
            </a:r>
          </a:p>
        </p:txBody>
      </p:sp>
      <p:sp>
        <p:nvSpPr>
          <p:cNvPr id="2" name="text-1">
            <a:extLst xmlns:a="http://schemas.openxmlformats.org/drawingml/2006/main">
              <a:ext uri="{FF2B5EF4-FFF2-40B4-BE49-F238E27FC236}">
                <a16:creationId xmlns:a16="http://schemas.microsoft.com/office/drawing/2014/main" id="{F65033A3-874D-4E82-87DC-94C2FB97D5FA}"/>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32F4B7E1-D01B-4240-B65F-45AADA50FCC4}"/>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1807EAED-52D5-4518-ABBD-5F3590BBC54E}"/>
              </a:ext>
            </a:extLst>
          </p:cNvPr>
          <p:cNvGraphicFramePr/>
          <p:nvPr/>
        </p:nvGraphicFramePr>
        <p:xfrm>
          <a:off xmlns:a="http://schemas.openxmlformats.org/drawingml/2006/main" x="685800" y="1552575"/>
          <a:ext xmlns:a="http://schemas.openxmlformats.org/drawingml/2006/main" cx="10820400" cy="3333750"/>
        </p:xfrm>
        <a:graphic xmlns:a="http://schemas.openxmlformats.org/drawingml/2006/main">
          <a:graphicData uri="http://schemas.openxmlformats.org/drawingml/2006/table">
            <a:tbl>
              <a:tblPr/>
              <a:tblGrid>
                <a:gridCol w="2381250"/>
                <a:gridCol w="4429125"/>
                <a:gridCol w="4010025"/>
              </a:tblGrid>
              <a:tr h="666750">
                <a:tc>
                  <a:txBody>
                    <a:bodyPr lIns="85725" tIns="85725" rIns="85725" bIns="85725"/>
                    <a:lstStyle/>
                    <a:p>
                      <a:r>
                        <a:rPr sz="1800" b="1">
                          <a:solidFill>
                            <a:srgbClr val="175F96"/>
                          </a:solidFill>
                          <a:latin typeface="Arial"/>
                          <a:ea typeface="Arial"/>
                          <a:cs typeface="Arial"/>
                        </a:rPr>
                        <a:t>Method</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Plain meaning</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Question answered</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666750">
                <a:tc>
                  <a:txBody>
                    <a:bodyPr lIns="85725" tIns="85725" rIns="85725" bIns="85725"/>
                    <a:lstStyle/>
                    <a:p>
                      <a:r>
                        <a:rPr sz="1800" b="0">
                          <a:solidFill>
                            <a:srgbClr val="172B3A"/>
                          </a:solidFill>
                          <a:latin typeface="Arial"/>
                          <a:ea typeface="Arial"/>
                          <a:cs typeface="Arial"/>
                        </a:rPr>
                        <a:t>Welch’s t-test</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Compare two group averages.</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Could the gap be due to chance?</a:t>
                      </a:r>
                    </a:p>
                  </a:txBody>
                  <a:tcPr marL="91440" marR="91440" marT="45720" marB="45720" anchor="ctr">
                    <a:lnR w="0">
                      <a:solidFill>
                        <a:srgbClr val="FFFFFF"/>
                      </a:solidFill>
                    </a:lnR>
                    <a:lnB w="0">
                      <a:solidFill>
                        <a:srgbClr val="FFFFFF"/>
                      </a:solidFill>
                    </a:lnB>
                    <a:solidFill>
                      <a:srgbClr val="FFFFFF"/>
                    </a:solidFill>
                  </a:tcPr>
                </a:tc>
              </a:tr>
              <a:tr h="666750">
                <a:tc>
                  <a:txBody>
                    <a:bodyPr lIns="85725" tIns="85725" rIns="85725" bIns="85725"/>
                    <a:lstStyle/>
                    <a:p>
                      <a:r>
                        <a:rPr sz="1800" b="0">
                          <a:solidFill>
                            <a:srgbClr val="172B3A"/>
                          </a:solidFill>
                          <a:latin typeface="Arial"/>
                          <a:ea typeface="Arial"/>
                          <a:cs typeface="Arial"/>
                        </a:rPr>
                        <a:t>ANOVA</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Compare all three averages.</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Could all groups have the same true average?</a:t>
                      </a:r>
                    </a:p>
                  </a:txBody>
                  <a:tcPr marL="91440" marR="91440" marT="45720" marB="45720" anchor="ctr">
                    <a:lnR w="0">
                      <a:solidFill>
                        <a:srgbClr val="FFFFFF"/>
                      </a:solidFill>
                    </a:lnR>
                    <a:lnB w="0">
                      <a:solidFill>
                        <a:srgbClr val="FFFFFF"/>
                      </a:solidFill>
                    </a:lnB>
                    <a:solidFill>
                      <a:srgbClr val="FFFFFF"/>
                    </a:solidFill>
                  </a:tcPr>
                </a:tc>
              </a:tr>
              <a:tr h="666750">
                <a:tc>
                  <a:txBody>
                    <a:bodyPr lIns="85725" tIns="85725" rIns="85725" bIns="85725"/>
                    <a:lstStyle/>
                    <a:p>
                      <a:r>
                        <a:rPr sz="1800" b="0">
                          <a:solidFill>
                            <a:srgbClr val="172B3A"/>
                          </a:solidFill>
                          <a:latin typeface="Arial"/>
                          <a:ea typeface="Arial"/>
                          <a:cs typeface="Arial"/>
                        </a:rPr>
                        <a:t>Correlation</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Measure how two things vary together.</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Does larger decay go with less waiting?</a:t>
                      </a:r>
                    </a:p>
                  </a:txBody>
                  <a:tcPr marL="91440" marR="91440" marT="45720" marB="45720" anchor="ctr">
                    <a:lnR w="0">
                      <a:solidFill>
                        <a:srgbClr val="FFFFFF"/>
                      </a:solidFill>
                    </a:lnR>
                    <a:lnB w="0">
                      <a:solidFill>
                        <a:srgbClr val="FFFFFF"/>
                      </a:solidFill>
                    </a:lnB>
                    <a:solidFill>
                      <a:srgbClr val="FFFFFF"/>
                    </a:solidFill>
                  </a:tcPr>
                </a:tc>
              </a:tr>
              <a:tr h="666750">
                <a:tc>
                  <a:txBody>
                    <a:bodyPr lIns="85725" tIns="85725" rIns="85725" bIns="85725"/>
                    <a:lstStyle/>
                    <a:p>
                      <a:r>
                        <a:rPr sz="1800" b="0">
                          <a:solidFill>
                            <a:srgbClr val="172B3A"/>
                          </a:solidFill>
                          <a:latin typeface="Arial"/>
                          <a:ea typeface="Arial"/>
                          <a:cs typeface="Arial"/>
                        </a:rPr>
                        <a:t>Regression</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Fit a line through the data.</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How does waiting time relate to decay?</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E550998-ABA2-4733-B7DE-BD532428AD6D}"/>
              </a:ext>
            </a:extLst>
          </p:cNvPr>
          <p:cNvSpPr>
            <a:spLocks xmlns:a="http://schemas.openxmlformats.org/drawingml/2006/main" noGrp="1"/>
          </p:cNvSpPr>
          <p:nvPr/>
        </p:nvSpPr>
        <p:spPr>
          <a:xfrm xmlns:a="http://schemas.openxmlformats.org/drawingml/2006/main">
            <a:off x="685800" y="52292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5F96"/>
                </a:solidFill>
                <a:latin typeface="Arial"/>
                <a:ea typeface="Arial"/>
                <a:cs typeface="Arial"/>
              </a:defRPr>
            </a:defPPr>
          </a:lstStyle>
          <a:p xmlns:a="http://schemas.openxmlformats.org/drawingml/2006/main">
            <a:pPr>
              <a:defRPr sz="2025">
                <a:solidFill>
                  <a:srgbClr val="175F96"/>
                </a:solidFill>
                <a:latin typeface="Arial"/>
                <a:ea typeface="Arial"/>
                <a:cs typeface="Arial"/>
              </a:defRPr>
            </a:pPr>
            <a:r>
              <a:rPr sz="2025">
                <a:solidFill>
                  <a:srgbClr val="175F96"/>
                </a:solidFill>
                <a:latin typeface="Arial"/>
                <a:ea typeface="Arial"/>
                <a:cs typeface="Arial"/>
              </a:rPr>
              <a:t>ANOVA p = 0.0077: a surprising gap if group means were equal.</a:t>
            </a:r>
          </a:p>
        </p:txBody>
      </p:sp>
      <p:sp>
        <p:nvSpPr>
          <p:cNvPr id="6" name="text-4">
            <a:extLst xmlns:a="http://schemas.openxmlformats.org/drawingml/2006/main">
              <a:ext uri="{FF2B5EF4-FFF2-40B4-BE49-F238E27FC236}">
                <a16:creationId xmlns:a16="http://schemas.microsoft.com/office/drawing/2014/main" id="{AAB58C5E-53E2-4EC9-9D5D-A489CCF495F0}"/>
              </a:ext>
            </a:extLst>
          </p:cNvPr>
          <p:cNvSpPr>
            <a:spLocks xmlns:a="http://schemas.openxmlformats.org/drawingml/2006/main" noGrp="1"/>
          </p:cNvSpPr>
          <p:nvPr/>
        </p:nvSpPr>
        <p:spPr>
          <a:xfrm xmlns:a="http://schemas.openxmlformats.org/drawingml/2006/main">
            <a:off x="685800" y="57816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Check the test’s conditions: our errors do not follow the usual bell-shaped pattern.</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Treat these small-sample comparisons as early evidence.</a:t>
            </a:r>
          </a:p>
        </p:txBody>
      </p:sp>
    </p:spTree>
    <p:extLst>
      <p:ext uri="{BB962C8B-B14F-4D97-AF65-F5344CB8AC3E}">
        <p14:creationId xmlns:p14="http://schemas.microsoft.com/office/powerpoint/2010/main" val="1785003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D40043F-546A-45DC-BD39-CEBE61F50C9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Grokking in one training attempt</a:t>
            </a:r>
          </a:p>
        </p:txBody>
      </p:sp>
      <p:sp>
        <p:nvSpPr>
          <p:cNvPr id="2" name="text-1">
            <a:extLst xmlns:a="http://schemas.openxmlformats.org/drawingml/2006/main">
              <a:ext uri="{FF2B5EF4-FFF2-40B4-BE49-F238E27FC236}">
                <a16:creationId xmlns:a16="http://schemas.microsoft.com/office/drawing/2014/main" id="{B3345248-3BC4-4352-971A-5A9C913B1697}"/>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C68C8AA3-A9C9-46C8-9CA8-DA884D7E9D15}"/>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AE678A7E-2833-4508-BF62-5ED936E0A71C}"/>
              </a:ext>
            </a:extLst>
          </p:cNvPr>
          <p:cNvGraphicFramePr/>
          <p:nvPr/>
        </p:nvGraphicFramePr>
        <p:xfrm>
          <a:off xmlns:a="http://schemas.openxmlformats.org/drawingml/2006/main" x="523875" y="1457325"/>
          <a:ext xmlns:a="http://schemas.openxmlformats.org/drawingml/2006/main" cx="11144250" cy="4019550"/>
        </p:xfrm>
        <a:graphic xmlns:a="http://schemas.openxmlformats.org/drawingml/2006/main">
          <a:graphicData uri="http://schemas.openxmlformats.org/drawingml/2006/chart">
            <c:chart xmlns:r="http://schemas.openxmlformats.org/officeDocument/2006/relationships" xmlns:c="http://schemas.openxmlformats.org/drawingml/2006/chart" r:id="Rda29ccfa411a4997"/>
          </a:graphicData>
        </a:graphic>
      </p:graphicFrame>
      <p:sp>
        <p:nvSpPr>
          <p:cNvPr id="5" name="text-3">
            <a:extLst xmlns:a="http://schemas.openxmlformats.org/drawingml/2006/main">
              <a:ext uri="{FF2B5EF4-FFF2-40B4-BE49-F238E27FC236}">
                <a16:creationId xmlns:a16="http://schemas.microsoft.com/office/drawing/2014/main" id="{6B7ADA7F-146F-4706-B621-7E38296AD22B}"/>
              </a:ext>
            </a:extLst>
          </p:cNvPr>
          <p:cNvSpPr>
            <a:spLocks xmlns:a="http://schemas.openxmlformats.org/drawingml/2006/main" noGrp="1"/>
          </p:cNvSpPr>
          <p:nvPr/>
        </p:nvSpPr>
        <p:spPr>
          <a:xfrm xmlns:a="http://schemas.openxmlformats.org/drawingml/2006/main">
            <a:off x="685800" y="55816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5F96"/>
                </a:solidFill>
                <a:latin typeface="Arial"/>
                <a:ea typeface="Arial"/>
                <a:cs typeface="Arial"/>
              </a:defRPr>
            </a:def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Practice success: 150  |  New-question success T: 3150 steps</a:t>
            </a:r>
          </a:p>
        </p:txBody>
      </p:sp>
      <p:sp>
        <p:nvSpPr>
          <p:cNvPr id="6" name="text-4">
            <a:extLst xmlns:a="http://schemas.openxmlformats.org/drawingml/2006/main">
              <a:ext uri="{FF2B5EF4-FFF2-40B4-BE49-F238E27FC236}">
                <a16:creationId xmlns:a16="http://schemas.microsoft.com/office/drawing/2014/main" id="{7FED5615-FD20-4268-A414-E2E7F08C10B5}"/>
              </a:ext>
            </a:extLst>
          </p:cNvPr>
          <p:cNvSpPr>
            <a:spLocks xmlns:a="http://schemas.openxmlformats.org/drawingml/2006/main" noGrp="1"/>
          </p:cNvSpPr>
          <p:nvPr/>
        </p:nvSpPr>
        <p:spPr>
          <a:xfrm xmlns:a="http://schemas.openxmlformats.org/drawingml/2006/main">
            <a:off x="685800" y="60769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First 6,000 steps shown. Later accuracy drops occurred in 18 of the 24 attempts.</a:t>
            </a:r>
          </a:p>
        </p:txBody>
      </p:sp>
    </p:spTree>
    <p:extLst>
      <p:ext uri="{BB962C8B-B14F-4D97-AF65-F5344CB8AC3E}">
        <p14:creationId xmlns:p14="http://schemas.microsoft.com/office/powerpoint/2010/main" val="3158442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DE1FC67-F426-4A83-BDE6-3F799C5022A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What happened when we changed weight decay?</a:t>
            </a:r>
          </a:p>
        </p:txBody>
      </p:sp>
      <p:sp>
        <p:nvSpPr>
          <p:cNvPr id="2" name="text-1">
            <a:extLst xmlns:a="http://schemas.openxmlformats.org/drawingml/2006/main">
              <a:ext uri="{FF2B5EF4-FFF2-40B4-BE49-F238E27FC236}">
                <a16:creationId xmlns:a16="http://schemas.microsoft.com/office/drawing/2014/main" id="{C03BA7BB-0BFE-412D-A355-B500F33FBBCE}"/>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AA5F3BAE-2C4E-437D-AEFF-A59DB3B9FF76}"/>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6C7709DC-9BAA-4AE5-94B3-8F2159E9D532}"/>
              </a:ext>
            </a:extLst>
          </p:cNvPr>
          <p:cNvSpPr>
            <a:spLocks xmlns:a="http://schemas.openxmlformats.org/drawingml/2006/main" noGrp="1"/>
          </p:cNvSpPr>
          <p:nvPr/>
        </p:nvSpPr>
        <p:spPr>
          <a:xfrm xmlns:a="http://schemas.openxmlformats.org/drawingml/2006/main">
            <a:off x="685800" y="13811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5F96"/>
                </a:solidFill>
                <a:latin typeface="Arial"/>
                <a:ea typeface="Arial"/>
                <a:cs typeface="Arial"/>
              </a:defRPr>
            </a:defPPr>
          </a:lstStyle>
          <a:p xmlns:a="http://schemas.openxmlformats.org/drawingml/2006/main">
            <a:pPr>
              <a:defRPr sz="1950">
                <a:solidFill>
                  <a:srgbClr val="175F96"/>
                </a:solidFill>
                <a:latin typeface="Arial"/>
                <a:ea typeface="Arial"/>
                <a:cs typeface="Arial"/>
              </a:defRPr>
            </a:pPr>
            <a:r>
              <a:rPr sz="1950">
                <a:solidFill>
                  <a:srgbClr val="175F96"/>
                </a:solidFill>
                <a:latin typeface="Arial"/>
                <a:ea typeface="Arial"/>
                <a:cs typeface="Arial"/>
              </a:rPr>
              <a:t>Weight decay = a control that gently shrinks the model’s adjustable numbers.</a:t>
            </a:r>
          </a:p>
        </p:txBody>
      </p:sp>
      <p:graphicFrame>
        <p:nvGraphicFramePr>
          <p:cNvPr id="5" name="Chart">
            <a:extLst xmlns:a="http://schemas.openxmlformats.org/drawingml/2006/main">
              <a:ext uri="{FF2B5EF4-FFF2-40B4-BE49-F238E27FC236}">
                <a16:creationId xmlns:a16="http://schemas.microsoft.com/office/drawing/2014/main" id="{7B6171CB-B5AE-4980-A041-1727A725813F}"/>
              </a:ext>
            </a:extLst>
          </p:cNvPr>
          <p:cNvGraphicFramePr/>
          <p:nvPr/>
        </p:nvGraphicFramePr>
        <p:xfrm>
          <a:off xmlns:a="http://schemas.openxmlformats.org/drawingml/2006/main" x="523875" y="2009775"/>
          <a:ext xmlns:a="http://schemas.openxmlformats.org/drawingml/2006/main" cx="5715000" cy="3762375"/>
        </p:xfrm>
        <a:graphic xmlns:a="http://schemas.openxmlformats.org/drawingml/2006/main">
          <a:graphicData uri="http://schemas.openxmlformats.org/drawingml/2006/chart">
            <c:chart xmlns:r="http://schemas.openxmlformats.org/officeDocument/2006/relationships" xmlns:c="http://schemas.openxmlformats.org/drawingml/2006/chart" r:id="R3b4edcd400fe4b3d"/>
          </a:graphicData>
        </a:graphic>
      </p:graphicFrame>
      <p:graphicFrame>
        <p:nvGraphicFramePr>
          <p:cNvPr id="6" name="">
            <a:extLst xmlns:a="http://schemas.openxmlformats.org/drawingml/2006/main">
              <a:ext uri="{FF2B5EF4-FFF2-40B4-BE49-F238E27FC236}">
                <a16:creationId xmlns:a16="http://schemas.microsoft.com/office/drawing/2014/main" id="{7C086F78-2356-4D3D-BA09-B7AD26864185}"/>
              </a:ext>
            </a:extLst>
          </p:cNvPr>
          <p:cNvGraphicFramePr/>
          <p:nvPr/>
        </p:nvGraphicFramePr>
        <p:xfrm>
          <a:off xmlns:a="http://schemas.openxmlformats.org/drawingml/2006/main" x="6553200" y="2228850"/>
          <a:ext xmlns:a="http://schemas.openxmlformats.org/drawingml/2006/main" cx="4953000" cy="2400300"/>
        </p:xfrm>
        <a:graphic xmlns:a="http://schemas.openxmlformats.org/drawingml/2006/main">
          <a:graphicData uri="http://schemas.openxmlformats.org/drawingml/2006/table">
            <a:tbl>
              <a:tblPr/>
              <a:tblGrid>
                <a:gridCol w="1047750"/>
                <a:gridCol w="809625"/>
                <a:gridCol w="1524000"/>
                <a:gridCol w="1571625"/>
              </a:tblGrid>
              <a:tr h="600075">
                <a:tc>
                  <a:txBody>
                    <a:bodyPr lIns="85725" tIns="85725" rIns="85725" bIns="85725"/>
                    <a:lstStyle/>
                    <a:p>
                      <a:r>
                        <a:rPr sz="1800" b="1">
                          <a:solidFill>
                            <a:srgbClr val="175F96"/>
                          </a:solidFill>
                          <a:latin typeface="Arial"/>
                          <a:ea typeface="Arial"/>
                          <a:cs typeface="Arial"/>
                        </a:rPr>
                        <a:t>Setting</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Runs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Average</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SD</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600075">
                <a:tc>
                  <a:txBody>
                    <a:bodyPr lIns="85725" tIns="85725" rIns="85725" bIns="85725"/>
                    <a:lstStyle/>
                    <a:p>
                      <a:r>
                        <a:rPr sz="1800" b="0">
                          <a:solidFill>
                            <a:srgbClr val="172B3A"/>
                          </a:solidFill>
                          <a:latin typeface="Arial"/>
                          <a:ea typeface="Arial"/>
                          <a:cs typeface="Arial"/>
                        </a:rPr>
                        <a:t>0.3</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6</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13,138</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4,593</a:t>
                      </a:r>
                    </a:p>
                  </a:txBody>
                  <a:tcPr marL="91440" marR="91440" marT="45720" marB="45720" anchor="ctr">
                    <a:lnR w="0">
                      <a:solidFill>
                        <a:srgbClr val="FFFFFF"/>
                      </a:solidFill>
                    </a:lnR>
                    <a:lnB w="0">
                      <a:solidFill>
                        <a:srgbClr val="FFFFFF"/>
                      </a:solidFill>
                    </a:lnB>
                    <a:solidFill>
                      <a:srgbClr val="FFFFFF"/>
                    </a:solidFill>
                  </a:tcPr>
                </a:tc>
              </a:tr>
              <a:tr h="600075">
                <a:tc>
                  <a:txBody>
                    <a:bodyPr lIns="85725" tIns="85725" rIns="85725" bIns="85725"/>
                    <a:lstStyle/>
                    <a:p>
                      <a:r>
                        <a:rPr sz="1800" b="0">
                          <a:solidFill>
                            <a:srgbClr val="172B3A"/>
                          </a:solidFill>
                          <a:latin typeface="Arial"/>
                          <a:ea typeface="Arial"/>
                          <a:cs typeface="Arial"/>
                        </a:rPr>
                        <a:t>1</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12</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6,475</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7,041</a:t>
                      </a:r>
                    </a:p>
                  </a:txBody>
                  <a:tcPr marL="91440" marR="91440" marT="45720" marB="45720" anchor="ctr">
                    <a:lnR w="0">
                      <a:solidFill>
                        <a:srgbClr val="FFFFFF"/>
                      </a:solidFill>
                    </a:lnR>
                    <a:lnB w="0">
                      <a:solidFill>
                        <a:srgbClr val="FFFFFF"/>
                      </a:solidFill>
                    </a:lnB>
                    <a:solidFill>
                      <a:srgbClr val="FFFFFF"/>
                    </a:solidFill>
                  </a:tcPr>
                </a:tc>
              </a:tr>
              <a:tr h="600075">
                <a:tc>
                  <a:txBody>
                    <a:bodyPr lIns="85725" tIns="85725" rIns="85725" bIns="85725"/>
                    <a:lstStyle/>
                    <a:p>
                      <a:r>
                        <a:rPr sz="1800" b="0">
                          <a:solidFill>
                            <a:srgbClr val="172B3A"/>
                          </a:solidFill>
                          <a:latin typeface="Arial"/>
                          <a:ea typeface="Arial"/>
                          <a:cs typeface="Arial"/>
                        </a:rPr>
                        <a:t>3</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6</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1,888</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890</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A64B6629-202F-4D7F-BABA-AFB639CBCCAC}"/>
              </a:ext>
            </a:extLst>
          </p:cNvPr>
          <p:cNvSpPr>
            <a:spLocks xmlns:a="http://schemas.openxmlformats.org/drawingml/2006/main" noGrp="1"/>
          </p:cNvSpPr>
          <p:nvPr/>
        </p:nvSpPr>
        <p:spPr>
          <a:xfrm xmlns:a="http://schemas.openxmlformats.org/drawingml/2006/main">
            <a:off x="6553200" y="4895850"/>
            <a:ext cx="4953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5F96"/>
                </a:solidFill>
                <a:latin typeface="Arial"/>
                <a:ea typeface="Arial"/>
                <a:cs typeface="Arial"/>
              </a:defRPr>
            </a:defPPr>
          </a:lstStyle>
          <a:p xmlns:a="http://schemas.openxmlformats.org/drawingml/2006/main">
            <a:pPr>
              <a:defRPr sz="2025">
                <a:solidFill>
                  <a:srgbClr val="175F96"/>
                </a:solidFill>
                <a:latin typeface="Arial"/>
                <a:ea typeface="Arial"/>
                <a:cs typeface="Arial"/>
              </a:defRPr>
            </a:pPr>
            <a:r>
              <a:rPr sz="2025">
                <a:solidFill>
                  <a:srgbClr val="175F96"/>
                </a:solidFill>
                <a:latin typeface="Arial"/>
                <a:ea typeface="Arial"/>
                <a:cs typeface="Arial"/>
              </a:rPr>
              <a:t>All 24 passed by 30,000 steps.</a:t>
            </a:r>
          </a:p>
          <a:p xmlns:a="http://schemas.openxmlformats.org/drawingml/2006/main">
            <a:pPr>
              <a:defRPr sz="2025">
                <a:solidFill>
                  <a:srgbClr val="175F96"/>
                </a:solidFill>
                <a:latin typeface="Arial"/>
                <a:ea typeface="Arial"/>
                <a:cs typeface="Arial"/>
              </a:defRPr>
            </a:pPr>
            <a:r>
              <a:rPr sz="2025">
                <a:solidFill>
                  <a:srgbClr val="175F96"/>
                </a:solidFill>
                <a:latin typeface="Arial"/>
                <a:ea typeface="Arial"/>
                <a:cs typeface="Arial"/>
              </a:rPr>
              <a:t>Higher decay went with shorter</a:t>
            </a:r>
          </a:p>
          <a:p xmlns:a="http://schemas.openxmlformats.org/drawingml/2006/main">
            <a:pPr>
              <a:defRPr sz="2025">
                <a:solidFill>
                  <a:srgbClr val="175F96"/>
                </a:solidFill>
                <a:latin typeface="Arial"/>
                <a:ea typeface="Arial"/>
                <a:cs typeface="Arial"/>
              </a:defRPr>
            </a:pPr>
            <a:r>
              <a:rPr sz="2025">
                <a:solidFill>
                  <a:srgbClr val="175F96"/>
                </a:solidFill>
                <a:latin typeface="Arial"/>
                <a:ea typeface="Arial"/>
                <a:cs typeface="Arial"/>
              </a:rPr>
              <a:t>waiting times in this sample.</a:t>
            </a:r>
          </a:p>
        </p:txBody>
      </p:sp>
      <p:sp>
        <p:nvSpPr>
          <p:cNvPr id="8" name="text-5">
            <a:extLst xmlns:a="http://schemas.openxmlformats.org/drawingml/2006/main">
              <a:ext uri="{FF2B5EF4-FFF2-40B4-BE49-F238E27FC236}">
                <a16:creationId xmlns:a16="http://schemas.microsoft.com/office/drawing/2014/main" id="{E404A407-5D17-461E-9985-6EA43DD4D795}"/>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Small groups; one practice/test split. More repeats are needed for broader conclusions.</a:t>
            </a:r>
          </a:p>
        </p:txBody>
      </p:sp>
    </p:spTree>
    <p:extLst>
      <p:ext uri="{BB962C8B-B14F-4D97-AF65-F5344CB8AC3E}">
        <p14:creationId xmlns:p14="http://schemas.microsoft.com/office/powerpoint/2010/main" val="9028470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A9F2421-9E70-4709-9C02-0BCEE20B54D4}"/>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One long run or several fresh starts?</a:t>
            </a:r>
          </a:p>
        </p:txBody>
      </p:sp>
      <p:sp>
        <p:nvSpPr>
          <p:cNvPr id="2" name="text-1">
            <a:extLst xmlns:a="http://schemas.openxmlformats.org/drawingml/2006/main">
              <a:ext uri="{FF2B5EF4-FFF2-40B4-BE49-F238E27FC236}">
                <a16:creationId xmlns:a16="http://schemas.microsoft.com/office/drawing/2014/main" id="{EDE4621B-B905-4124-B4A1-C3BA931C7F71}"/>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F76DD822-AF7D-44DC-AC97-4072E07B21A3}"/>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B0EBEAD8-9C7F-4730-A8AA-A120BFD71F0D}"/>
              </a:ext>
            </a:extLst>
          </p:cNvPr>
          <p:cNvSpPr>
            <a:spLocks xmlns:a="http://schemas.openxmlformats.org/drawingml/2006/main" noGrp="1"/>
          </p:cNvSpPr>
          <p:nvPr/>
        </p:nvSpPr>
        <p:spPr>
          <a:xfrm xmlns:a="http://schemas.openxmlformats.org/drawingml/2006/main">
            <a:off x="685800" y="1504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a:solidFill>
                  <a:srgbClr val="175F96"/>
                </a:solidFill>
                <a:latin typeface="Arial"/>
                <a:ea typeface="Arial"/>
                <a:cs typeface="Arial"/>
              </a:defRPr>
            </a:defPPr>
          </a:lstStyle>
          <a:p xmlns:a="http://schemas.openxmlformats.org/drawingml/2006/main">
            <a:pPr>
              <a:defRPr sz="2775">
                <a:solidFill>
                  <a:srgbClr val="175F96"/>
                </a:solidFill>
                <a:latin typeface="Arial"/>
                <a:ea typeface="Arial"/>
                <a:cs typeface="Arial"/>
              </a:defRPr>
            </a:pPr>
            <a:r>
              <a:rPr sz="2775">
                <a:solidFill>
                  <a:srgbClr val="175F96"/>
                </a:solidFill>
                <a:latin typeface="Arial"/>
                <a:ea typeface="Arial"/>
                <a:cs typeface="Arial"/>
              </a:rPr>
              <a:t>P(at least one success) = 1 − [1 − F(B/k)]ᵏ</a:t>
            </a:r>
          </a:p>
        </p:txBody>
      </p:sp>
      <p:sp>
        <p:nvSpPr>
          <p:cNvPr id="5" name="text-4">
            <a:extLst xmlns:a="http://schemas.openxmlformats.org/drawingml/2006/main">
              <a:ext uri="{FF2B5EF4-FFF2-40B4-BE49-F238E27FC236}">
                <a16:creationId xmlns:a16="http://schemas.microsoft.com/office/drawing/2014/main" id="{019B9FF0-496B-439D-AC18-435B3279BAED}"/>
              </a:ext>
            </a:extLst>
          </p:cNvPr>
          <p:cNvSpPr>
            <a:spLocks xmlns:a="http://schemas.openxmlformats.org/drawingml/2006/main" noGrp="1"/>
          </p:cNvSpPr>
          <p:nvPr/>
        </p:nvSpPr>
        <p:spPr>
          <a:xfrm xmlns:a="http://schemas.openxmlformats.org/drawingml/2006/main">
            <a:off x="685800" y="22764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 = total steps; k = attempts; F(t) = chance of success by step t.</a:t>
            </a:r>
          </a:p>
        </p:txBody>
      </p:sp>
      <p:graphicFrame>
        <p:nvGraphicFramePr>
          <p:cNvPr id="6" name="">
            <a:extLst xmlns:a="http://schemas.openxmlformats.org/drawingml/2006/main">
              <a:ext uri="{FF2B5EF4-FFF2-40B4-BE49-F238E27FC236}">
                <a16:creationId xmlns:a16="http://schemas.microsoft.com/office/drawing/2014/main" id="{1BE66F84-B9EA-49EC-B951-CB751AE0AFAD}"/>
              </a:ext>
            </a:extLst>
          </p:cNvPr>
          <p:cNvGraphicFramePr/>
          <p:nvPr/>
        </p:nvGraphicFramePr>
        <p:xfrm>
          <a:off xmlns:a="http://schemas.openxmlformats.org/drawingml/2006/main" x="685800" y="2990850"/>
          <a:ext xmlns:a="http://schemas.openxmlformats.org/drawingml/2006/main" cx="10820400" cy="2133600"/>
        </p:xfrm>
        <a:graphic xmlns:a="http://schemas.openxmlformats.org/drawingml/2006/main">
          <a:graphicData uri="http://schemas.openxmlformats.org/drawingml/2006/table">
            <a:tbl>
              <a:tblPr/>
              <a:tblGrid>
                <a:gridCol w="2762250"/>
                <a:gridCol w="4000500"/>
                <a:gridCol w="4057650"/>
              </a:tblGrid>
              <a:tr h="533400">
                <a:tc>
                  <a:txBody>
                    <a:bodyPr lIns="85725" tIns="85725" rIns="85725" bIns="85725"/>
                    <a:lstStyle/>
                    <a:p>
                      <a:r>
                        <a:rPr sz="1800" b="1">
                          <a:solidFill>
                            <a:srgbClr val="175F96"/>
                          </a:solidFill>
                          <a:latin typeface="Arial"/>
                          <a:ea typeface="Arial"/>
                          <a:cs typeface="Arial"/>
                        </a:rPr>
                        <a:t>Fresh starts (k)</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Steps per attempt</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85725" tIns="85725" rIns="85725" bIns="85725"/>
                    <a:lstStyle/>
                    <a:p>
                      <a:r>
                        <a:rPr sz="1800" b="1">
                          <a:solidFill>
                            <a:srgbClr val="175F96"/>
                          </a:solidFill>
                          <a:latin typeface="Arial"/>
                          <a:ea typeface="Arial"/>
                          <a:cs typeface="Arial"/>
                        </a:rPr>
                        <a:t>Predicted chance</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33400">
                <a:tc>
                  <a:txBody>
                    <a:bodyPr lIns="85725" tIns="85725" rIns="85725" bIns="85725"/>
                    <a:lstStyle/>
                    <a:p>
                      <a:r>
                        <a:rPr sz="1800" b="0">
                          <a:solidFill>
                            <a:srgbClr val="172B3A"/>
                          </a:solidFill>
                          <a:latin typeface="Arial"/>
                          <a:ea typeface="Arial"/>
                          <a:cs typeface="Arial"/>
                        </a:rPr>
                        <a:t>1 attempt</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30,000</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100.0%</a:t>
                      </a:r>
                    </a:p>
                  </a:txBody>
                  <a:tcPr marL="91440" marR="91440" marT="45720" marB="45720" anchor="ctr">
                    <a:lnR w="0">
                      <a:solidFill>
                        <a:srgbClr val="FFFFFF"/>
                      </a:solidFill>
                    </a:lnR>
                    <a:lnB w="0">
                      <a:solidFill>
                        <a:srgbClr val="FFFFFF"/>
                      </a:solidFill>
                    </a:lnB>
                    <a:solidFill>
                      <a:srgbClr val="FFFFFF"/>
                    </a:solidFill>
                  </a:tcPr>
                </a:tc>
              </a:tr>
              <a:tr h="533400">
                <a:tc>
                  <a:txBody>
                    <a:bodyPr lIns="85725" tIns="85725" rIns="85725" bIns="85725"/>
                    <a:lstStyle/>
                    <a:p>
                      <a:r>
                        <a:rPr sz="1800" b="0">
                          <a:solidFill>
                            <a:srgbClr val="172B3A"/>
                          </a:solidFill>
                          <a:latin typeface="Arial"/>
                          <a:ea typeface="Arial"/>
                          <a:cs typeface="Arial"/>
                        </a:rPr>
                        <a:t>2 attempts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15,000</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99.3%</a:t>
                      </a:r>
                    </a:p>
                  </a:txBody>
                  <a:tcPr marL="91440" marR="91440" marT="45720" marB="45720" anchor="ctr">
                    <a:lnR w="0">
                      <a:solidFill>
                        <a:srgbClr val="FFFFFF"/>
                      </a:solidFill>
                    </a:lnR>
                    <a:lnB w="0">
                      <a:solidFill>
                        <a:srgbClr val="FFFFFF"/>
                      </a:solidFill>
                    </a:lnB>
                    <a:solidFill>
                      <a:srgbClr val="FFFFFF"/>
                    </a:solidFill>
                  </a:tcPr>
                </a:tc>
              </a:tr>
              <a:tr h="533400">
                <a:tc>
                  <a:txBody>
                    <a:bodyPr lIns="85725" tIns="85725" rIns="85725" bIns="85725"/>
                    <a:lstStyle/>
                    <a:p>
                      <a:r>
                        <a:rPr sz="1800" b="0">
                          <a:solidFill>
                            <a:srgbClr val="172B3A"/>
                          </a:solidFill>
                          <a:latin typeface="Arial"/>
                          <a:ea typeface="Arial"/>
                          <a:cs typeface="Arial"/>
                        </a:rPr>
                        <a:t>4 attempts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7,500</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r>
                        <a:rPr sz="1800" b="0">
                          <a:solidFill>
                            <a:srgbClr val="172B3A"/>
                          </a:solidFill>
                          <a:latin typeface="Arial"/>
                          <a:ea typeface="Arial"/>
                          <a:cs typeface="Arial"/>
                        </a:rPr>
                        <a:t>99.6%</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A47356E4-F187-4D7F-9CF4-06EFC2B690DA}"/>
              </a:ext>
            </a:extLst>
          </p:cNvPr>
          <p:cNvSpPr>
            <a:spLocks xmlns:a="http://schemas.openxmlformats.org/drawingml/2006/main" noGrp="1"/>
          </p:cNvSpPr>
          <p:nvPr/>
        </p:nvSpPr>
        <p:spPr>
          <a:xfrm xmlns:a="http://schemas.openxmlformats.org/drawingml/2006/main">
            <a:off x="685800" y="53244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Total B = 30,000. Chance at least one works = 1 − chance all fail.</a:t>
            </a:r>
          </a:p>
        </p:txBody>
      </p:sp>
      <p:sp>
        <p:nvSpPr>
          <p:cNvPr id="8" name="text-6">
            <a:extLst xmlns:a="http://schemas.openxmlformats.org/drawingml/2006/main">
              <a:ext uri="{FF2B5EF4-FFF2-40B4-BE49-F238E27FC236}">
                <a16:creationId xmlns:a16="http://schemas.microsoft.com/office/drawing/2014/main" id="{24C2387A-4463-4920-B326-3D4CB0F6F13D}"/>
              </a:ext>
            </a:extLst>
          </p:cNvPr>
          <p:cNvSpPr>
            <a:spLocks xmlns:a="http://schemas.openxmlformats.org/drawingml/2006/main" noGrp="1"/>
          </p:cNvSpPr>
          <p:nvPr/>
        </p:nvSpPr>
        <p:spPr>
          <a:xfrm xmlns:a="http://schemas.openxmlformats.org/drawingml/2006/main">
            <a:off x="685800" y="60198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Predictions from 12 reference runs; unvalidated in the Review 1 sample.</a:t>
            </a:r>
          </a:p>
        </p:txBody>
      </p:sp>
    </p:spTree>
    <p:extLst>
      <p:ext uri="{BB962C8B-B14F-4D97-AF65-F5344CB8AC3E}">
        <p14:creationId xmlns:p14="http://schemas.microsoft.com/office/powerpoint/2010/main" val="20325180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197C158-3508-4F44-BE22-C026F4A2028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Progress and next questions</a:t>
            </a:r>
          </a:p>
        </p:txBody>
      </p:sp>
      <p:sp>
        <p:nvSpPr>
          <p:cNvPr id="2" name="text-1">
            <a:extLst xmlns:a="http://schemas.openxmlformats.org/drawingml/2006/main">
              <a:ext uri="{FF2B5EF4-FFF2-40B4-BE49-F238E27FC236}">
                <a16:creationId xmlns:a16="http://schemas.microsoft.com/office/drawing/2014/main" id="{82B617E5-7F69-4A2A-82FA-0360AC276DBD}"/>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4E5CFC0F-930D-4ED4-AB45-0F9BBD1D49C4}"/>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E2DCCBC5-5484-467E-8ED0-41E3F3518A8A}"/>
              </a:ext>
            </a:extLst>
          </p:cNvPr>
          <p:cNvSpPr>
            <a:spLocks xmlns:a="http://schemas.openxmlformats.org/drawingml/2006/main" noGrp="1"/>
          </p:cNvSpPr>
          <p:nvPr/>
        </p:nvSpPr>
        <p:spPr>
          <a:xfrm xmlns:a="http://schemas.openxmlformats.org/drawingml/2006/main">
            <a:off x="6858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5F96"/>
                </a:solidFill>
                <a:latin typeface="Arial"/>
                <a:ea typeface="Arial"/>
                <a:cs typeface="Arial"/>
              </a:defRPr>
            </a:def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Review 1 milestone: approximately 65% of implementation</a:t>
            </a:r>
          </a:p>
        </p:txBody>
      </p:sp>
      <p:sp>
        <p:nvSpPr>
          <p:cNvPr id="5" name="text-4">
            <a:extLst xmlns:a="http://schemas.openxmlformats.org/drawingml/2006/main">
              <a:ext uri="{FF2B5EF4-FFF2-40B4-BE49-F238E27FC236}">
                <a16:creationId xmlns:a16="http://schemas.microsoft.com/office/drawing/2014/main" id="{1E6C12F1-6256-4295-88A4-10104834A1F3}"/>
              </a:ext>
            </a:extLst>
          </p:cNvPr>
          <p:cNvSpPr>
            <a:spLocks xmlns:a="http://schemas.openxmlformats.org/drawingml/2006/main" noGrp="1"/>
          </p:cNvSpPr>
          <p:nvPr/>
        </p:nvSpPr>
        <p:spPr>
          <a:xfrm xmlns:a="http://schemas.openxmlformats.org/drawingml/2006/main">
            <a:off x="685800" y="22860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Training code, saved progress, repeat attempts, statistics and first report.</a:t>
            </a:r>
          </a:p>
        </p:txBody>
      </p:sp>
      <p:sp>
        <p:nvSpPr>
          <p:cNvPr id="6" name="text-5">
            <a:extLst xmlns:a="http://schemas.openxmlformats.org/drawingml/2006/main">
              <a:ext uri="{FF2B5EF4-FFF2-40B4-BE49-F238E27FC236}">
                <a16:creationId xmlns:a16="http://schemas.microsoft.com/office/drawing/2014/main" id="{3502AA6A-93EE-4843-8A95-91AD2F9C997A}"/>
              </a:ext>
            </a:extLst>
          </p:cNvPr>
          <p:cNvSpPr>
            <a:spLocks xmlns:a="http://schemas.openxmlformats.org/drawingml/2006/main" noGrp="1"/>
          </p:cNvSpPr>
          <p:nvPr/>
        </p:nvSpPr>
        <p:spPr>
          <a:xfrm xmlns:a="http://schemas.openxmlformats.org/drawingml/2006/main">
            <a:off x="685800" y="3228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B3A"/>
                </a:solidFill>
                <a:latin typeface="Arial"/>
                <a:ea typeface="Arial"/>
                <a:cs typeface="Arial"/>
              </a:defRPr>
            </a:defPPr>
          </a:lstStyle>
          <a:p xmlns:a="http://schemas.openxmlformats.org/drawingml/2006/main">
            <a:pPr>
              <a:defRPr sz="2400" b="1">
                <a:solidFill>
                  <a:srgbClr val="172B3A"/>
                </a:solidFill>
                <a:latin typeface="Arial"/>
                <a:ea typeface="Arial"/>
                <a:cs typeface="Arial"/>
              </a:defRPr>
            </a:pPr>
            <a:r>
              <a:rPr sz="2400" b="1">
                <a:solidFill>
                  <a:srgbClr val="172B3A"/>
                </a:solidFill>
                <a:latin typeface="Arial"/>
                <a:ea typeface="Arial"/>
                <a:cs typeface="Arial"/>
              </a:rPr>
              <a:t>Review 2 will cover</a:t>
            </a:r>
          </a:p>
        </p:txBody>
      </p:sp>
      <p:sp>
        <p:nvSpPr>
          <p:cNvPr id="7" name="text-6">
            <a:extLst xmlns:a="http://schemas.openxmlformats.org/drawingml/2006/main">
              <a:ext uri="{FF2B5EF4-FFF2-40B4-BE49-F238E27FC236}">
                <a16:creationId xmlns:a16="http://schemas.microsoft.com/office/drawing/2014/main" id="{095BDB61-CF40-46FF-8ED2-46B7860C2977}"/>
              </a:ext>
            </a:extLst>
          </p:cNvPr>
          <p:cNvSpPr>
            <a:spLocks xmlns:a="http://schemas.openxmlformats.org/drawingml/2006/main" noGrp="1"/>
          </p:cNvSpPr>
          <p:nvPr/>
        </p:nvSpPr>
        <p:spPr>
          <a:xfrm xmlns:a="http://schemas.openxmlformats.org/drawingml/2006/main">
            <a:off x="685800" y="3857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More attempts; mathematical descriptions of waiting-time patterns;</a:t>
            </a:r>
          </a:p>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comparisons using more than one training control.</a:t>
            </a:r>
          </a:p>
        </p:txBody>
      </p:sp>
      <p:sp>
        <p:nvSpPr>
          <p:cNvPr id="8" name="text-7">
            <a:extLst xmlns:a="http://schemas.openxmlformats.org/drawingml/2006/main">
              <a:ext uri="{FF2B5EF4-FFF2-40B4-BE49-F238E27FC236}">
                <a16:creationId xmlns:a16="http://schemas.microsoft.com/office/drawing/2014/main" id="{3CA6D6A7-A98F-47F9-928E-5070D2F8477A}"/>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B3A"/>
                </a:solidFill>
                <a:latin typeface="Arial"/>
                <a:ea typeface="Arial"/>
                <a:cs typeface="Arial"/>
              </a:defRPr>
            </a:defPPr>
          </a:lstStyle>
          <a:p xmlns:a="http://schemas.openxmlformats.org/drawingml/2006/main">
            <a:pPr>
              <a:defRPr sz="2400" b="1">
                <a:solidFill>
                  <a:srgbClr val="172B3A"/>
                </a:solidFill>
                <a:latin typeface="Arial"/>
                <a:ea typeface="Arial"/>
                <a:cs typeface="Arial"/>
              </a:defRPr>
            </a:pPr>
            <a:r>
              <a:rPr sz="2400" b="1">
                <a:solidFill>
                  <a:srgbClr val="172B3A"/>
                </a:solidFill>
                <a:latin typeface="Arial"/>
                <a:ea typeface="Arial"/>
                <a:cs typeface="Arial"/>
              </a:rPr>
              <a:t>Further research</a:t>
            </a:r>
          </a:p>
        </p:txBody>
      </p:sp>
      <p:sp>
        <p:nvSpPr>
          <p:cNvPr id="9" name="text-8">
            <a:extLst xmlns:a="http://schemas.openxmlformats.org/drawingml/2006/main">
              <a:ext uri="{FF2B5EF4-FFF2-40B4-BE49-F238E27FC236}">
                <a16:creationId xmlns:a16="http://schemas.microsoft.com/office/drawing/2014/main" id="{AC411C6B-391B-44D7-A66F-37DCE5381BA5}"/>
              </a:ext>
            </a:extLst>
          </p:cNvPr>
          <p:cNvSpPr>
            <a:spLocks xmlns:a="http://schemas.openxmlformats.org/drawingml/2006/main" noGrp="1"/>
          </p:cNvSpPr>
          <p:nvPr/>
        </p:nvSpPr>
        <p:spPr>
          <a:xfrm xmlns:a="http://schemas.openxmlformats.org/drawingml/2006/main">
            <a:off x="685800" y="55245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Try smaller budgets and different practice/test questions.</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Check if success stays high (sustained generalization).</a:t>
            </a:r>
          </a:p>
        </p:txBody>
      </p:sp>
    </p:spTree>
    <p:extLst>
      <p:ext uri="{BB962C8B-B14F-4D97-AF65-F5344CB8AC3E}">
        <p14:creationId xmlns:p14="http://schemas.microsoft.com/office/powerpoint/2010/main" val="9110512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1E34656-2EA8-40FD-A4B2-06E8734353C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Where the ideas come from</a:t>
            </a:r>
          </a:p>
        </p:txBody>
      </p:sp>
      <p:sp>
        <p:nvSpPr>
          <p:cNvPr id="2" name="text-1">
            <a:extLst xmlns:a="http://schemas.openxmlformats.org/drawingml/2006/main">
              <a:ext uri="{FF2B5EF4-FFF2-40B4-BE49-F238E27FC236}">
                <a16:creationId xmlns:a16="http://schemas.microsoft.com/office/drawing/2014/main" id="{F0E2591C-0406-422C-8078-1363774D880B}"/>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621CEA73-0248-443F-BB1E-BE99D56B7919}"/>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53DF3618-4C64-485E-A924-6C32CB87DEA9}"/>
              </a:ext>
            </a:extLst>
          </p:cNvPr>
          <p:cNvSpPr>
            <a:spLocks xmlns:a="http://schemas.openxmlformats.org/drawingml/2006/main" noGrp="1"/>
          </p:cNvSpPr>
          <p:nvPr/>
        </p:nvSpPr>
        <p:spPr>
          <a:xfrm xmlns:a="http://schemas.openxmlformats.org/drawingml/2006/main">
            <a:off x="685800" y="14668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[1] Power et al. (2022)</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Grokking: Generalization Beyond Overfitting on Small Algorithmic Datasets</a:t>
            </a:r>
          </a:p>
        </p:txBody>
      </p:sp>
      <p:sp>
        <p:nvSpPr>
          <p:cNvPr id="5" name="text-4">
            <a:extLst xmlns:a="http://schemas.openxmlformats.org/drawingml/2006/main">
              <a:ext uri="{FF2B5EF4-FFF2-40B4-BE49-F238E27FC236}">
                <a16:creationId xmlns:a16="http://schemas.microsoft.com/office/drawing/2014/main" id="{5466C057-6858-4071-91D7-E7BE85280D8C}"/>
              </a:ext>
            </a:extLst>
          </p:cNvPr>
          <p:cNvSpPr>
            <a:spLocks xmlns:a="http://schemas.openxmlformats.org/drawingml/2006/main" noGrp="1"/>
          </p:cNvSpPr>
          <p:nvPr/>
        </p:nvSpPr>
        <p:spPr>
          <a:xfrm xmlns:a="http://schemas.openxmlformats.org/drawingml/2006/main">
            <a:off x="685800" y="22383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175F96"/>
                </a:solidFill>
                <a:latin typeface="Arial"/>
                <a:ea typeface="Arial"/>
                <a:cs typeface="Arial"/>
              </a:defRPr>
            </a:defPPr>
          </a:lstStyle>
          <a:p xmlns:a="http://schemas.openxmlformats.org/drawingml/2006/main">
            <a:pPr>
              <a:defRPr sz="1425">
                <a:solidFill>
                  <a:srgbClr val="175F96"/>
                </a:solidFill>
                <a:latin typeface="Arial"/>
                <a:ea typeface="Arial"/>
                <a:cs typeface="Arial"/>
              </a:defRPr>
            </a:pPr>
            <a:r>
              <a:rPr sz="1425">
                <a:solidFill>
                  <a:srgbClr val="175F96"/>
                </a:solidFill>
                <a:latin typeface="Arial"/>
                <a:ea typeface="Arial"/>
                <a:cs typeface="Arial"/>
              </a:rPr>
              <a:t>https://arxiv.org/abs/2201.02177</a:t>
            </a:r>
          </a:p>
        </p:txBody>
      </p:sp>
      <p:sp>
        <p:nvSpPr>
          <p:cNvPr id="6" name="text-5">
            <a:extLst xmlns:a="http://schemas.openxmlformats.org/drawingml/2006/main">
              <a:ext uri="{FF2B5EF4-FFF2-40B4-BE49-F238E27FC236}">
                <a16:creationId xmlns:a16="http://schemas.microsoft.com/office/drawing/2014/main" id="{E64A6285-B4AF-44AA-80C4-467D647708C0}"/>
              </a:ext>
            </a:extLst>
          </p:cNvPr>
          <p:cNvSpPr>
            <a:spLocks xmlns:a="http://schemas.openxmlformats.org/drawingml/2006/main" noGrp="1"/>
          </p:cNvSpPr>
          <p:nvPr/>
        </p:nvSpPr>
        <p:spPr>
          <a:xfrm xmlns:a="http://schemas.openxmlformats.org/drawingml/2006/main">
            <a:off x="685800" y="26479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[2] Truong et al. (2026), preprint</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First-Passage Prediction of Grokking Delay: A Calibrated Law under AdamW with Causal Validation</a:t>
            </a:r>
          </a:p>
        </p:txBody>
      </p:sp>
      <p:sp>
        <p:nvSpPr>
          <p:cNvPr id="7" name="text-6">
            <a:extLst xmlns:a="http://schemas.openxmlformats.org/drawingml/2006/main">
              <a:ext uri="{FF2B5EF4-FFF2-40B4-BE49-F238E27FC236}">
                <a16:creationId xmlns:a16="http://schemas.microsoft.com/office/drawing/2014/main" id="{F179369C-643C-4112-97E8-1A3CBDD69AEB}"/>
              </a:ext>
            </a:extLst>
          </p:cNvPr>
          <p:cNvSpPr>
            <a:spLocks xmlns:a="http://schemas.openxmlformats.org/drawingml/2006/main" noGrp="1"/>
          </p:cNvSpPr>
          <p:nvPr/>
        </p:nvSpPr>
        <p:spPr>
          <a:xfrm xmlns:a="http://schemas.openxmlformats.org/drawingml/2006/main">
            <a:off x="685800" y="34194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175F96"/>
                </a:solidFill>
                <a:latin typeface="Arial"/>
                <a:ea typeface="Arial"/>
                <a:cs typeface="Arial"/>
              </a:defRPr>
            </a:defPPr>
          </a:lstStyle>
          <a:p xmlns:a="http://schemas.openxmlformats.org/drawingml/2006/main">
            <a:pPr>
              <a:defRPr sz="1425">
                <a:solidFill>
                  <a:srgbClr val="175F96"/>
                </a:solidFill>
                <a:latin typeface="Arial"/>
                <a:ea typeface="Arial"/>
                <a:cs typeface="Arial"/>
              </a:defRPr>
            </a:pPr>
            <a:r>
              <a:rPr sz="1425">
                <a:solidFill>
                  <a:srgbClr val="175F96"/>
                </a:solidFill>
                <a:latin typeface="Arial"/>
                <a:ea typeface="Arial"/>
                <a:cs typeface="Arial"/>
              </a:rPr>
              <a:t>https://arxiv.org/abs/2605.18845</a:t>
            </a:r>
          </a:p>
        </p:txBody>
      </p:sp>
      <p:sp>
        <p:nvSpPr>
          <p:cNvPr id="8" name="text-7">
            <a:extLst xmlns:a="http://schemas.openxmlformats.org/drawingml/2006/main">
              <a:ext uri="{FF2B5EF4-FFF2-40B4-BE49-F238E27FC236}">
                <a16:creationId xmlns:a16="http://schemas.microsoft.com/office/drawing/2014/main" id="{D7C48F24-6054-4DFF-B14D-F3EC16C31B19}"/>
              </a:ext>
            </a:extLst>
          </p:cNvPr>
          <p:cNvSpPr>
            <a:spLocks xmlns:a="http://schemas.openxmlformats.org/drawingml/2006/main" noGrp="1"/>
          </p:cNvSpPr>
          <p:nvPr/>
        </p:nvSpPr>
        <p:spPr>
          <a:xfrm xmlns:a="http://schemas.openxmlformats.org/drawingml/2006/main">
            <a:off x="685800" y="38290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[3] Streeter, Golovin and Smith (2007)</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Restart Schedules for Ensembles of Problem Instances</a:t>
            </a:r>
          </a:p>
        </p:txBody>
      </p:sp>
      <p:sp>
        <p:nvSpPr>
          <p:cNvPr id="9" name="text-8">
            <a:extLst xmlns:a="http://schemas.openxmlformats.org/drawingml/2006/main">
              <a:ext uri="{FF2B5EF4-FFF2-40B4-BE49-F238E27FC236}">
                <a16:creationId xmlns:a16="http://schemas.microsoft.com/office/drawing/2014/main" id="{D0C32D6A-EF03-450B-A777-04FE33D450B2}"/>
              </a:ext>
            </a:extLst>
          </p:cNvPr>
          <p:cNvSpPr>
            <a:spLocks xmlns:a="http://schemas.openxmlformats.org/drawingml/2006/main" noGrp="1"/>
          </p:cNvSpPr>
          <p:nvPr/>
        </p:nvSpPr>
        <p:spPr>
          <a:xfrm xmlns:a="http://schemas.openxmlformats.org/drawingml/2006/main">
            <a:off x="685800" y="46005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175F96"/>
                </a:solidFill>
                <a:latin typeface="Arial"/>
                <a:ea typeface="Arial"/>
                <a:cs typeface="Arial"/>
              </a:defRPr>
            </a:defPPr>
          </a:lstStyle>
          <a:p xmlns:a="http://schemas.openxmlformats.org/drawingml/2006/main">
            <a:pPr>
              <a:defRPr sz="1425">
                <a:solidFill>
                  <a:srgbClr val="175F96"/>
                </a:solidFill>
                <a:latin typeface="Arial"/>
                <a:ea typeface="Arial"/>
                <a:cs typeface="Arial"/>
              </a:defRPr>
            </a:pPr>
            <a:r>
              <a:rPr sz="1425">
                <a:solidFill>
                  <a:srgbClr val="175F96"/>
                </a:solidFill>
                <a:latin typeface="Arial"/>
                <a:ea typeface="Arial"/>
                <a:cs typeface="Arial"/>
              </a:rPr>
              <a:t>https://www.cs.cmu.edu/~dgolovin/papers/aaai07b.pdf</a:t>
            </a:r>
          </a:p>
        </p:txBody>
      </p:sp>
      <p:sp>
        <p:nvSpPr>
          <p:cNvPr id="10" name="text-9">
            <a:extLst xmlns:a="http://schemas.openxmlformats.org/drawingml/2006/main">
              <a:ext uri="{FF2B5EF4-FFF2-40B4-BE49-F238E27FC236}">
                <a16:creationId xmlns:a16="http://schemas.microsoft.com/office/drawing/2014/main" id="{9CF669BF-3F68-44AC-9C56-C67D662123AD}"/>
              </a:ext>
            </a:extLst>
          </p:cNvPr>
          <p:cNvSpPr>
            <a:spLocks xmlns:a="http://schemas.openxmlformats.org/drawingml/2006/main" noGrp="1"/>
          </p:cNvSpPr>
          <p:nvPr/>
        </p:nvSpPr>
        <p:spPr>
          <a:xfrm xmlns:a="http://schemas.openxmlformats.org/drawingml/2006/main">
            <a:off x="685800" y="51816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[4] Supplied BAMAT207 syllabus   |   [5] Project’s frozen Review 1 data</a:t>
            </a:r>
          </a:p>
        </p:txBody>
      </p:sp>
      <p:sp>
        <p:nvSpPr>
          <p:cNvPr id="11" name="text-10">
            <a:extLst xmlns:a="http://schemas.openxmlformats.org/drawingml/2006/main">
              <a:ext uri="{FF2B5EF4-FFF2-40B4-BE49-F238E27FC236}">
                <a16:creationId xmlns:a16="http://schemas.microsoft.com/office/drawing/2014/main" id="{28DE21CD-4BF9-487E-9373-CFFBF6C51549}"/>
              </a:ext>
            </a:extLst>
          </p:cNvPr>
          <p:cNvSpPr>
            <a:spLocks xmlns:a="http://schemas.openxmlformats.org/drawingml/2006/main" noGrp="1"/>
          </p:cNvSpPr>
          <p:nvPr/>
        </p:nvSpPr>
        <p:spPr>
          <a:xfrm xmlns:a="http://schemas.openxmlformats.org/drawingml/2006/main">
            <a:off x="685800" y="57150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5F96"/>
                </a:solidFill>
                <a:latin typeface="Arial"/>
                <a:ea typeface="Arial"/>
                <a:cs typeface="Arial"/>
              </a:defRPr>
            </a:defPPr>
          </a:lstStyle>
          <a:p xmlns:a="http://schemas.openxmlformats.org/drawingml/2006/main">
            <a:pPr>
              <a:defRPr sz="1950">
                <a:solidFill>
                  <a:srgbClr val="175F96"/>
                </a:solidFill>
                <a:latin typeface="Arial"/>
                <a:ea typeface="Arial"/>
                <a:cs typeface="Arial"/>
              </a:defRPr>
            </a:pPr>
            <a:r>
              <a:rPr sz="1950">
                <a:solidFill>
                  <a:srgbClr val="175F96"/>
                </a:solidFill>
                <a:latin typeface="Arial"/>
                <a:ea typeface="Arial"/>
                <a:cs typeface="Arial"/>
              </a:rPr>
              <a:t>Our proposed addition: measure waiting times and compare training budgets.</a:t>
            </a:r>
          </a:p>
          <a:p xmlns:a="http://schemas.openxmlformats.org/drawingml/2006/main">
            <a:pPr>
              <a:defRPr sz="1950">
                <a:solidFill>
                  <a:srgbClr val="175F96"/>
                </a:solidFill>
                <a:latin typeface="Arial"/>
                <a:ea typeface="Arial"/>
                <a:cs typeface="Arial"/>
              </a:defRPr>
            </a:pPr>
            <a:r>
              <a:rPr sz="1950">
                <a:solidFill>
                  <a:srgbClr val="175F96"/>
                </a:solidFill>
                <a:latin typeface="Arial"/>
                <a:ea typeface="Arial"/>
                <a:cs typeface="Arial"/>
              </a:rPr>
              <a:t>These earlier ideas are credited; a worldwide-first claim is not established.</a:t>
            </a:r>
          </a:p>
        </p:txBody>
      </p:sp>
    </p:spTree>
    <p:extLst>
      <p:ext uri="{BB962C8B-B14F-4D97-AF65-F5344CB8AC3E}">
        <p14:creationId xmlns:p14="http://schemas.microsoft.com/office/powerpoint/2010/main" val="19272403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11EBE5A-AF03-47DE-AC97-61F066CB721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Appendix A: restart probability, step by step</a:t>
            </a:r>
          </a:p>
        </p:txBody>
      </p:sp>
      <p:sp>
        <p:nvSpPr>
          <p:cNvPr id="2" name="text-1">
            <a:extLst xmlns:a="http://schemas.openxmlformats.org/drawingml/2006/main">
              <a:ext uri="{FF2B5EF4-FFF2-40B4-BE49-F238E27FC236}">
                <a16:creationId xmlns:a16="http://schemas.microsoft.com/office/drawing/2014/main" id="{575D7C50-D9A5-4390-BDC9-560A6616D585}"/>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E4C67E83-4BC4-4C82-9139-D1E42BC3F9F9}"/>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14 | Optional</a:t>
            </a:r>
          </a:p>
        </p:txBody>
      </p:sp>
      <p:sp>
        <p:nvSpPr>
          <p:cNvPr id="4" name="text-3">
            <a:extLst xmlns:a="http://schemas.openxmlformats.org/drawingml/2006/main">
              <a:ext uri="{FF2B5EF4-FFF2-40B4-BE49-F238E27FC236}">
                <a16:creationId xmlns:a16="http://schemas.microsoft.com/office/drawing/2014/main" id="{0A5C3FE0-B1BA-4091-9715-DB48F17B4494}"/>
              </a:ext>
            </a:extLst>
          </p:cNvPr>
          <p:cNvSpPr>
            <a:spLocks xmlns:a="http://schemas.openxmlformats.org/drawingml/2006/main" noGrp="1"/>
          </p:cNvSpPr>
          <p:nvPr/>
        </p:nvSpPr>
        <p:spPr>
          <a:xfrm xmlns:a="http://schemas.openxmlformats.org/drawingml/2006/main">
            <a:off x="685800" y="15240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784"/>
                </a:solidFill>
                <a:latin typeface="Arial"/>
                <a:ea typeface="Arial"/>
                <a:cs typeface="Arial"/>
              </a:defRPr>
            </a:defPPr>
          </a:lstStyle>
          <a:p xmlns:a="http://schemas.openxmlformats.org/drawingml/2006/main">
            <a:pPr>
              <a:defRPr sz="2100">
                <a:solidFill>
                  <a:srgbClr val="667784"/>
                </a:solidFill>
                <a:latin typeface="Arial"/>
                <a:ea typeface="Arial"/>
                <a:cs typeface="Arial"/>
              </a:defRPr>
            </a:pPr>
            <a:r>
              <a:rPr sz="2100">
                <a:solidFill>
                  <a:srgbClr val="667784"/>
                </a:solidFill>
                <a:latin typeface="Arial"/>
                <a:ea typeface="Arial"/>
                <a:cs typeface="Arial"/>
              </a:rPr>
              <a:t>Illustration with assumed chances; not a measured result</a:t>
            </a:r>
          </a:p>
        </p:txBody>
      </p:sp>
      <p:sp>
        <p:nvSpPr>
          <p:cNvPr id="5" name="text-4">
            <a:extLst xmlns:a="http://schemas.openxmlformats.org/drawingml/2006/main">
              <a:ext uri="{FF2B5EF4-FFF2-40B4-BE49-F238E27FC236}">
                <a16:creationId xmlns:a16="http://schemas.microsoft.com/office/drawing/2014/main" id="{579A942F-FE6F-4FA7-9A04-3A3FF4E3DD78}"/>
              </a:ext>
            </a:extLst>
          </p:cNvPr>
          <p:cNvSpPr>
            <a:spLocks xmlns:a="http://schemas.openxmlformats.org/drawingml/2006/main" noGrp="1"/>
          </p:cNvSpPr>
          <p:nvPr/>
        </p:nvSpPr>
        <p:spPr>
          <a:xfrm xmlns:a="http://schemas.openxmlformats.org/drawingml/2006/main">
            <a:off x="685800" y="23050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72B3A"/>
                </a:solidFill>
                <a:latin typeface="Arial"/>
                <a:ea typeface="Arial"/>
                <a:cs typeface="Arial"/>
              </a:defRPr>
            </a:defPPr>
          </a:lstStyle>
          <a:p xmlns:a="http://schemas.openxmlformats.org/drawingml/2006/main">
            <a:pPr>
              <a:defRPr sz="2475">
                <a:solidFill>
                  <a:srgbClr val="172B3A"/>
                </a:solidFill>
                <a:latin typeface="Arial"/>
                <a:ea typeface="Arial"/>
                <a:cs typeface="Arial"/>
              </a:defRPr>
            </a:pPr>
            <a:r>
              <a:rPr sz="2475">
                <a:solidFill>
                  <a:srgbClr val="172B3A"/>
                </a:solidFill>
                <a:latin typeface="Arial"/>
                <a:ea typeface="Arial"/>
                <a:cs typeface="Arial"/>
              </a:rPr>
              <a:t>Two attempts × 6,000 steps = 12,000 total steps.</a:t>
            </a:r>
          </a:p>
          <a:p xmlns:a="http://schemas.openxmlformats.org/drawingml/2006/main">
            <a:pPr>
              <a:defRPr sz="2475">
                <a:solidFill>
                  <a:srgbClr val="172B3A"/>
                </a:solidFill>
                <a:latin typeface="Arial"/>
                <a:ea typeface="Arial"/>
                <a:cs typeface="Arial"/>
              </a:defRPr>
            </a:pPr>
            <a:r>
              <a:rPr sz="2475">
                <a:solidFill>
                  <a:srgbClr val="172B3A"/>
                </a:solidFill>
                <a:latin typeface="Arial"/>
                <a:ea typeface="Arial"/>
                <a:cs typeface="Arial"/>
              </a:rPr>
              <a:t>Assume each has 60% success and 40% failure.</a:t>
            </a:r>
          </a:p>
        </p:txBody>
      </p:sp>
      <p:sp>
        <p:nvSpPr>
          <p:cNvPr id="6" name="text-5">
            <a:extLst xmlns:a="http://schemas.openxmlformats.org/drawingml/2006/main">
              <a:ext uri="{FF2B5EF4-FFF2-40B4-BE49-F238E27FC236}">
                <a16:creationId xmlns:a16="http://schemas.microsoft.com/office/drawing/2014/main" id="{E5C682CB-D5F5-47E3-B791-D447A47F10A3}"/>
              </a:ext>
            </a:extLst>
          </p:cNvPr>
          <p:cNvSpPr>
            <a:spLocks xmlns:a="http://schemas.openxmlformats.org/drawingml/2006/main" noGrp="1"/>
          </p:cNvSpPr>
          <p:nvPr/>
        </p:nvSpPr>
        <p:spPr>
          <a:xfrm xmlns:a="http://schemas.openxmlformats.org/drawingml/2006/main">
            <a:off x="685800" y="3590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a:solidFill>
                  <a:srgbClr val="172B3A"/>
                </a:solidFill>
                <a:latin typeface="Arial"/>
                <a:ea typeface="Arial"/>
                <a:cs typeface="Arial"/>
              </a:defRPr>
            </a:defPPr>
          </a:lstStyle>
          <a:p xmlns:a="http://schemas.openxmlformats.org/drawingml/2006/main">
            <a:pPr>
              <a:defRPr sz="2700">
                <a:solidFill>
                  <a:srgbClr val="172B3A"/>
                </a:solidFill>
                <a:latin typeface="Arial"/>
                <a:ea typeface="Arial"/>
                <a:cs typeface="Arial"/>
              </a:defRPr>
            </a:pPr>
            <a:r>
              <a:rPr sz="2700">
                <a:solidFill>
                  <a:srgbClr val="172B3A"/>
                </a:solidFill>
                <a:latin typeface="Arial"/>
                <a:ea typeface="Arial"/>
                <a:cs typeface="Arial"/>
              </a:rPr>
              <a:t>Both fail: 0.40 × 0.40 = 0.16 (16%)</a:t>
            </a:r>
          </a:p>
        </p:txBody>
      </p:sp>
      <p:sp>
        <p:nvSpPr>
          <p:cNvPr id="7" name="text-6">
            <a:extLst xmlns:a="http://schemas.openxmlformats.org/drawingml/2006/main">
              <a:ext uri="{FF2B5EF4-FFF2-40B4-BE49-F238E27FC236}">
                <a16:creationId xmlns:a16="http://schemas.microsoft.com/office/drawing/2014/main" id="{E3D145FD-E479-43F5-8FD4-C4BC47969951}"/>
              </a:ext>
            </a:extLst>
          </p:cNvPr>
          <p:cNvSpPr>
            <a:spLocks xmlns:a="http://schemas.openxmlformats.org/drawingml/2006/main" noGrp="1"/>
          </p:cNvSpPr>
          <p:nvPr/>
        </p:nvSpPr>
        <p:spPr>
          <a:xfrm xmlns:a="http://schemas.openxmlformats.org/drawingml/2006/main">
            <a:off x="685800" y="45720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a:solidFill>
                  <a:srgbClr val="175F96"/>
                </a:solidFill>
                <a:latin typeface="Arial"/>
                <a:ea typeface="Arial"/>
                <a:cs typeface="Arial"/>
              </a:defRPr>
            </a:def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At least one works: 1 − 0.16 = 0.84 (84%)</a:t>
            </a:r>
          </a:p>
        </p:txBody>
      </p:sp>
      <p:sp>
        <p:nvSpPr>
          <p:cNvPr id="8" name="text-7">
            <a:extLst xmlns:a="http://schemas.openxmlformats.org/drawingml/2006/main">
              <a:ext uri="{FF2B5EF4-FFF2-40B4-BE49-F238E27FC236}">
                <a16:creationId xmlns:a16="http://schemas.microsoft.com/office/drawing/2014/main" id="{DFD72753-0DB1-47DC-B6F6-A1720369FE87}"/>
              </a:ext>
            </a:extLst>
          </p:cNvPr>
          <p:cNvSpPr>
            <a:spLocks xmlns:a="http://schemas.openxmlformats.org/drawingml/2006/main" noGrp="1"/>
          </p:cNvSpPr>
          <p:nvPr/>
        </p:nvSpPr>
        <p:spPr>
          <a:xfrm xmlns:a="http://schemas.openxmlformats.org/drawingml/2006/main">
            <a:off x="685800" y="555307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Independent = one outcome does not change the other’s chance.</a:t>
            </a:r>
          </a:p>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We still need the one-long-run chance to choose a winner.</a:t>
            </a:r>
          </a:p>
        </p:txBody>
      </p:sp>
    </p:spTree>
    <p:extLst>
      <p:ext uri="{BB962C8B-B14F-4D97-AF65-F5344CB8AC3E}">
        <p14:creationId xmlns:p14="http://schemas.microsoft.com/office/powerpoint/2010/main" val="1744357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E44C402-ABDE-4E14-A570-5E41AD704ED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Appendix B: useful terms and questions</a:t>
            </a:r>
          </a:p>
        </p:txBody>
      </p:sp>
      <p:sp>
        <p:nvSpPr>
          <p:cNvPr id="2" name="text-1">
            <a:extLst xmlns:a="http://schemas.openxmlformats.org/drawingml/2006/main">
              <a:ext uri="{FF2B5EF4-FFF2-40B4-BE49-F238E27FC236}">
                <a16:creationId xmlns:a16="http://schemas.microsoft.com/office/drawing/2014/main" id="{216600A2-6184-4313-BC89-13B01C3FD3BB}"/>
              </a:ext>
            </a:extLst>
          </p:cNvPr>
          <p:cNvSpPr>
            <a:spLocks xmlns:a="http://schemas.openxmlformats.org/drawingml/2006/main" noGrp="1"/>
          </p:cNvSpPr>
          <p:nvPr/>
        </p:nvSpPr>
        <p:spPr>
          <a:xfrm xmlns:a="http://schemas.openxmlformats.org/drawingml/2006/main">
            <a:off x="685800" y="64960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Review 1 | Results from 24 training attempts</a:t>
            </a:r>
          </a:p>
        </p:txBody>
      </p:sp>
      <p:sp>
        <p:nvSpPr>
          <p:cNvPr id="3" name="text-2">
            <a:extLst xmlns:a="http://schemas.openxmlformats.org/drawingml/2006/main">
              <a:ext uri="{FF2B5EF4-FFF2-40B4-BE49-F238E27FC236}">
                <a16:creationId xmlns:a16="http://schemas.microsoft.com/office/drawing/2014/main" id="{CB14A44D-BF4C-480D-91B9-29A61F053609}"/>
              </a:ext>
            </a:extLst>
          </p:cNvPr>
          <p:cNvSpPr>
            <a:spLocks xmlns:a="http://schemas.openxmlformats.org/drawingml/2006/main" noGrp="1"/>
          </p:cNvSpPr>
          <p:nvPr/>
        </p:nvSpPr>
        <p:spPr>
          <a:xfrm xmlns:a="http://schemas.openxmlformats.org/drawingml/2006/main">
            <a:off x="9906000" y="64960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15 | Optional</a:t>
            </a:r>
          </a:p>
        </p:txBody>
      </p:sp>
      <p:sp>
        <p:nvSpPr>
          <p:cNvPr id="4" name="text-3">
            <a:extLst xmlns:a="http://schemas.openxmlformats.org/drawingml/2006/main">
              <a:ext uri="{FF2B5EF4-FFF2-40B4-BE49-F238E27FC236}">
                <a16:creationId xmlns:a16="http://schemas.microsoft.com/office/drawing/2014/main" id="{8866D986-A4A0-49F8-A7C8-BC2309C68D63}"/>
              </a:ext>
            </a:extLst>
          </p:cNvPr>
          <p:cNvSpPr>
            <a:spLocks xmlns:a="http://schemas.openxmlformats.org/drawingml/2006/main" noGrp="1"/>
          </p:cNvSpPr>
          <p:nvPr/>
        </p:nvSpPr>
        <p:spPr>
          <a:xfrm xmlns:a="http://schemas.openxmlformats.org/drawingml/2006/main">
            <a:off x="685800" y="1552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Seed = repeatable starting point. Update = one learning step.</a:t>
            </a:r>
          </a:p>
        </p:txBody>
      </p:sp>
      <p:sp>
        <p:nvSpPr>
          <p:cNvPr id="5" name="text-4">
            <a:extLst xmlns:a="http://schemas.openxmlformats.org/drawingml/2006/main">
              <a:ext uri="{FF2B5EF4-FFF2-40B4-BE49-F238E27FC236}">
                <a16:creationId xmlns:a16="http://schemas.microsoft.com/office/drawing/2014/main" id="{CD9D448B-7926-43CA-B591-45CD1B8D9DEF}"/>
              </a:ext>
            </a:extLst>
          </p:cNvPr>
          <p:cNvSpPr>
            <a:spLocks xmlns:a="http://schemas.openxmlformats.org/drawingml/2006/main" noGrp="1"/>
          </p:cNvSpPr>
          <p:nvPr/>
        </p:nvSpPr>
        <p:spPr>
          <a:xfrm xmlns:a="http://schemas.openxmlformats.org/drawingml/2006/main">
            <a:off x="685800" y="22860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Generalization = doing well on questions excluded from practice.</a:t>
            </a:r>
          </a:p>
        </p:txBody>
      </p:sp>
      <p:sp>
        <p:nvSpPr>
          <p:cNvPr id="6" name="text-5">
            <a:extLst xmlns:a="http://schemas.openxmlformats.org/drawingml/2006/main">
              <a:ext uri="{FF2B5EF4-FFF2-40B4-BE49-F238E27FC236}">
                <a16:creationId xmlns:a16="http://schemas.microsoft.com/office/drawing/2014/main" id="{40E4A818-B1CF-4A57-86F5-CCFF67B25B85}"/>
              </a:ext>
            </a:extLst>
          </p:cNvPr>
          <p:cNvSpPr>
            <a:spLocks xmlns:a="http://schemas.openxmlformats.org/drawingml/2006/main" noGrp="1"/>
          </p:cNvSpPr>
          <p:nvPr/>
        </p:nvSpPr>
        <p:spPr>
          <a:xfrm xmlns:a="http://schemas.openxmlformats.org/drawingml/2006/main">
            <a:off x="685800" y="30194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Standard deviation = spread. Confidence interval = uncertainty range.</a:t>
            </a:r>
          </a:p>
        </p:txBody>
      </p:sp>
      <p:sp>
        <p:nvSpPr>
          <p:cNvPr id="7" name="text-6">
            <a:extLst xmlns:a="http://schemas.openxmlformats.org/drawingml/2006/main">
              <a:ext uri="{FF2B5EF4-FFF2-40B4-BE49-F238E27FC236}">
                <a16:creationId xmlns:a16="http://schemas.microsoft.com/office/drawing/2014/main" id="{72AE21BF-8B1F-49D9-92AF-0E68AB51D2A9}"/>
              </a:ext>
            </a:extLst>
          </p:cNvPr>
          <p:cNvSpPr>
            <a:spLocks xmlns:a="http://schemas.openxmlformats.org/drawingml/2006/main" noGrp="1"/>
          </p:cNvSpPr>
          <p:nvPr/>
        </p:nvSpPr>
        <p:spPr>
          <a:xfrm xmlns:a="http://schemas.openxmlformats.org/drawingml/2006/main">
            <a:off x="685800" y="37528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Why three checks? Reduce reliance on one lucky evaluation.</a:t>
            </a:r>
          </a:p>
        </p:txBody>
      </p:sp>
      <p:sp>
        <p:nvSpPr>
          <p:cNvPr id="8" name="text-7">
            <a:extLst xmlns:a="http://schemas.openxmlformats.org/drawingml/2006/main">
              <a:ext uri="{FF2B5EF4-FFF2-40B4-BE49-F238E27FC236}">
                <a16:creationId xmlns:a16="http://schemas.microsoft.com/office/drawing/2014/main" id="{66BFB746-F7A4-4BD9-8F4C-00826622215C}"/>
              </a:ext>
            </a:extLst>
          </p:cNvPr>
          <p:cNvSpPr>
            <a:spLocks xmlns:a="http://schemas.openxmlformats.org/drawingml/2006/main" noGrp="1"/>
          </p:cNvSpPr>
          <p:nvPr/>
        </p:nvSpPr>
        <p:spPr>
          <a:xfrm xmlns:a="http://schemas.openxmlformats.org/drawingml/2006/main">
            <a:off x="685800" y="44862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Unfinished attempt? We do not know its eventual learning time.</a:t>
            </a:r>
          </a:p>
        </p:txBody>
      </p:sp>
      <p:sp>
        <p:nvSpPr>
          <p:cNvPr id="9" name="text-8">
            <a:extLst xmlns:a="http://schemas.openxmlformats.org/drawingml/2006/main">
              <a:ext uri="{FF2B5EF4-FFF2-40B4-BE49-F238E27FC236}">
                <a16:creationId xmlns:a16="http://schemas.microsoft.com/office/drawing/2014/main" id="{882E0A1A-4C32-41CF-8B45-41D6FFCC4F6C}"/>
              </a:ext>
            </a:extLst>
          </p:cNvPr>
          <p:cNvSpPr>
            <a:spLocks xmlns:a="http://schemas.openxmlformats.org/drawingml/2006/main" noGrp="1"/>
          </p:cNvSpPr>
          <p:nvPr/>
        </p:nvSpPr>
        <p:spPr>
          <a:xfrm xmlns:a="http://schemas.openxmlformats.org/drawingml/2006/main">
            <a:off x="685800" y="52197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Limits: few attempts, one question split, test assumptions and later drops.</a:t>
            </a:r>
          </a:p>
        </p:txBody>
      </p:sp>
    </p:spTree>
    <p:extLst>
      <p:ext uri="{BB962C8B-B14F-4D97-AF65-F5344CB8AC3E}">
        <p14:creationId xmlns:p14="http://schemas.microsoft.com/office/powerpoint/2010/main" val="884145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2026-10-14T16:18:34.9970000Z</dcterms:created>
  <dcterms:modified xsi:type="dcterms:W3CDTF">2026-10-14T16:18:34.9980000Z</dcterms:modified>
</coreProperties>
</file>